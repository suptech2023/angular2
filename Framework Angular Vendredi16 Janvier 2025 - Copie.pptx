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48B07-2C06-4CF2-8E91-F7385E71E2CB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36D4-0671-4B70-A95D-BFBC9A35DA5B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DDD67DAC-232D-4042-B5C0-E64770A42A28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ECD2C-79BD-4B90-B3FA-E3B19B3FF97B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FDB6-7A26-4DBB-9BB0-088C0534314D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7C72F-E0F0-449A-A903-6D7865ED3EFA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1207D-C9F3-42EA-960B-DC9955B358C7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27A6-8947-4115-8D9E-E89B1EC0518D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60A6F-F31A-4CA3-B222-0B3C224FF998}" type="datetimeFigureOut">
              <a:rPr lang="en-US" dirty="0"/>
              <a:t>1/15/2026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069D4-B020-4602-B87C-B094679675DF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C11EA-3D59-4DFE-9385-0A032B3191AF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48A1663-7765-4EF4-B97F-A02E70C6265E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5400" dirty="0" smtClean="0"/>
              <a:t>Les </a:t>
            </a:r>
            <a:r>
              <a:rPr lang="fr-FR" sz="5400" dirty="0" smtClean="0"/>
              <a:t>Formulaires</a:t>
            </a:r>
            <a:endParaRPr lang="fr-FR" sz="540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468032"/>
            <a:ext cx="7272633" cy="215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147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125403"/>
            <a:ext cx="10058400" cy="728037"/>
          </a:xfrm>
        </p:spPr>
        <p:txBody>
          <a:bodyPr>
            <a:noAutofit/>
          </a:bodyPr>
          <a:lstStyle/>
          <a:p>
            <a:pPr algn="ctr">
              <a:lnSpc>
                <a:spcPct val="200000"/>
              </a:lnSpc>
            </a:pPr>
            <a:r>
              <a:rPr lang="fr-FR" sz="2800" b="1" dirty="0" smtClean="0"/>
              <a:t>Introduction</a:t>
            </a:r>
            <a:endParaRPr lang="fr-FR" sz="2800" b="1" dirty="0">
              <a:latin typeface="Agency FB" panose="020B0503020202020204" pitchFamily="34" charset="0"/>
            </a:endParaRPr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21406" y="1241338"/>
            <a:ext cx="1057312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sz="3600" dirty="0" smtClean="0">
                <a:latin typeface="Agency FB" panose="020B0503020202020204" pitchFamily="34" charset="0"/>
              </a:rPr>
              <a:t>Pour gérer les interactivités avec l’utilisateur </a:t>
            </a:r>
            <a:r>
              <a:rPr lang="fr-FR" sz="3600" dirty="0" err="1" smtClean="0">
                <a:latin typeface="Agency FB" panose="020B0503020202020204" pitchFamily="34" charset="0"/>
              </a:rPr>
              <a:t>Angular</a:t>
            </a:r>
            <a:r>
              <a:rPr lang="fr-FR" sz="3600" dirty="0" smtClean="0">
                <a:latin typeface="Agency FB" panose="020B0503020202020204" pitchFamily="34" charset="0"/>
              </a:rPr>
              <a:t> à sa philosophie pour gérer les formulaires.</a:t>
            </a:r>
            <a:endParaRPr kumimoji="0" lang="fr-FR" altLang="fr-F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595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800" dirty="0">
                <a:latin typeface="Agency FB" panose="020B0503020202020204" pitchFamily="34" charset="0"/>
              </a:rPr>
              <a:t>Types de Formulaires en </a:t>
            </a:r>
            <a:r>
              <a:rPr lang="fr-FR" sz="4800" b="1" dirty="0" err="1">
                <a:latin typeface="Agency FB" panose="020B0503020202020204" pitchFamily="34" charset="0"/>
              </a:rPr>
              <a:t>Angular</a:t>
            </a:r>
            <a:endParaRPr lang="fr-FR" sz="4800" b="1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50000"/>
              </a:lnSpc>
            </a:pPr>
            <a:r>
              <a:rPr lang="fr-FR" sz="4400" dirty="0">
                <a:latin typeface="Agency FB" panose="020B0503020202020204" pitchFamily="34" charset="0"/>
              </a:rPr>
              <a:t>Template-</a:t>
            </a:r>
            <a:r>
              <a:rPr lang="fr-FR" sz="4400" dirty="0" err="1">
                <a:latin typeface="Agency FB" panose="020B0503020202020204" pitchFamily="34" charset="0"/>
              </a:rPr>
              <a:t>driven</a:t>
            </a:r>
            <a:r>
              <a:rPr lang="fr-FR" sz="4400" dirty="0">
                <a:latin typeface="Agency FB" panose="020B0503020202020204" pitchFamily="34" charset="0"/>
              </a:rPr>
              <a:t> </a:t>
            </a:r>
            <a:r>
              <a:rPr lang="fr-FR" sz="4400" dirty="0" err="1" smtClean="0">
                <a:latin typeface="Agency FB" panose="020B0503020202020204" pitchFamily="34" charset="0"/>
              </a:rPr>
              <a:t>Forms</a:t>
            </a:r>
            <a:r>
              <a:rPr lang="fr-FR" sz="4400" dirty="0" smtClean="0">
                <a:latin typeface="Agency FB" panose="020B0503020202020204" pitchFamily="34" charset="0"/>
              </a:rPr>
              <a:t>.</a:t>
            </a:r>
            <a:endParaRPr lang="fr-FR" sz="4400" dirty="0">
              <a:latin typeface="Agency FB" panose="020B0503020202020204" pitchFamily="34" charset="0"/>
            </a:endParaRPr>
          </a:p>
          <a:p>
            <a:pPr algn="just">
              <a:lnSpc>
                <a:spcPct val="250000"/>
              </a:lnSpc>
            </a:pPr>
            <a:r>
              <a:rPr lang="fr-FR" sz="4400" dirty="0" err="1">
                <a:latin typeface="Agency FB" panose="020B0503020202020204" pitchFamily="34" charset="0"/>
              </a:rPr>
              <a:t>Reactive</a:t>
            </a:r>
            <a:r>
              <a:rPr lang="fr-FR" sz="4400" dirty="0">
                <a:latin typeface="Agency FB" panose="020B0503020202020204" pitchFamily="34" charset="0"/>
              </a:rPr>
              <a:t> </a:t>
            </a:r>
            <a:r>
              <a:rPr lang="fr-FR" sz="4400" dirty="0" err="1" smtClean="0">
                <a:latin typeface="Agency FB" panose="020B0503020202020204" pitchFamily="34" charset="0"/>
              </a:rPr>
              <a:t>Forms</a:t>
            </a:r>
            <a:endParaRPr lang="fr-FR" sz="4400" dirty="0" smtClean="0">
              <a:latin typeface="Agency FB" panose="020B0503020202020204" pitchFamily="34" charset="0"/>
            </a:endParaRPr>
          </a:p>
          <a:p>
            <a:pPr marL="0" indent="0" algn="just">
              <a:lnSpc>
                <a:spcPct val="250000"/>
              </a:lnSpc>
              <a:buNone/>
            </a:pPr>
            <a:endParaRPr lang="fr-FR" sz="44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92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125403"/>
            <a:ext cx="10058400" cy="919625"/>
          </a:xfrm>
        </p:spPr>
        <p:txBody>
          <a:bodyPr>
            <a:noAutofit/>
          </a:bodyPr>
          <a:lstStyle/>
          <a:p>
            <a:pPr lvl="0" algn="ctr">
              <a:lnSpc>
                <a:spcPct val="200000"/>
              </a:lnSpc>
            </a:pPr>
            <a:r>
              <a:rPr lang="fr-FR" sz="3600" b="1" dirty="0">
                <a:latin typeface="Agency FB" panose="020B0503020202020204" pitchFamily="34" charset="0"/>
              </a:rPr>
              <a:t>Template-</a:t>
            </a:r>
            <a:r>
              <a:rPr lang="fr-FR" sz="3600" b="1" dirty="0" err="1">
                <a:latin typeface="Agency FB" panose="020B0503020202020204" pitchFamily="34" charset="0"/>
              </a:rPr>
              <a:t>driven</a:t>
            </a:r>
            <a:r>
              <a:rPr lang="fr-FR" sz="3600" b="1" dirty="0">
                <a:latin typeface="Agency FB" panose="020B0503020202020204" pitchFamily="34" charset="0"/>
              </a:rPr>
              <a:t> </a:t>
            </a:r>
            <a:r>
              <a:rPr lang="fr-FR" sz="3600" b="1" dirty="0" err="1">
                <a:latin typeface="Agency FB" panose="020B0503020202020204" pitchFamily="34" charset="0"/>
              </a:rPr>
              <a:t>Forms</a:t>
            </a:r>
            <a:endParaRPr lang="fr-FR" sz="3600" b="1" dirty="0">
              <a:latin typeface="Agency FB" panose="020B05030202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045028"/>
            <a:ext cx="10058400" cy="5560724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fr-FR" sz="3600" dirty="0">
                <a:latin typeface="Agency FB" panose="020B0503020202020204" pitchFamily="34" charset="0"/>
              </a:rPr>
              <a:t>Ces formulaires sont plus simples et se basent sur le </a:t>
            </a:r>
            <a:r>
              <a:rPr lang="fr-FR" sz="3600" dirty="0" smtClean="0">
                <a:latin typeface="Agency FB" panose="020B0503020202020204" pitchFamily="34" charset="0"/>
              </a:rPr>
              <a:t>Template </a:t>
            </a:r>
            <a:r>
              <a:rPr lang="fr-FR" sz="3600" b="1" dirty="0">
                <a:latin typeface="Agency FB" panose="020B0503020202020204" pitchFamily="34" charset="0"/>
              </a:rPr>
              <a:t>HTML</a:t>
            </a:r>
            <a:r>
              <a:rPr lang="fr-FR" sz="3600" dirty="0">
                <a:latin typeface="Agency FB" panose="020B0503020202020204" pitchFamily="34" charset="0"/>
              </a:rPr>
              <a:t>. Ils conviennent aux petits formulaires simples</a:t>
            </a:r>
            <a:r>
              <a:rPr lang="fr-FR" sz="3600" dirty="0" smtClean="0">
                <a:latin typeface="Agency FB" panose="020B0503020202020204" pitchFamily="34" charset="0"/>
              </a:rPr>
              <a:t>.</a:t>
            </a:r>
            <a:endParaRPr lang="fr-FR" sz="3600" dirty="0">
              <a:latin typeface="Agency FB" panose="020B0503020202020204" pitchFamily="34" charset="0"/>
            </a:endParaRPr>
          </a:p>
          <a:p>
            <a:pPr algn="just">
              <a:lnSpc>
                <a:spcPct val="200000"/>
              </a:lnSpc>
            </a:pPr>
            <a:r>
              <a:rPr lang="fr-FR" sz="3600" dirty="0">
                <a:latin typeface="Agency FB" panose="020B0503020202020204" pitchFamily="34" charset="0"/>
              </a:rPr>
              <a:t>Exemple d'implémentation </a:t>
            </a:r>
            <a:r>
              <a:rPr lang="fr-FR" sz="3600" dirty="0" smtClean="0">
                <a:latin typeface="Agency FB" panose="020B0503020202020204" pitchFamily="34" charset="0"/>
              </a:rPr>
              <a:t>:</a:t>
            </a:r>
          </a:p>
          <a:p>
            <a:pPr algn="just">
              <a:lnSpc>
                <a:spcPct val="200000"/>
              </a:lnSpc>
            </a:pPr>
            <a:r>
              <a:rPr lang="fr-FR" sz="3600" dirty="0">
                <a:latin typeface="Agency FB" panose="020B0503020202020204" pitchFamily="34" charset="0"/>
              </a:rPr>
              <a:t>Validation : Accéder à </a:t>
            </a:r>
            <a:r>
              <a:rPr lang="fr-FR" sz="3600" b="1" dirty="0" err="1">
                <a:latin typeface="Agency FB" panose="020B0503020202020204" pitchFamily="34" charset="0"/>
              </a:rPr>
              <a:t>form.valid</a:t>
            </a:r>
            <a:r>
              <a:rPr lang="fr-FR" sz="3600" dirty="0">
                <a:latin typeface="Agency FB" panose="020B0503020202020204" pitchFamily="34" charset="0"/>
              </a:rPr>
              <a:t> pour vérifier si le formulaire est valide.</a:t>
            </a:r>
            <a:endParaRPr lang="fr-FR" sz="3600" dirty="0" smtClean="0">
              <a:latin typeface="Agency FB" panose="020B0503020202020204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908" y="3218688"/>
            <a:ext cx="5337620" cy="184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7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03" y="44873"/>
            <a:ext cx="10893972" cy="717127"/>
          </a:xfrm>
        </p:spPr>
        <p:txBody>
          <a:bodyPr>
            <a:normAutofit/>
          </a:bodyPr>
          <a:lstStyle/>
          <a:p>
            <a:pPr lvl="0" algn="ctr"/>
            <a:r>
              <a:rPr lang="fr-FR" sz="3200" dirty="0" err="1"/>
              <a:t>Reactive</a:t>
            </a:r>
            <a:r>
              <a:rPr lang="fr-FR" sz="3200" dirty="0"/>
              <a:t> </a:t>
            </a:r>
            <a:r>
              <a:rPr lang="fr-FR" sz="3200" dirty="0" err="1"/>
              <a:t>Forms</a:t>
            </a:r>
            <a:endParaRPr lang="fr-FR" sz="3200" b="1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8533" y="762000"/>
            <a:ext cx="11317142" cy="56997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3200" dirty="0">
                <a:latin typeface="Agency FB" panose="020B0503020202020204" pitchFamily="34" charset="0"/>
              </a:rPr>
              <a:t>Ces formulaires sont plus puissants et gérés par le code </a:t>
            </a:r>
            <a:r>
              <a:rPr lang="fr-FR" sz="3200" b="1" dirty="0" err="1">
                <a:latin typeface="Agency FB" panose="020B0503020202020204" pitchFamily="34" charset="0"/>
              </a:rPr>
              <a:t>TypeScript</a:t>
            </a:r>
            <a:r>
              <a:rPr lang="fr-FR" sz="3200" dirty="0">
                <a:latin typeface="Agency FB" panose="020B0503020202020204" pitchFamily="34" charset="0"/>
              </a:rPr>
              <a:t>, ce qui les rend plus flexibles et mieux adaptés aux formulaires complexes</a:t>
            </a:r>
            <a:r>
              <a:rPr lang="fr-FR" sz="3200" dirty="0" smtClean="0">
                <a:latin typeface="Agency FB" panose="020B0503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3200" dirty="0">
                <a:latin typeface="Agency FB" panose="020B0503020202020204" pitchFamily="34" charset="0"/>
              </a:rPr>
              <a:t>Exemple d'implémentation </a:t>
            </a:r>
            <a:r>
              <a:rPr lang="fr-FR" sz="3200" dirty="0" smtClean="0">
                <a:latin typeface="Agency FB" panose="020B0503020202020204" pitchFamily="34" charset="0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fr-FR" sz="3200" dirty="0">
              <a:latin typeface="Agency FB" panose="020B0503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fr-FR" sz="3200" dirty="0" smtClean="0">
              <a:latin typeface="Agency FB" panose="020B0503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fr-FR" sz="3200" b="1" dirty="0">
                <a:latin typeface="Agency FB" panose="020B0503020202020204" pitchFamily="34" charset="0"/>
              </a:rPr>
              <a:t>Validation et contrôles : </a:t>
            </a:r>
            <a:r>
              <a:rPr lang="fr-FR" sz="3200" dirty="0">
                <a:latin typeface="Agency FB" panose="020B0503020202020204" pitchFamily="34" charset="0"/>
              </a:rPr>
              <a:t>réagir dynamiquement aux changements de valeurs via les observables (ex : </a:t>
            </a:r>
            <a:r>
              <a:rPr lang="fr-FR" sz="3200" b="1" dirty="0" err="1">
                <a:latin typeface="Agency FB" panose="020B0503020202020204" pitchFamily="34" charset="0"/>
              </a:rPr>
              <a:t>form.valueChanges</a:t>
            </a:r>
            <a:r>
              <a:rPr lang="fr-FR" sz="3200" dirty="0">
                <a:latin typeface="Agency FB" panose="020B0503020202020204" pitchFamily="34" charset="0"/>
              </a:rPr>
              <a:t>).</a:t>
            </a:r>
          </a:p>
          <a:p>
            <a:pPr algn="just">
              <a:lnSpc>
                <a:spcPct val="150000"/>
              </a:lnSpc>
            </a:pPr>
            <a:endParaRPr lang="fr-FR" sz="3200" dirty="0" smtClean="0">
              <a:latin typeface="Agency FB" panose="020B0503020202020204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559" y="3254692"/>
            <a:ext cx="5061116" cy="177450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03" y="3254692"/>
            <a:ext cx="5409686" cy="177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023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13699"/>
            <a:ext cx="10058400" cy="1609344"/>
          </a:xfrm>
        </p:spPr>
        <p:txBody>
          <a:bodyPr/>
          <a:lstStyle/>
          <a:p>
            <a:pPr algn="ctr"/>
            <a:r>
              <a:rPr lang="fr-FR" b="1" dirty="0" smtClean="0">
                <a:latin typeface="Agency FB" panose="020B0503020202020204" pitchFamily="34" charset="0"/>
              </a:rPr>
              <a:t>Résumé</a:t>
            </a:r>
            <a:endParaRPr lang="fr-FR" b="1" dirty="0">
              <a:latin typeface="Agency FB" panose="020B05030202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62584" y="1152483"/>
            <a:ext cx="10058400" cy="4050792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fr-FR" sz="4000" dirty="0">
                <a:latin typeface="Agency FB" panose="020B0503020202020204" pitchFamily="34" charset="0"/>
              </a:rPr>
              <a:t>Les </a:t>
            </a:r>
            <a:r>
              <a:rPr lang="fr-FR" sz="4000" b="1" dirty="0" err="1">
                <a:latin typeface="Agency FB" panose="020B0503020202020204" pitchFamily="34" charset="0"/>
              </a:rPr>
              <a:t>template-driven</a:t>
            </a:r>
            <a:r>
              <a:rPr lang="fr-FR" sz="4000" b="1" dirty="0">
                <a:latin typeface="Agency FB" panose="020B0503020202020204" pitchFamily="34" charset="0"/>
              </a:rPr>
              <a:t> </a:t>
            </a:r>
            <a:r>
              <a:rPr lang="fr-FR" sz="4000" b="1" dirty="0" err="1">
                <a:latin typeface="Agency FB" panose="020B0503020202020204" pitchFamily="34" charset="0"/>
              </a:rPr>
              <a:t>forms</a:t>
            </a:r>
            <a:r>
              <a:rPr lang="fr-FR" sz="4000" dirty="0">
                <a:latin typeface="Agency FB" panose="020B0503020202020204" pitchFamily="34" charset="0"/>
              </a:rPr>
              <a:t> sont plus simples et conviennent aux petits projets</a:t>
            </a:r>
            <a:r>
              <a:rPr lang="fr-FR" sz="4000" dirty="0" smtClean="0">
                <a:latin typeface="Agency FB" panose="020B0503020202020204" pitchFamily="34" charset="0"/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4000" dirty="0" smtClean="0">
                <a:latin typeface="Agency FB" panose="020B0503020202020204" pitchFamily="34" charset="0"/>
              </a:rPr>
              <a:t>Les </a:t>
            </a:r>
            <a:r>
              <a:rPr lang="fr-FR" sz="4000" b="1" dirty="0" err="1">
                <a:latin typeface="Agency FB" panose="020B0503020202020204" pitchFamily="34" charset="0"/>
              </a:rPr>
              <a:t>reactive</a:t>
            </a:r>
            <a:r>
              <a:rPr lang="fr-FR" sz="4000" b="1" dirty="0">
                <a:latin typeface="Agency FB" panose="020B0503020202020204" pitchFamily="34" charset="0"/>
              </a:rPr>
              <a:t> </a:t>
            </a:r>
            <a:r>
              <a:rPr lang="fr-FR" sz="4000" b="1" dirty="0" err="1">
                <a:latin typeface="Agency FB" panose="020B0503020202020204" pitchFamily="34" charset="0"/>
              </a:rPr>
              <a:t>forms</a:t>
            </a:r>
            <a:r>
              <a:rPr lang="fr-FR" sz="4000" b="1" dirty="0">
                <a:latin typeface="Agency FB" panose="020B0503020202020204" pitchFamily="34" charset="0"/>
              </a:rPr>
              <a:t> </a:t>
            </a:r>
            <a:r>
              <a:rPr lang="fr-FR" sz="4000" dirty="0">
                <a:latin typeface="Agency FB" panose="020B0503020202020204" pitchFamily="34" charset="0"/>
              </a:rPr>
              <a:t>offrent plus de contrôle et sont parfaits pour les formulaires plus complexes..</a:t>
            </a:r>
          </a:p>
        </p:txBody>
      </p:sp>
    </p:spTree>
    <p:extLst>
      <p:ext uri="{BB962C8B-B14F-4D97-AF65-F5344CB8AC3E}">
        <p14:creationId xmlns:p14="http://schemas.microsoft.com/office/powerpoint/2010/main" val="3484687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fr-FR" sz="1600" dirty="0"/>
              <a:t>Comparer et opposer les formulaires guidés par un modèle et les formulaires réactifs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2682" y="1827540"/>
            <a:ext cx="9632732" cy="408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867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Exemple 1: </a:t>
            </a:r>
            <a:r>
              <a:rPr lang="fr-FR" b="1" dirty="0">
                <a:latin typeface="Agency FB" panose="020B0503020202020204" pitchFamily="34" charset="0"/>
              </a:rPr>
              <a:t>Template-</a:t>
            </a:r>
            <a:r>
              <a:rPr lang="fr-FR" b="1" dirty="0" err="1">
                <a:latin typeface="Agency FB" panose="020B0503020202020204" pitchFamily="34" charset="0"/>
              </a:rPr>
              <a:t>driven</a:t>
            </a:r>
            <a:r>
              <a:rPr lang="fr-FR" b="1" dirty="0">
                <a:latin typeface="Agency FB" panose="020B0503020202020204" pitchFamily="34" charset="0"/>
              </a:rPr>
              <a:t> </a:t>
            </a:r>
            <a:r>
              <a:rPr lang="fr-FR" b="1" dirty="0" err="1">
                <a:latin typeface="Agency FB" panose="020B0503020202020204" pitchFamily="34" charset="0"/>
              </a:rPr>
              <a:t>Forms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Intégration de la dépendance : </a:t>
            </a:r>
            <a:r>
              <a:rPr lang="fr-FR" b="1" dirty="0" err="1"/>
              <a:t>FormsModule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462520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Logique applicative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54924" y="1765739"/>
            <a:ext cx="8749862" cy="45877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39198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137790"/>
            <a:ext cx="10058400" cy="713547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Template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2152" y="851337"/>
            <a:ext cx="10466096" cy="580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9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Exemple 2: </a:t>
            </a:r>
            <a:r>
              <a:rPr lang="fr-FR" b="1" dirty="0" smtClean="0">
                <a:latin typeface="Agency FB" panose="020B0503020202020204" pitchFamily="34" charset="0"/>
              </a:rPr>
              <a:t>REACTIVE </a:t>
            </a:r>
            <a:r>
              <a:rPr lang="fr-FR" b="1" dirty="0" err="1">
                <a:latin typeface="Agency FB" panose="020B0503020202020204" pitchFamily="34" charset="0"/>
              </a:rPr>
              <a:t>Forms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Intégration de la dépendance : </a:t>
            </a:r>
            <a:r>
              <a:rPr lang="fr-FR" b="1" dirty="0" err="1"/>
              <a:t>ReactiveFormsModule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468394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975" y="232384"/>
            <a:ext cx="10058400" cy="69778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Logique applicative</a:t>
            </a:r>
            <a:endParaRPr lang="fr-FR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9975" y="1072056"/>
            <a:ext cx="9871294" cy="55967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6840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137790"/>
            <a:ext cx="10058400" cy="713547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Template</a:t>
            </a:r>
            <a:endParaRPr lang="fr-FR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310" y="851337"/>
            <a:ext cx="10812938" cy="532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497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Ajout des règles de validation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2800" b="1" dirty="0" err="1"/>
              <a:t>name</a:t>
            </a:r>
            <a:r>
              <a:rPr lang="fr-FR" sz="2800" dirty="0"/>
              <a:t> : Obligatoire (</a:t>
            </a:r>
            <a:r>
              <a:rPr lang="fr-FR" sz="2800" dirty="0" err="1"/>
              <a:t>required</a:t>
            </a:r>
            <a:r>
              <a:rPr lang="fr-FR" sz="2800" dirty="0"/>
              <a:t>) et doit contenir au moins 3 caractères</a:t>
            </a:r>
            <a:r>
              <a:rPr lang="fr-FR" sz="28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800" b="1" dirty="0"/>
              <a:t>email</a:t>
            </a:r>
            <a:r>
              <a:rPr lang="fr-FR" sz="2800" dirty="0"/>
              <a:t> : Obligatoire (</a:t>
            </a:r>
            <a:r>
              <a:rPr lang="fr-FR" sz="2800" dirty="0" err="1"/>
              <a:t>required</a:t>
            </a:r>
            <a:r>
              <a:rPr lang="fr-FR" sz="2800" dirty="0"/>
              <a:t>) et doit respecter le format d’un email valide</a:t>
            </a:r>
            <a:r>
              <a:rPr lang="fr-FR" sz="28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800" b="1" dirty="0" err="1"/>
              <a:t>age</a:t>
            </a:r>
            <a:r>
              <a:rPr lang="fr-FR" sz="2800" dirty="0"/>
              <a:t> : Obligatoire (</a:t>
            </a:r>
            <a:r>
              <a:rPr lang="fr-FR" sz="2800" dirty="0" err="1"/>
              <a:t>required</a:t>
            </a:r>
            <a:r>
              <a:rPr lang="fr-FR" sz="2800" dirty="0"/>
              <a:t>) et doit être un nombre positif supérieur à 18.</a:t>
            </a:r>
          </a:p>
        </p:txBody>
      </p:sp>
    </p:spTree>
    <p:extLst>
      <p:ext uri="{BB962C8B-B14F-4D97-AF65-F5344CB8AC3E}">
        <p14:creationId xmlns:p14="http://schemas.microsoft.com/office/powerpoint/2010/main" val="381007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974" y="232384"/>
            <a:ext cx="10058400" cy="729313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dirty="0" smtClean="0"/>
              <a:t>Mise à jour de la logique applicative</a:t>
            </a:r>
            <a:endParaRPr lang="fr-FR" sz="40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17531" y="1087822"/>
            <a:ext cx="7441324" cy="53760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6972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16618"/>
            <a:ext cx="10058400" cy="461299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Mise à jour Template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918" y="898633"/>
            <a:ext cx="10231820" cy="565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95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Mise à jour de la Template</a:t>
            </a:r>
            <a:endParaRPr lang="fr-FR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132" y="2093975"/>
            <a:ext cx="10803467" cy="403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403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dirty="0" err="1"/>
              <a:t>Angular</a:t>
            </a:r>
            <a:r>
              <a:rPr lang="fr-FR" dirty="0"/>
              <a:t> </a:t>
            </a:r>
            <a:r>
              <a:rPr lang="fr-FR" dirty="0" err="1"/>
              <a:t>Material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368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Qu’est-ce que </a:t>
            </a:r>
            <a:r>
              <a:rPr lang="fr-FR" dirty="0" err="1"/>
              <a:t>Angular</a:t>
            </a:r>
            <a:r>
              <a:rPr lang="fr-FR" dirty="0"/>
              <a:t> </a:t>
            </a:r>
            <a:r>
              <a:rPr lang="fr-FR" dirty="0" err="1"/>
              <a:t>Material</a:t>
            </a:r>
            <a:r>
              <a:rPr lang="fr-FR" dirty="0"/>
              <a:t>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b="1" dirty="0" err="1"/>
              <a:t>Angular</a:t>
            </a:r>
            <a:r>
              <a:rPr lang="fr-FR" sz="2800" b="1" dirty="0"/>
              <a:t> </a:t>
            </a:r>
            <a:r>
              <a:rPr lang="fr-FR" sz="2800" b="1" dirty="0" err="1"/>
              <a:t>Material</a:t>
            </a:r>
            <a:r>
              <a:rPr lang="fr-FR" sz="2800" dirty="0"/>
              <a:t> est une bibliothèque de composants UI (boutons, formulaires, tableaux, menus…) conçue par l’équipe </a:t>
            </a:r>
            <a:r>
              <a:rPr lang="fr-FR" sz="2800" b="1" dirty="0" err="1"/>
              <a:t>Angular</a:t>
            </a:r>
            <a:r>
              <a:rPr lang="fr-FR" sz="2800" dirty="0"/>
              <a:t> en suivant les principes du </a:t>
            </a:r>
            <a:r>
              <a:rPr lang="fr-FR" sz="2800" b="1" dirty="0" err="1"/>
              <a:t>Material</a:t>
            </a:r>
            <a:r>
              <a:rPr lang="fr-FR" sz="2800" b="1" dirty="0"/>
              <a:t> Design</a:t>
            </a:r>
            <a:r>
              <a:rPr lang="fr-FR" sz="2800" dirty="0"/>
              <a:t> de Google.</a:t>
            </a:r>
          </a:p>
        </p:txBody>
      </p:sp>
    </p:spTree>
    <p:extLst>
      <p:ext uri="{BB962C8B-B14F-4D97-AF65-F5344CB8AC3E}">
        <p14:creationId xmlns:p14="http://schemas.microsoft.com/office/powerpoint/2010/main" val="303575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Avantages </a:t>
            </a:r>
            <a:endParaRPr lang="fr-FR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69848" y="2121408"/>
            <a:ext cx="10058400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Modernes</a:t>
            </a:r>
            <a:endParaRPr kumimoji="0" lang="fr-FR" altLang="fr-F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Responsives</a:t>
            </a:r>
            <a:endParaRPr kumimoji="0" lang="fr-FR" altLang="fr-F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Cohérentes</a:t>
            </a:r>
            <a:endParaRPr kumimoji="0" lang="fr-FR" altLang="fr-F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Professionnelles</a:t>
            </a:r>
          </a:p>
          <a:p>
            <a:pPr marL="0" lvl="0" indent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dirty="0"/>
              <a:t>Sans avoir à écrire beaucoup de CSS.</a:t>
            </a:r>
            <a:endParaRPr kumimoji="0" lang="fr-FR" altLang="fr-F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341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800" dirty="0"/>
              <a:t>Pourquoi utiliser </a:t>
            </a:r>
            <a:r>
              <a:rPr lang="fr-FR" sz="4800" dirty="0" err="1"/>
              <a:t>Angular</a:t>
            </a:r>
            <a:r>
              <a:rPr lang="fr-FR" sz="4800" dirty="0"/>
              <a:t> </a:t>
            </a:r>
            <a:r>
              <a:rPr lang="fr-FR" sz="4800" dirty="0" err="1"/>
              <a:t>Material</a:t>
            </a:r>
            <a:r>
              <a:rPr lang="fr-FR" sz="4800" dirty="0"/>
              <a:t> ?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8108" y="1962364"/>
            <a:ext cx="9400854" cy="43254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636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71557"/>
          </a:xfrm>
        </p:spPr>
        <p:txBody>
          <a:bodyPr/>
          <a:lstStyle/>
          <a:p>
            <a:pPr algn="ctr"/>
            <a:r>
              <a:rPr lang="fr-FR" dirty="0"/>
              <a:t>Thèmes &amp; Styles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510301"/>
            <a:ext cx="10058400" cy="4661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 err="1"/>
              <a:t>Angular</a:t>
            </a:r>
            <a:r>
              <a:rPr lang="fr-FR" dirty="0"/>
              <a:t> </a:t>
            </a:r>
            <a:r>
              <a:rPr lang="fr-FR" dirty="0" err="1"/>
              <a:t>Material</a:t>
            </a:r>
            <a:r>
              <a:rPr lang="fr-FR" dirty="0"/>
              <a:t> propose des thèmes prêts à l’emploi </a:t>
            </a:r>
            <a:r>
              <a:rPr lang="fr-FR" dirty="0" smtClean="0"/>
              <a:t>:</a:t>
            </a:r>
          </a:p>
          <a:p>
            <a:pPr lvl="1">
              <a:lnSpc>
                <a:spcPct val="150000"/>
              </a:lnSpc>
            </a:pPr>
            <a:r>
              <a:rPr lang="fr-FR" b="1" dirty="0"/>
              <a:t>Indigo / Pink</a:t>
            </a:r>
            <a:r>
              <a:rPr lang="fr-FR" dirty="0"/>
              <a:t> (par défaut</a:t>
            </a:r>
            <a:r>
              <a:rPr lang="fr-FR" dirty="0" smtClean="0"/>
              <a:t>)</a:t>
            </a:r>
          </a:p>
          <a:p>
            <a:pPr lvl="1">
              <a:lnSpc>
                <a:spcPct val="150000"/>
              </a:lnSpc>
            </a:pPr>
            <a:r>
              <a:rPr lang="fr-FR" dirty="0" err="1"/>
              <a:t>Purple</a:t>
            </a:r>
            <a:r>
              <a:rPr lang="fr-FR" dirty="0"/>
              <a:t> / </a:t>
            </a:r>
            <a:r>
              <a:rPr lang="fr-FR" dirty="0" smtClean="0"/>
              <a:t>Green</a:t>
            </a:r>
          </a:p>
          <a:p>
            <a:pPr lvl="1">
              <a:lnSpc>
                <a:spcPct val="150000"/>
              </a:lnSpc>
            </a:pPr>
            <a:r>
              <a:rPr lang="fr-FR" dirty="0" err="1"/>
              <a:t>Deep</a:t>
            </a:r>
            <a:r>
              <a:rPr lang="fr-FR" dirty="0"/>
              <a:t> Orange / </a:t>
            </a:r>
            <a:r>
              <a:rPr lang="fr-FR" dirty="0" smtClean="0"/>
              <a:t>Amber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Ou </a:t>
            </a:r>
            <a:r>
              <a:rPr lang="fr-FR" b="1" dirty="0"/>
              <a:t>thème </a:t>
            </a:r>
            <a:r>
              <a:rPr lang="fr-FR" b="1" dirty="0" smtClean="0"/>
              <a:t>personnalisé</a:t>
            </a:r>
          </a:p>
          <a:p>
            <a:pPr>
              <a:lnSpc>
                <a:spcPct val="150000"/>
              </a:lnSpc>
            </a:pPr>
            <a:r>
              <a:rPr lang="fr-FR" dirty="0"/>
              <a:t>Ce thème contrôle </a:t>
            </a:r>
            <a:r>
              <a:rPr lang="fr-FR" dirty="0" smtClean="0"/>
              <a:t>: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Les </a:t>
            </a:r>
            <a:r>
              <a:rPr lang="fr-FR" b="1" dirty="0" smtClean="0"/>
              <a:t>couleurs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Les </a:t>
            </a:r>
            <a:r>
              <a:rPr lang="fr-FR" b="1" dirty="0"/>
              <a:t>effets </a:t>
            </a:r>
            <a:r>
              <a:rPr lang="fr-FR" b="1" dirty="0" smtClean="0"/>
              <a:t>d’ombre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Les </a:t>
            </a:r>
            <a:r>
              <a:rPr lang="fr-FR" b="1" dirty="0"/>
              <a:t>composants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8020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Exemple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FR" dirty="0" smtClean="0"/>
              <a:t>HTML</a:t>
            </a:r>
            <a:endParaRPr lang="fr-FR" dirty="0"/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sz="half" idx="2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8226" y="3010328"/>
            <a:ext cx="6055998" cy="25788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Espace réservé du texte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fr-FR" dirty="0" smtClean="0"/>
              <a:t>COMPOSANT</a:t>
            </a:r>
            <a:endParaRPr lang="fr-FR" dirty="0"/>
          </a:p>
        </p:txBody>
      </p:sp>
      <p:pic>
        <p:nvPicPr>
          <p:cNvPr id="9" name="Espace réservé du contenu 8"/>
          <p:cNvPicPr>
            <a:picLocks noGrp="1" noChangeAspect="1"/>
          </p:cNvPicPr>
          <p:nvPr>
            <p:ph sz="quarter" idx="4"/>
          </p:nvPr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78202" y="3236360"/>
            <a:ext cx="4263775" cy="16706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6992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Résumé</a:t>
            </a:r>
          </a:p>
        </p:txBody>
      </p:sp>
      <p:pic>
        <p:nvPicPr>
          <p:cNvPr id="9" name="Espace réservé du contenu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1828800"/>
            <a:ext cx="9923500" cy="45309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3725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71557"/>
          </a:xfrm>
        </p:spPr>
        <p:txBody>
          <a:bodyPr/>
          <a:lstStyle/>
          <a:p>
            <a:pPr algn="ctr"/>
            <a:r>
              <a:rPr lang="fr-FR" dirty="0" smtClean="0"/>
              <a:t>Bonnes pratiques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46558" y="1546055"/>
            <a:ext cx="10058400" cy="4050792"/>
          </a:xfrm>
        </p:spPr>
        <p:txBody>
          <a:bodyPr>
            <a:normAutofit/>
          </a:bodyPr>
          <a:lstStyle/>
          <a:p>
            <a:r>
              <a:rPr lang="fr-FR" b="1" dirty="0"/>
              <a:t>En </a:t>
            </a:r>
            <a:r>
              <a:rPr lang="fr-FR" b="1" dirty="0" err="1"/>
              <a:t>Angular</a:t>
            </a:r>
            <a:r>
              <a:rPr lang="fr-FR" b="1" dirty="0"/>
              <a:t> 16+ (</a:t>
            </a:r>
            <a:r>
              <a:rPr lang="fr-FR" b="1" dirty="0" err="1"/>
              <a:t>standalone</a:t>
            </a:r>
            <a:r>
              <a:rPr lang="fr-FR" b="1" dirty="0"/>
              <a:t>)</a:t>
            </a:r>
            <a:r>
              <a:rPr lang="fr-FR" dirty="0"/>
              <a:t> il est </a:t>
            </a:r>
            <a:r>
              <a:rPr lang="fr-FR" b="1" dirty="0"/>
              <a:t>recommandé</a:t>
            </a:r>
            <a:r>
              <a:rPr lang="fr-FR" dirty="0"/>
              <a:t> d’importer les modules </a:t>
            </a:r>
            <a:r>
              <a:rPr lang="fr-FR" b="1" dirty="0"/>
              <a:t>un par un</a:t>
            </a:r>
            <a:r>
              <a:rPr lang="fr-FR" dirty="0"/>
              <a:t> </a:t>
            </a:r>
            <a:r>
              <a:rPr lang="fr-FR" dirty="0" smtClean="0"/>
              <a:t>:</a:t>
            </a:r>
          </a:p>
          <a:p>
            <a:endParaRPr lang="fr-FR" dirty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C’est la </a:t>
            </a:r>
            <a:r>
              <a:rPr lang="fr-FR" b="1" dirty="0"/>
              <a:t>bonne pratique officielle</a:t>
            </a:r>
            <a:r>
              <a:rPr lang="fr-FR" dirty="0"/>
              <a:t>, car :</a:t>
            </a:r>
          </a:p>
          <a:p>
            <a:pPr lvl="1"/>
            <a:r>
              <a:rPr lang="fr-FR" dirty="0"/>
              <a:t>Tu importes </a:t>
            </a:r>
            <a:r>
              <a:rPr lang="fr-FR" b="1" dirty="0"/>
              <a:t>uniquement ce que tu utilises</a:t>
            </a:r>
            <a:r>
              <a:rPr lang="fr-FR" dirty="0"/>
              <a:t> → </a:t>
            </a:r>
            <a:r>
              <a:rPr lang="fr-FR" b="1" dirty="0"/>
              <a:t>meilleure </a:t>
            </a:r>
            <a:r>
              <a:rPr lang="fr-FR" b="1" dirty="0" smtClean="0"/>
              <a:t>performance</a:t>
            </a:r>
          </a:p>
          <a:p>
            <a:pPr lvl="1"/>
            <a:r>
              <a:rPr lang="fr-FR" dirty="0"/>
              <a:t>La taille du bundle est </a:t>
            </a:r>
            <a:r>
              <a:rPr lang="fr-FR" b="1" dirty="0"/>
              <a:t>plus </a:t>
            </a:r>
            <a:r>
              <a:rPr lang="fr-FR" b="1" dirty="0" smtClean="0"/>
              <a:t>petite</a:t>
            </a:r>
          </a:p>
          <a:p>
            <a:pPr lvl="1"/>
            <a:r>
              <a:rPr lang="fr-FR" dirty="0"/>
              <a:t>Le code est </a:t>
            </a:r>
            <a:r>
              <a:rPr lang="fr-FR" b="1" dirty="0"/>
              <a:t>plus propre et maîtrisé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13098" y="2098174"/>
            <a:ext cx="3493212" cy="19395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494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fr-FR" sz="4000" dirty="0"/>
              <a:t>Alternative Propre : </a:t>
            </a:r>
            <a:r>
              <a:rPr lang="fr-FR" sz="4000" b="1" dirty="0"/>
              <a:t>Créer un module partagé</a:t>
            </a:r>
            <a:r>
              <a:rPr lang="fr-FR" sz="4000" dirty="0"/>
              <a:t> (si tu as beaucoup de composants)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Tu peux créer </a:t>
            </a:r>
            <a:r>
              <a:rPr lang="fr-FR" b="1" dirty="0" err="1"/>
              <a:t>MaterialSharedModule</a:t>
            </a:r>
            <a:r>
              <a:rPr lang="fr-FR" dirty="0"/>
              <a:t> </a:t>
            </a:r>
            <a:r>
              <a:rPr lang="fr-FR" i="1" dirty="0"/>
              <a:t>mais tu n’y mets que ce que tu utilises réellement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581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exemple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43864" y="1746607"/>
            <a:ext cx="8702211" cy="39748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5190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Au niveau de composant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3893906"/>
            <a:ext cx="10058400" cy="2278294"/>
          </a:xfrm>
        </p:spPr>
        <p:txBody>
          <a:bodyPr/>
          <a:lstStyle/>
          <a:p>
            <a:r>
              <a:rPr lang="fr-FR" dirty="0"/>
              <a:t>Toujours </a:t>
            </a:r>
            <a:r>
              <a:rPr lang="fr-FR" dirty="0" smtClean="0"/>
              <a:t>contrôlé</a:t>
            </a:r>
          </a:p>
          <a:p>
            <a:r>
              <a:rPr lang="fr-FR" dirty="0"/>
              <a:t>Pas trop </a:t>
            </a:r>
            <a:r>
              <a:rPr lang="fr-FR" dirty="0" smtClean="0"/>
              <a:t>lourd</a:t>
            </a:r>
          </a:p>
          <a:p>
            <a:r>
              <a:rPr lang="fr-FR" dirty="0"/>
              <a:t>Plus pratique pour les grands projets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32261" y="1880172"/>
            <a:ext cx="4685016" cy="12265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6013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 smtClean="0"/>
              <a:t>recap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5915" y="2093976"/>
            <a:ext cx="9287838" cy="33821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9618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vérification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600" b="1" dirty="0" err="1"/>
              <a:t>npm</a:t>
            </a:r>
            <a:r>
              <a:rPr lang="fr-FR" sz="3600" b="1" dirty="0"/>
              <a:t> </a:t>
            </a:r>
            <a:r>
              <a:rPr lang="fr-FR" sz="3600" b="1" dirty="0" err="1"/>
              <a:t>list</a:t>
            </a:r>
            <a:r>
              <a:rPr lang="fr-FR" sz="3600" b="1" dirty="0"/>
              <a:t> @</a:t>
            </a:r>
            <a:r>
              <a:rPr lang="fr-FR" sz="3600" b="1" dirty="0" err="1"/>
              <a:t>angular</a:t>
            </a:r>
            <a:r>
              <a:rPr lang="fr-FR" sz="3600" b="1" dirty="0"/>
              <a:t>/</a:t>
            </a:r>
            <a:r>
              <a:rPr lang="fr-FR" sz="3600" b="1" dirty="0" err="1"/>
              <a:t>material</a:t>
            </a: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147878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8662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Installer </a:t>
            </a:r>
            <a:r>
              <a:rPr lang="fr-FR" dirty="0" err="1"/>
              <a:t>Angular</a:t>
            </a:r>
            <a:r>
              <a:rPr lang="fr-FR" dirty="0"/>
              <a:t> </a:t>
            </a:r>
            <a:r>
              <a:rPr lang="fr-FR" dirty="0" err="1"/>
              <a:t>Material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fr-FR" dirty="0" err="1"/>
              <a:t>ng</a:t>
            </a:r>
            <a:r>
              <a:rPr lang="fr-FR" dirty="0"/>
              <a:t> </a:t>
            </a:r>
            <a:r>
              <a:rPr lang="fr-FR" dirty="0" err="1"/>
              <a:t>add</a:t>
            </a:r>
            <a:r>
              <a:rPr lang="fr-FR" dirty="0"/>
              <a:t> @</a:t>
            </a:r>
            <a:r>
              <a:rPr lang="fr-FR" dirty="0" err="1" smtClean="0"/>
              <a:t>angular</a:t>
            </a:r>
            <a:r>
              <a:rPr lang="fr-FR" dirty="0" smtClean="0"/>
              <a:t>/</a:t>
            </a:r>
            <a:r>
              <a:rPr lang="fr-FR" dirty="0" err="1" smtClean="0"/>
              <a:t>material</a:t>
            </a:r>
            <a:endParaRPr lang="fr-FR" dirty="0" smtClean="0"/>
          </a:p>
          <a:p>
            <a:pPr algn="just">
              <a:lnSpc>
                <a:spcPct val="150000"/>
              </a:lnSpc>
            </a:pPr>
            <a:r>
              <a:rPr lang="fr-FR" dirty="0"/>
              <a:t>Cette commande </a:t>
            </a:r>
            <a:r>
              <a:rPr lang="fr-FR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installe le package @</a:t>
            </a:r>
            <a:r>
              <a:rPr lang="fr-FR" dirty="0" err="1" smtClean="0"/>
              <a:t>angular</a:t>
            </a:r>
            <a:r>
              <a:rPr lang="fr-FR" dirty="0" smtClean="0"/>
              <a:t>/</a:t>
            </a:r>
            <a:r>
              <a:rPr lang="fr-FR" dirty="0" err="1" smtClean="0"/>
              <a:t>material</a:t>
            </a:r>
            <a:endParaRPr lang="fr-FR" dirty="0" smtClean="0"/>
          </a:p>
          <a:p>
            <a:pPr lvl="1" algn="just">
              <a:lnSpc>
                <a:spcPct val="150000"/>
              </a:lnSpc>
            </a:pPr>
            <a:r>
              <a:rPr lang="fr-FR" dirty="0"/>
              <a:t>configure les thèmes et animations </a:t>
            </a:r>
            <a:r>
              <a:rPr lang="fr-FR" dirty="0" smtClean="0"/>
              <a:t>automatiquement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ajoute les modules nécessaires dans ton </a:t>
            </a:r>
            <a:r>
              <a:rPr lang="fr-FR" dirty="0" smtClean="0"/>
              <a:t>projet</a:t>
            </a:r>
          </a:p>
          <a:p>
            <a:pPr algn="just">
              <a:lnSpc>
                <a:spcPct val="150000"/>
              </a:lnSpc>
            </a:pPr>
            <a:r>
              <a:rPr lang="fr-FR" dirty="0"/>
              <a:t>Tu peux choisir un thème par défaut (ex. </a:t>
            </a:r>
            <a:r>
              <a:rPr lang="fr-FR" b="1" dirty="0"/>
              <a:t>Indigo/Pink</a:t>
            </a:r>
            <a:r>
              <a:rPr lang="fr-FR" dirty="0"/>
              <a:t>) et activer les </a:t>
            </a:r>
            <a:r>
              <a:rPr lang="fr-FR" b="1" dirty="0"/>
              <a:t>animations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3475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add-employe.component.css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61007" y="1808253"/>
            <a:ext cx="6924782" cy="35131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9577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974" y="227779"/>
            <a:ext cx="10058400" cy="68662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LA CLASSE </a:t>
            </a:r>
            <a:r>
              <a:rPr lang="fr-FR" dirty="0" err="1" smtClean="0"/>
              <a:t>ts</a:t>
            </a:r>
            <a:r>
              <a:rPr lang="fr-FR" dirty="0" smtClean="0"/>
              <a:t> DU </a:t>
            </a:r>
            <a:r>
              <a:rPr lang="fr-FR" dirty="0" err="1" smtClean="0"/>
              <a:t>cONTROULEUR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7026" y="1191802"/>
            <a:ext cx="8311792" cy="47772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781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Service </a:t>
            </a:r>
            <a:r>
              <a:rPr lang="fr-FR" dirty="0" err="1" smtClean="0"/>
              <a:t>create</a:t>
            </a:r>
            <a:r>
              <a:rPr lang="fr-FR" dirty="0" smtClean="0"/>
              <a:t> </a:t>
            </a:r>
            <a:r>
              <a:rPr lang="fr-FR" dirty="0" err="1" smtClean="0"/>
              <a:t>employe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7703" y="1869897"/>
            <a:ext cx="8507003" cy="45103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6351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07230"/>
            <a:ext cx="10058400" cy="5838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 smtClean="0"/>
              <a:t>template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820" y="1078787"/>
            <a:ext cx="10460428" cy="50934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69076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Type de bois</Template>
  <TotalTime>542</TotalTime>
  <Words>509</Words>
  <Application>Microsoft Office PowerPoint</Application>
  <PresentationFormat>Grand écran</PresentationFormat>
  <Paragraphs>91</Paragraphs>
  <Slides>35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0" baseType="lpstr">
      <vt:lpstr>Agency FB</vt:lpstr>
      <vt:lpstr>Arial</vt:lpstr>
      <vt:lpstr>Arial Black</vt:lpstr>
      <vt:lpstr>Wingdings</vt:lpstr>
      <vt:lpstr>Type de bois</vt:lpstr>
      <vt:lpstr>Les Formulaires</vt:lpstr>
      <vt:lpstr>Introduction</vt:lpstr>
      <vt:lpstr>Types de Formulaires en Angular</vt:lpstr>
      <vt:lpstr>Template-driven Forms</vt:lpstr>
      <vt:lpstr>Reactive Forms</vt:lpstr>
      <vt:lpstr>Résumé</vt:lpstr>
      <vt:lpstr>Comparer et opposer les formulaires guidés par un modèle et les formulaires réactifs</vt:lpstr>
      <vt:lpstr>Exemple 1: Template-driven Forms</vt:lpstr>
      <vt:lpstr>Logique applicative</vt:lpstr>
      <vt:lpstr>Template</vt:lpstr>
      <vt:lpstr>Exemple 2: REACTIVE Forms</vt:lpstr>
      <vt:lpstr>Logique applicative</vt:lpstr>
      <vt:lpstr>Template</vt:lpstr>
      <vt:lpstr>Ajout des règles de validation </vt:lpstr>
      <vt:lpstr>Mise à jour de la logique applicative</vt:lpstr>
      <vt:lpstr>Mise à jour Template</vt:lpstr>
      <vt:lpstr>Mise à jour de la Template</vt:lpstr>
      <vt:lpstr>Angular Material</vt:lpstr>
      <vt:lpstr>Qu’est-ce que Angular Material ?</vt:lpstr>
      <vt:lpstr>Avantages </vt:lpstr>
      <vt:lpstr>Pourquoi utiliser Angular Material ?</vt:lpstr>
      <vt:lpstr>Thèmes &amp; Styles</vt:lpstr>
      <vt:lpstr>Exemple</vt:lpstr>
      <vt:lpstr>Résumé</vt:lpstr>
      <vt:lpstr>Bonnes pratiques</vt:lpstr>
      <vt:lpstr>Alternative Propre : Créer un module partagé (si tu as beaucoup de composants)</vt:lpstr>
      <vt:lpstr>exemple</vt:lpstr>
      <vt:lpstr>Au niveau de composant</vt:lpstr>
      <vt:lpstr>recap</vt:lpstr>
      <vt:lpstr>vérification</vt:lpstr>
      <vt:lpstr>Installer Angular Material</vt:lpstr>
      <vt:lpstr>add-employe.component.css</vt:lpstr>
      <vt:lpstr>LA CLASSE ts DU cONTROULEUR</vt:lpstr>
      <vt:lpstr>Service create employe</vt:lpstr>
      <vt:lpstr>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Formulaires</dc:title>
  <dc:creator>admin</dc:creator>
  <cp:lastModifiedBy>admin</cp:lastModifiedBy>
  <cp:revision>4</cp:revision>
  <dcterms:created xsi:type="dcterms:W3CDTF">2026-01-15T23:21:16Z</dcterms:created>
  <dcterms:modified xsi:type="dcterms:W3CDTF">2026-01-16T08:23:55Z</dcterms:modified>
</cp:coreProperties>
</file>