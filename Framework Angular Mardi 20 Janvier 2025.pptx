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7" r:id="rId2"/>
    <p:sldId id="258" r:id="rId3"/>
    <p:sldId id="285" r:id="rId4"/>
    <p:sldId id="286" r:id="rId5"/>
    <p:sldId id="259" r:id="rId6"/>
    <p:sldId id="260" r:id="rId7"/>
    <p:sldId id="268" r:id="rId8"/>
    <p:sldId id="261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87" r:id="rId17"/>
    <p:sldId id="288" r:id="rId18"/>
    <p:sldId id="267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1/19/2026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3.wdp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4200/users/5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8.wdp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7.wdp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9.wdp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30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31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32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33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36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37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38.wd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microsoft.com/office/2007/relationships/hdphoto" Target="../media/hdphoto39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07/relationships/hdphoto" Target="../media/hdphoto40.wdp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07/relationships/hdphoto" Target="../media/hdphoto41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microsoft.com/office/2007/relationships/hdphoto" Target="../media/hdphoto42.wdp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microsoft.com/office/2007/relationships/hdphoto" Target="../media/hdphoto43.wdp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44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hdphoto" Target="../media/hdphoto45.wdp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Le </a:t>
            </a:r>
            <a:r>
              <a:rPr lang="fr-FR" dirty="0" smtClean="0"/>
              <a:t>routage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04" y="4468031"/>
            <a:ext cx="7078061" cy="216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4550" y="120331"/>
            <a:ext cx="8911687" cy="798567"/>
          </a:xfrm>
        </p:spPr>
        <p:txBody>
          <a:bodyPr/>
          <a:lstStyle/>
          <a:p>
            <a:pPr algn="ctr"/>
            <a:r>
              <a:rPr lang="fr-FR" b="1" dirty="0" smtClean="0"/>
              <a:t>Le Routage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0837" y="918898"/>
            <a:ext cx="8915400" cy="377762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Un site web est constitué d'une multitude de pages.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Ces pages sont écrites grâce notamment au langage HTML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Le </a:t>
            </a:r>
            <a:r>
              <a:rPr lang="fr-FR" b="1" dirty="0" err="1"/>
              <a:t>Routing</a:t>
            </a:r>
            <a:r>
              <a:rPr lang="fr-FR" b="1" dirty="0"/>
              <a:t> </a:t>
            </a:r>
            <a:r>
              <a:rPr lang="fr-FR" dirty="0"/>
              <a:t>est le mécanisme qui permet de naviguer d'une page à une autre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60" y="3022381"/>
            <a:ext cx="66675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96956"/>
            <a:ext cx="10058400" cy="809912"/>
          </a:xfrm>
        </p:spPr>
        <p:txBody>
          <a:bodyPr/>
          <a:lstStyle/>
          <a:p>
            <a:pPr algn="ctr"/>
            <a:r>
              <a:rPr lang="fr-FR" dirty="0"/>
              <a:t>SPA (Single Page Application)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30298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>
                <a:solidFill>
                  <a:srgbClr val="FF0000"/>
                </a:solidFill>
              </a:rPr>
              <a:t>Sans </a:t>
            </a:r>
            <a:r>
              <a:rPr lang="fr-FR" sz="2800" b="1" dirty="0" smtClean="0">
                <a:solidFill>
                  <a:srgbClr val="FF0000"/>
                </a:solidFill>
              </a:rPr>
              <a:t>routage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Une seule page HTML (index.html</a:t>
            </a:r>
            <a:r>
              <a:rPr lang="fr-FR" sz="24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Tout le contenu change </a:t>
            </a:r>
            <a:r>
              <a:rPr lang="fr-FR" sz="2400" dirty="0" smtClean="0"/>
              <a:t>dynamiquement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Problème : navigation difficile, URL non </a:t>
            </a:r>
            <a:r>
              <a:rPr lang="fr-FR" sz="2400" dirty="0" smtClean="0"/>
              <a:t>significatives</a:t>
            </a:r>
          </a:p>
          <a:p>
            <a:pPr algn="just">
              <a:lnSpc>
                <a:spcPct val="150000"/>
              </a:lnSpc>
            </a:pPr>
            <a:r>
              <a:rPr lang="fr-FR" sz="2800" b="1" dirty="0">
                <a:solidFill>
                  <a:srgbClr val="00B050"/>
                </a:solidFill>
              </a:rPr>
              <a:t>Avec </a:t>
            </a:r>
            <a:r>
              <a:rPr lang="fr-FR" sz="2800" b="1" dirty="0" smtClean="0">
                <a:solidFill>
                  <a:srgbClr val="00B050"/>
                </a:solidFill>
              </a:rPr>
              <a:t>routage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Chaque URL ↔ un </a:t>
            </a:r>
            <a:r>
              <a:rPr lang="fr-FR" sz="2400" dirty="0" smtClean="0"/>
              <a:t>composant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Navigation fluide sans </a:t>
            </a:r>
            <a:r>
              <a:rPr lang="fr-FR" sz="2400" dirty="0" smtClean="0"/>
              <a:t>rechargement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 err="1"/>
              <a:t>URLs</a:t>
            </a:r>
            <a:r>
              <a:rPr lang="fr-FR" sz="2400" dirty="0"/>
              <a:t> lisibles</a:t>
            </a:r>
          </a:p>
        </p:txBody>
      </p:sp>
    </p:spTree>
    <p:extLst>
      <p:ext uri="{BB962C8B-B14F-4D97-AF65-F5344CB8AC3E}">
        <p14:creationId xmlns:p14="http://schemas.microsoft.com/office/powerpoint/2010/main" val="388006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Composants principaux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879" y="2250040"/>
            <a:ext cx="8126858" cy="35240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9726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Processus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fr-FR" b="1" dirty="0" err="1"/>
              <a:t>Angular</a:t>
            </a:r>
            <a:r>
              <a:rPr lang="fr-FR" dirty="0"/>
              <a:t> propose une librairie </a:t>
            </a:r>
            <a:r>
              <a:rPr lang="fr-FR" b="1" dirty="0" err="1"/>
              <a:t>angular@routeur</a:t>
            </a:r>
            <a:r>
              <a:rPr lang="fr-FR" dirty="0"/>
              <a:t> qui permet de gérer le </a:t>
            </a:r>
            <a:r>
              <a:rPr lang="fr-FR" b="1" dirty="0" err="1" smtClean="0"/>
              <a:t>routing</a:t>
            </a:r>
            <a:r>
              <a:rPr lang="fr-FR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dirty="0" smtClean="0"/>
              <a:t>Nous </a:t>
            </a:r>
            <a:r>
              <a:rPr lang="fr-FR" dirty="0"/>
              <a:t>importerons cette librairie dans un </a:t>
            </a:r>
            <a:r>
              <a:rPr lang="fr-FR" b="1" dirty="0"/>
              <a:t>module dédié</a:t>
            </a:r>
            <a:r>
              <a:rPr lang="fr-FR" dirty="0"/>
              <a:t> au routage.</a:t>
            </a:r>
            <a:br>
              <a:rPr lang="fr-FR" dirty="0"/>
            </a:br>
            <a:r>
              <a:rPr lang="fr-FR" dirty="0"/>
              <a:t>Ce module portera le nom suivant </a:t>
            </a:r>
            <a:r>
              <a:rPr lang="fr-FR" b="1" dirty="0" err="1"/>
              <a:t>app-routing.module.ts</a:t>
            </a:r>
            <a:endParaRPr lang="fr-FR" dirty="0"/>
          </a:p>
          <a:p>
            <a:pPr algn="just">
              <a:lnSpc>
                <a:spcPct val="200000"/>
              </a:lnSpc>
            </a:pPr>
            <a:r>
              <a:rPr lang="fr-FR" dirty="0"/>
              <a:t>La configuration du </a:t>
            </a:r>
            <a:r>
              <a:rPr lang="fr-FR" b="1" dirty="0"/>
              <a:t>"</a:t>
            </a:r>
            <a:r>
              <a:rPr lang="fr-FR" b="1" dirty="0" err="1"/>
              <a:t>Routing</a:t>
            </a:r>
            <a:r>
              <a:rPr lang="fr-FR" b="1" dirty="0"/>
              <a:t>"</a:t>
            </a:r>
            <a:r>
              <a:rPr lang="fr-FR" dirty="0"/>
              <a:t> sera transmise au module </a:t>
            </a:r>
            <a:r>
              <a:rPr lang="fr-FR" b="1" dirty="0" err="1"/>
              <a:t>RouterModule</a:t>
            </a:r>
            <a:r>
              <a:rPr lang="fr-FR" b="1" dirty="0"/>
              <a:t> </a:t>
            </a:r>
            <a:endParaRPr lang="fr-FR" dirty="0"/>
          </a:p>
          <a:p>
            <a:pPr algn="just">
              <a:lnSpc>
                <a:spcPct val="20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15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0757" y="453100"/>
            <a:ext cx="10728073" cy="776609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Architecture </a:t>
            </a:r>
            <a:r>
              <a:rPr lang="fr-FR" b="1" dirty="0" err="1" smtClean="0"/>
              <a:t>Angular</a:t>
            </a:r>
            <a:r>
              <a:rPr lang="fr-FR" b="1" dirty="0" smtClean="0"/>
              <a:t> 14 et Antérieur</a:t>
            </a:r>
            <a:endParaRPr lang="fr-FR" b="1" dirty="0"/>
          </a:p>
        </p:txBody>
      </p:sp>
      <p:pic>
        <p:nvPicPr>
          <p:cNvPr id="2050" name="Picture 2" descr="Angular Ro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828" y="1392303"/>
            <a:ext cx="8762260" cy="45176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58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176408"/>
            <a:ext cx="10058400" cy="799638"/>
          </a:xfrm>
        </p:spPr>
        <p:txBody>
          <a:bodyPr/>
          <a:lstStyle/>
          <a:p>
            <a:pPr algn="ctr"/>
            <a:r>
              <a:rPr lang="fr-FR" dirty="0" smtClean="0"/>
              <a:t>Architecture </a:t>
            </a:r>
            <a:r>
              <a:rPr lang="fr-FR" dirty="0" err="1" smtClean="0"/>
              <a:t>Angular</a:t>
            </a:r>
            <a:r>
              <a:rPr lang="fr-FR" dirty="0" smtClean="0"/>
              <a:t> 21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93" y="1058237"/>
            <a:ext cx="10450281" cy="5568593"/>
          </a:xfrm>
        </p:spPr>
      </p:pic>
    </p:spTree>
    <p:extLst>
      <p:ext uri="{BB962C8B-B14F-4D97-AF65-F5344CB8AC3E}">
        <p14:creationId xmlns:p14="http://schemas.microsoft.com/office/powerpoint/2010/main" val="314564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Module </a:t>
            </a:r>
            <a:r>
              <a:rPr lang="fr-FR" b="1" dirty="0" err="1"/>
              <a:t>app-routing.module.ts</a:t>
            </a:r>
            <a:r>
              <a:rPr lang="fr-FR" b="1" dirty="0"/>
              <a:t/>
            </a:r>
            <a:br>
              <a:rPr lang="fr-FR" b="1" dirty="0"/>
            </a:b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cela nous utiliserons la commande </a:t>
            </a:r>
            <a:r>
              <a:rPr lang="fr-FR" b="1" dirty="0" err="1" smtClean="0"/>
              <a:t>Angular</a:t>
            </a:r>
            <a:r>
              <a:rPr lang="fr-FR" b="1" dirty="0" smtClean="0"/>
              <a:t>-cli</a:t>
            </a:r>
            <a:r>
              <a:rPr lang="fr-FR" dirty="0" smtClean="0"/>
              <a:t> </a:t>
            </a:r>
            <a:r>
              <a:rPr lang="fr-FR" dirty="0"/>
              <a:t>suivante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338" y="2814632"/>
            <a:ext cx="4334400" cy="5588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3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27778"/>
            <a:ext cx="10058400" cy="809912"/>
          </a:xfrm>
        </p:spPr>
        <p:txBody>
          <a:bodyPr/>
          <a:lstStyle/>
          <a:p>
            <a:pPr algn="ctr"/>
            <a:r>
              <a:rPr lang="fr-FR" dirty="0" err="1" smtClean="0"/>
              <a:t>Angular</a:t>
            </a:r>
            <a:r>
              <a:rPr lang="fr-FR" dirty="0" smtClean="0"/>
              <a:t> 21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181528"/>
            <a:ext cx="10058400" cy="461052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À la question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/>
              <a:t>Would you like to add Angular routing? (y/N</a:t>
            </a:r>
            <a:r>
              <a:rPr lang="en-US" sz="2400" b="1" dirty="0" smtClean="0"/>
              <a:t>)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Répondre : </a:t>
            </a:r>
            <a:r>
              <a:rPr lang="fr-FR" sz="2800" dirty="0" err="1" smtClean="0"/>
              <a:t>Yes</a:t>
            </a:r>
            <a:endParaRPr lang="fr-FR" sz="2800" dirty="0" smtClean="0"/>
          </a:p>
          <a:p>
            <a:pPr algn="just">
              <a:lnSpc>
                <a:spcPct val="150000"/>
              </a:lnSpc>
            </a:pPr>
            <a:r>
              <a:rPr lang="fr-FR" sz="2800" b="1" dirty="0" err="1"/>
              <a:t>Angular</a:t>
            </a:r>
            <a:r>
              <a:rPr lang="fr-FR" sz="2800" b="1" dirty="0"/>
              <a:t> 21 </a:t>
            </a:r>
            <a:r>
              <a:rPr lang="fr-FR" sz="2800" dirty="0"/>
              <a:t>génère automatiquement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 err="1" smtClean="0"/>
              <a:t>app.routes.ts</a:t>
            </a:r>
            <a:endParaRPr lang="fr-FR" sz="2400" b="1" dirty="0" smtClean="0"/>
          </a:p>
          <a:p>
            <a:pPr lvl="1" algn="just">
              <a:lnSpc>
                <a:spcPct val="150000"/>
              </a:lnSpc>
            </a:pPr>
            <a:r>
              <a:rPr lang="fr-FR" sz="2400" b="1" dirty="0" err="1" smtClean="0"/>
              <a:t>app.config.ts</a:t>
            </a:r>
            <a:endParaRPr lang="fr-FR" sz="2400" b="1" dirty="0" smtClean="0"/>
          </a:p>
          <a:p>
            <a:pPr lvl="1" algn="just">
              <a:lnSpc>
                <a:spcPct val="150000"/>
              </a:lnSpc>
            </a:pPr>
            <a:r>
              <a:rPr lang="fr-FR" sz="2400" dirty="0"/>
              <a:t>projet </a:t>
            </a:r>
            <a:r>
              <a:rPr lang="fr-FR" sz="2400" b="1" dirty="0" err="1"/>
              <a:t>standalone</a:t>
            </a:r>
            <a:r>
              <a:rPr lang="fr-FR" sz="2400" b="1" dirty="0"/>
              <a:t> par défaut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7431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17504"/>
            <a:ext cx="10058400" cy="943476"/>
          </a:xfrm>
        </p:spPr>
        <p:txBody>
          <a:bodyPr/>
          <a:lstStyle/>
          <a:p>
            <a:pPr algn="ctr"/>
            <a:r>
              <a:rPr lang="fr-FR" dirty="0"/>
              <a:t>Structure générée (</a:t>
            </a:r>
            <a:r>
              <a:rPr lang="fr-FR" dirty="0" err="1"/>
              <a:t>Angular</a:t>
            </a:r>
            <a:r>
              <a:rPr lang="fr-FR" dirty="0"/>
              <a:t> 21)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4941870"/>
            <a:ext cx="10058400" cy="12303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Pas de </a:t>
            </a:r>
            <a:r>
              <a:rPr lang="fr-FR" sz="2800" b="1" dirty="0" err="1" smtClean="0"/>
              <a:t>AppModule</a:t>
            </a:r>
            <a:endParaRPr lang="fr-FR" sz="2800" b="1" dirty="0" smtClean="0"/>
          </a:p>
          <a:p>
            <a:pPr>
              <a:lnSpc>
                <a:spcPct val="150000"/>
              </a:lnSpc>
            </a:pPr>
            <a:r>
              <a:rPr lang="fr-FR" sz="2800" dirty="0"/>
              <a:t>Pas de </a:t>
            </a:r>
            <a:r>
              <a:rPr lang="fr-FR" sz="2800" b="1" dirty="0" err="1"/>
              <a:t>AppRoutingModule</a:t>
            </a:r>
            <a:endParaRPr lang="fr-FR" sz="2800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1685" y="1347041"/>
            <a:ext cx="7253555" cy="2752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3357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79149"/>
            <a:ext cx="10058400" cy="64552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dirty="0"/>
              <a:t>Définir les routes → </a:t>
            </a:r>
            <a:r>
              <a:rPr lang="fr-FR" sz="4400" dirty="0" err="1"/>
              <a:t>app.routes.ts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90450" y="5106256"/>
            <a:ext cx="5392597" cy="7988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Routes </a:t>
            </a:r>
            <a:r>
              <a:rPr lang="fr-FR" b="1" dirty="0" smtClean="0"/>
              <a:t>centralisées</a:t>
            </a:r>
          </a:p>
          <a:p>
            <a:pPr>
              <a:lnSpc>
                <a:spcPct val="150000"/>
              </a:lnSpc>
            </a:pPr>
            <a:r>
              <a:rPr lang="fr-FR" dirty="0"/>
              <a:t>Compatible </a:t>
            </a:r>
            <a:r>
              <a:rPr lang="fr-FR" b="1" dirty="0" err="1"/>
              <a:t>lazy-loading</a:t>
            </a:r>
            <a:endParaRPr lang="fr-FR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5784" y="1184927"/>
            <a:ext cx="8825501" cy="35617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3794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17504"/>
            <a:ext cx="10058400" cy="912653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Installer  le Router (providers) → </a:t>
            </a:r>
            <a:r>
              <a:rPr lang="fr-FR" sz="3200" dirty="0" err="1"/>
              <a:t>app.config.ts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33600" y="4818579"/>
            <a:ext cx="10058400" cy="767993"/>
          </a:xfrm>
        </p:spPr>
        <p:txBody>
          <a:bodyPr>
            <a:normAutofit/>
          </a:bodyPr>
          <a:lstStyle/>
          <a:p>
            <a:r>
              <a:rPr lang="fr-FR" sz="2800" dirty="0"/>
              <a:t>C’est ici que le </a:t>
            </a:r>
            <a:r>
              <a:rPr lang="fr-FR" sz="2800" b="1" dirty="0"/>
              <a:t>Router est réellement installé</a:t>
            </a:r>
            <a:endParaRPr lang="fr-FR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7025" y="1202077"/>
            <a:ext cx="8003568" cy="30719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9193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80845"/>
            <a:ext cx="10058400" cy="809912"/>
          </a:xfrm>
        </p:spPr>
        <p:txBody>
          <a:bodyPr>
            <a:normAutofit/>
          </a:bodyPr>
          <a:lstStyle/>
          <a:p>
            <a:pPr algn="ctr"/>
            <a:r>
              <a:rPr lang="fr-FR" sz="4000" dirty="0" err="1"/>
              <a:t>Bootstrap</a:t>
            </a:r>
            <a:r>
              <a:rPr lang="fr-FR" sz="4000" dirty="0"/>
              <a:t> de l’application → </a:t>
            </a:r>
            <a:r>
              <a:rPr lang="fr-FR" sz="4000" dirty="0" err="1"/>
              <a:t>main.ts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45893" y="4109661"/>
            <a:ext cx="8741972" cy="2031715"/>
          </a:xfrm>
        </p:spPr>
        <p:txBody>
          <a:bodyPr>
            <a:normAutofit/>
          </a:bodyPr>
          <a:lstStyle/>
          <a:p>
            <a:r>
              <a:rPr lang="fr-FR" sz="3200" b="1" dirty="0" err="1"/>
              <a:t>provideRouter</a:t>
            </a:r>
            <a:r>
              <a:rPr lang="fr-FR" sz="3200" b="1" dirty="0"/>
              <a:t>() </a:t>
            </a:r>
            <a:r>
              <a:rPr lang="fr-FR" sz="3200" dirty="0"/>
              <a:t>est injecté au démarrage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285" y="1274528"/>
            <a:ext cx="9730963" cy="25371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736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07230"/>
            <a:ext cx="10058400" cy="881831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Composant racine → </a:t>
            </a:r>
            <a:r>
              <a:rPr lang="fr-FR" sz="3600" dirty="0" err="1"/>
              <a:t>app.component.ts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32878" y="4443111"/>
            <a:ext cx="10058400" cy="8090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2800" b="1" dirty="0"/>
              <a:t>Important</a:t>
            </a:r>
            <a:r>
              <a:rPr lang="fr-FR" sz="2800" dirty="0"/>
              <a:t> </a:t>
            </a:r>
            <a:r>
              <a:rPr lang="fr-FR" sz="2800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sz="2400" b="1" dirty="0" err="1"/>
              <a:t>RouterOutlet</a:t>
            </a:r>
            <a:r>
              <a:rPr lang="fr-FR" sz="2400" dirty="0"/>
              <a:t> doit être importé explicitement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9348" y="1089061"/>
            <a:ext cx="8620018" cy="28767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983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HTML racine → app.component.html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6607" y="2093976"/>
            <a:ext cx="8383712" cy="36473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684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Illustration logique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8944" y="2599361"/>
            <a:ext cx="8465905" cy="2815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6484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Navigation avec </a:t>
            </a:r>
            <a:r>
              <a:rPr lang="fr-FR" dirty="0" err="1"/>
              <a:t>routerLink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800" b="1" dirty="0"/>
              <a:t>&lt;a </a:t>
            </a:r>
            <a:r>
              <a:rPr lang="en-US" sz="2800" b="1" dirty="0" err="1"/>
              <a:t>routerLink</a:t>
            </a:r>
            <a:r>
              <a:rPr lang="en-US" sz="2800" b="1" dirty="0"/>
              <a:t>="/users"&gt;Users&lt;/a</a:t>
            </a:r>
            <a:r>
              <a:rPr lang="en-US" sz="2800" b="1" dirty="0" smtClean="0"/>
              <a:t>&gt;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Version </a:t>
            </a:r>
            <a:r>
              <a:rPr lang="fr-FR" sz="2800" dirty="0" smtClean="0"/>
              <a:t>dynamique</a:t>
            </a:r>
          </a:p>
          <a:p>
            <a:pPr lvl="1" algn="just">
              <a:lnSpc>
                <a:spcPct val="200000"/>
              </a:lnSpc>
            </a:pPr>
            <a:r>
              <a:rPr lang="en-US" sz="2400" b="1" dirty="0"/>
              <a:t>&lt;a [</a:t>
            </a:r>
            <a:r>
              <a:rPr lang="en-US" sz="2400" b="1" dirty="0" err="1"/>
              <a:t>routerLink</a:t>
            </a:r>
            <a:r>
              <a:rPr lang="en-US" sz="2400" b="1" dirty="0"/>
              <a:t>]="['/users', user.id]"&gt;</a:t>
            </a:r>
            <a:r>
              <a:rPr lang="en-US" sz="2400" b="1" dirty="0" err="1"/>
              <a:t>Détails</a:t>
            </a:r>
            <a:r>
              <a:rPr lang="en-US" sz="2400" b="1" dirty="0"/>
              <a:t>&lt;/a&gt;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451885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42097"/>
          </a:xfrm>
        </p:spPr>
        <p:txBody>
          <a:bodyPr>
            <a:noAutofit/>
          </a:bodyPr>
          <a:lstStyle/>
          <a:p>
            <a:pPr algn="ctr"/>
            <a:r>
              <a:rPr lang="fr-FR" sz="3200" dirty="0"/>
              <a:t>Navigation programmatique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4091" y="1371394"/>
            <a:ext cx="10058400" cy="4050792"/>
          </a:xfrm>
        </p:spPr>
        <p:txBody>
          <a:bodyPr>
            <a:normAutofit/>
          </a:bodyPr>
          <a:lstStyle/>
          <a:p>
            <a:r>
              <a:rPr lang="fr-FR" sz="3200" dirty="0"/>
              <a:t>Navigation programmatique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59255" y="2630185"/>
            <a:ext cx="7048072" cy="2609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097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Résumé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48" y="1952090"/>
            <a:ext cx="9954323" cy="41815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195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02379"/>
          </a:xfrm>
        </p:spPr>
        <p:txBody>
          <a:bodyPr/>
          <a:lstStyle/>
          <a:p>
            <a:pPr algn="ctr"/>
            <a:r>
              <a:rPr lang="fr-FR" dirty="0" smtClean="0"/>
              <a:t>Atelier N° 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705510"/>
            <a:ext cx="10058400" cy="446669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400" dirty="0" smtClean="0"/>
              <a:t>Créer 3 composants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/>
              <a:t>Page/</a:t>
            </a:r>
            <a:r>
              <a:rPr lang="fr-FR" sz="2000" b="1" dirty="0" smtClean="0"/>
              <a:t>home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/>
              <a:t>Page/</a:t>
            </a:r>
            <a:r>
              <a:rPr lang="fr-FR" sz="2000" b="1" dirty="0" smtClean="0"/>
              <a:t>contact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/>
              <a:t>Page/</a:t>
            </a:r>
            <a:r>
              <a:rPr lang="fr-FR" sz="2000" b="1" dirty="0" smtClean="0"/>
              <a:t>service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813330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 smtClean="0"/>
              <a:t>Mise à jour du fichier </a:t>
            </a:r>
            <a:r>
              <a:rPr lang="fr-FR" sz="4000" dirty="0" err="1" smtClean="0"/>
              <a:t>app.routes.ts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2494" y="2352782"/>
            <a:ext cx="9010436" cy="3164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8008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des pages HTML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Customiser les différentes page HTML de différents Composants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873257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217504"/>
            <a:ext cx="10058400" cy="922928"/>
          </a:xfrm>
        </p:spPr>
        <p:txBody>
          <a:bodyPr/>
          <a:lstStyle/>
          <a:p>
            <a:pPr algn="ctr"/>
            <a:r>
              <a:rPr lang="fr-FR" dirty="0" smtClean="0"/>
              <a:t>Customiser la page app.html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974" y="1438382"/>
            <a:ext cx="10262421" cy="4510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8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Test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4400" dirty="0" smtClean="0"/>
              <a:t>Tester &amp; Customiser </a:t>
            </a:r>
            <a:r>
              <a:rPr lang="fr-FR" sz="4400" b="1" dirty="0" smtClean="0"/>
              <a:t>app.html</a:t>
            </a: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2288166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Navigation entre composant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 smtClean="0"/>
              <a:t>Ajouter bouton au niveau de composant Service qui vous redirige vers la page Home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427614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5" y="268875"/>
            <a:ext cx="10058400" cy="902379"/>
          </a:xfrm>
        </p:spPr>
        <p:txBody>
          <a:bodyPr/>
          <a:lstStyle/>
          <a:p>
            <a:pPr algn="ctr"/>
            <a:r>
              <a:rPr lang="fr-FR" dirty="0" smtClean="0"/>
              <a:t>Customiser </a:t>
            </a:r>
            <a:r>
              <a:rPr lang="fr-FR" dirty="0" err="1" smtClean="0"/>
              <a:t>service.ts</a:t>
            </a:r>
            <a:r>
              <a:rPr lang="fr-FR" dirty="0" smtClean="0"/>
              <a:t>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1007" y="1520575"/>
            <a:ext cx="7089168" cy="31593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5565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Customiser service.html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171" y="2619910"/>
            <a:ext cx="8784404" cy="23425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699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5400" dirty="0"/>
              <a:t>Routage avec paramètres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961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Définir une route paramétrée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40755" y="3510422"/>
            <a:ext cx="2957621" cy="385795"/>
          </a:xfrm>
        </p:spPr>
        <p:txBody>
          <a:bodyPr>
            <a:normAutofit fontScale="92500" lnSpcReduction="20000"/>
          </a:bodyPr>
          <a:lstStyle/>
          <a:p>
            <a:r>
              <a:rPr lang="fr-FR" sz="2800" b="1" dirty="0"/>
              <a:t>URL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0755" y="2093976"/>
            <a:ext cx="8116585" cy="9163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76099" y="3374638"/>
            <a:ext cx="2578814" cy="6573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3105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Récupérer le paramètre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41448" y="2383604"/>
            <a:ext cx="7315199" cy="29589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8181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Version réactive (</a:t>
            </a:r>
            <a:r>
              <a:rPr lang="fr-FR" sz="3600" dirty="0" err="1"/>
              <a:t>Angular</a:t>
            </a:r>
            <a:r>
              <a:rPr lang="fr-FR" sz="3600" dirty="0"/>
              <a:t> recommandé)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44190" y="2093976"/>
            <a:ext cx="7109716" cy="25377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3189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Cas réel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200000"/>
              </a:lnSpc>
            </a:pPr>
            <a:r>
              <a:rPr lang="fr-FR" sz="3600" dirty="0"/>
              <a:t>fiche </a:t>
            </a:r>
            <a:r>
              <a:rPr lang="fr-FR" sz="3600" dirty="0" smtClean="0"/>
              <a:t>utilisateur</a:t>
            </a:r>
          </a:p>
          <a:p>
            <a:pPr algn="just">
              <a:lnSpc>
                <a:spcPct val="200000"/>
              </a:lnSpc>
            </a:pPr>
            <a:r>
              <a:rPr lang="fr-FR" sz="3600" dirty="0"/>
              <a:t>détail </a:t>
            </a:r>
            <a:r>
              <a:rPr lang="fr-FR" sz="3600" dirty="0" smtClean="0"/>
              <a:t>produit</a:t>
            </a:r>
          </a:p>
          <a:p>
            <a:pPr algn="just">
              <a:lnSpc>
                <a:spcPct val="200000"/>
              </a:lnSpc>
            </a:pPr>
            <a:r>
              <a:rPr lang="fr-FR" sz="3600" dirty="0" smtClean="0"/>
              <a:t>Facture</a:t>
            </a:r>
          </a:p>
          <a:p>
            <a:pPr algn="just">
              <a:lnSpc>
                <a:spcPct val="200000"/>
              </a:lnSpc>
            </a:pPr>
            <a:r>
              <a:rPr lang="fr-FR" sz="3600" dirty="0"/>
              <a:t>Appels API REST : </a:t>
            </a:r>
            <a:r>
              <a:rPr lang="fr-FR" sz="3600" b="1" dirty="0">
                <a:solidFill>
                  <a:srgbClr val="FF0000"/>
                </a:solidFill>
              </a:rPr>
              <a:t>GET /api/</a:t>
            </a:r>
            <a:r>
              <a:rPr lang="fr-FR" sz="3600" b="1" dirty="0" err="1">
                <a:solidFill>
                  <a:srgbClr val="FF0000"/>
                </a:solidFill>
              </a:rPr>
              <a:t>users</a:t>
            </a:r>
            <a:r>
              <a:rPr lang="fr-FR" sz="3600" b="1" dirty="0">
                <a:solidFill>
                  <a:srgbClr val="FF0000"/>
                </a:solidFill>
              </a:rPr>
              <a:t>/:id</a:t>
            </a:r>
          </a:p>
        </p:txBody>
      </p:sp>
    </p:spTree>
    <p:extLst>
      <p:ext uri="{BB962C8B-B14F-4D97-AF65-F5344CB8AC3E}">
        <p14:creationId xmlns:p14="http://schemas.microsoft.com/office/powerpoint/2010/main" val="3927272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Atelier N°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Nous voulons créer une page </a:t>
            </a:r>
            <a:r>
              <a:rPr lang="fr-FR" sz="2800" b="1" dirty="0"/>
              <a:t>Détails utilisateur</a:t>
            </a:r>
            <a:r>
              <a:rPr lang="fr-FR" sz="2800" dirty="0"/>
              <a:t> accessible via une URL de type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/>
              <a:t>/</a:t>
            </a:r>
            <a:r>
              <a:rPr lang="fr-FR" sz="2400" b="1" dirty="0" err="1"/>
              <a:t>users</a:t>
            </a:r>
            <a:r>
              <a:rPr lang="fr-FR" sz="2400" b="1" dirty="0"/>
              <a:t>/1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/>
              <a:t>/</a:t>
            </a:r>
            <a:r>
              <a:rPr lang="fr-FR" sz="2400" b="1" dirty="0" err="1"/>
              <a:t>users</a:t>
            </a:r>
            <a:r>
              <a:rPr lang="fr-FR" sz="2400" b="1" dirty="0"/>
              <a:t>/2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/>
              <a:t>/</a:t>
            </a:r>
            <a:r>
              <a:rPr lang="fr-FR" sz="2400" b="1" dirty="0" err="1"/>
              <a:t>users</a:t>
            </a:r>
            <a:r>
              <a:rPr lang="fr-FR" sz="2400" b="1" dirty="0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10824392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Étape </a:t>
            </a:r>
            <a:r>
              <a:rPr lang="fr-FR" sz="3600" dirty="0" smtClean="0"/>
              <a:t>1 </a:t>
            </a:r>
            <a:r>
              <a:rPr lang="fr-FR" sz="3600" dirty="0"/>
              <a:t>– Création du composant cible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Créer le composant qui affichera les détails d’un utilisateur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200000"/>
              </a:lnSpc>
            </a:pPr>
            <a:r>
              <a:rPr lang="fr-FR" sz="3600" b="1" dirty="0" err="1"/>
              <a:t>ng</a:t>
            </a:r>
            <a:r>
              <a:rPr lang="fr-FR" sz="3600" b="1" dirty="0"/>
              <a:t> g c </a:t>
            </a:r>
            <a:r>
              <a:rPr lang="fr-FR" sz="3600" b="1" dirty="0" smtClean="0"/>
              <a:t>pages/user-</a:t>
            </a:r>
            <a:r>
              <a:rPr lang="fr-FR" sz="3600" b="1" dirty="0" err="1" smtClean="0"/>
              <a:t>details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51335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79089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Étape </a:t>
            </a:r>
            <a:r>
              <a:rPr lang="fr-FR" sz="3200" dirty="0" smtClean="0"/>
              <a:t>2 </a:t>
            </a:r>
            <a:r>
              <a:rPr lang="fr-FR" sz="3200" dirty="0"/>
              <a:t>– Définir une route paramétrée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4400" y="1263721"/>
            <a:ext cx="10058400" cy="4559157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Définir une route contenant un paramètre id</a:t>
            </a:r>
            <a:r>
              <a:rPr lang="fr-FR" sz="28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800" b="1" dirty="0" err="1" smtClean="0"/>
              <a:t>app.routes.ts</a:t>
            </a:r>
            <a:endParaRPr lang="fr-FR" sz="2800" b="1" dirty="0" smtClean="0"/>
          </a:p>
          <a:p>
            <a:pPr>
              <a:lnSpc>
                <a:spcPct val="200000"/>
              </a:lnSpc>
            </a:pPr>
            <a:endParaRPr lang="fr-FR" sz="2800" dirty="0"/>
          </a:p>
          <a:p>
            <a:pPr>
              <a:lnSpc>
                <a:spcPct val="200000"/>
              </a:lnSpc>
            </a:pPr>
            <a:r>
              <a:rPr lang="fr-FR" sz="2800" b="1" dirty="0">
                <a:solidFill>
                  <a:srgbClr val="FF0000"/>
                </a:solidFill>
              </a:rPr>
              <a:t>:id </a:t>
            </a:r>
            <a:r>
              <a:rPr lang="fr-FR" sz="2800" dirty="0"/>
              <a:t>représente une valeur </a:t>
            </a:r>
            <a:r>
              <a:rPr lang="fr-FR" sz="2800" dirty="0" smtClean="0"/>
              <a:t>dynamique</a:t>
            </a:r>
          </a:p>
          <a:p>
            <a:pPr>
              <a:lnSpc>
                <a:spcPct val="200000"/>
              </a:lnSpc>
            </a:pPr>
            <a:r>
              <a:rPr lang="fr-FR" sz="2800" dirty="0"/>
              <a:t>Chaque URL correspond à un utilisateur différent</a:t>
            </a:r>
            <a:endParaRPr lang="fr-FR" sz="2800" dirty="0" smtClean="0"/>
          </a:p>
          <a:p>
            <a:pPr>
              <a:lnSpc>
                <a:spcPct val="200000"/>
              </a:lnSpc>
            </a:pPr>
            <a:endParaRPr lang="fr-FR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08178" y="2358863"/>
            <a:ext cx="7164622" cy="13912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8934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 smtClean="0"/>
              <a:t>Etape 3: Tester </a:t>
            </a:r>
            <a:r>
              <a:rPr lang="fr-FR" sz="4400" dirty="0"/>
              <a:t>l’URL paramétrée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Lancer l’application </a:t>
            </a:r>
            <a:r>
              <a:rPr lang="fr-FR" sz="2800" dirty="0" smtClean="0"/>
              <a:t>: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Dans le navigateur, saisir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400" b="1" dirty="0">
                <a:hlinkClick r:id="rId2"/>
              </a:rPr>
              <a:t>http://</a:t>
            </a:r>
            <a:r>
              <a:rPr lang="fr-FR" sz="2400" b="1" dirty="0" smtClean="0">
                <a:hlinkClick r:id="rId2"/>
              </a:rPr>
              <a:t>localhost:4200/users/5</a:t>
            </a:r>
            <a:endParaRPr lang="fr-FR" sz="2400" b="1" dirty="0" smtClean="0"/>
          </a:p>
          <a:p>
            <a:pPr algn="just">
              <a:lnSpc>
                <a:spcPct val="200000"/>
              </a:lnSpc>
            </a:pPr>
            <a:r>
              <a:rPr lang="fr-FR" sz="2800" dirty="0"/>
              <a:t>Le composant s’affiche (même s’il est vide pour l’instant)</a:t>
            </a:r>
          </a:p>
        </p:txBody>
      </p:sp>
    </p:spTree>
    <p:extLst>
      <p:ext uri="{BB962C8B-B14F-4D97-AF65-F5344CB8AC3E}">
        <p14:creationId xmlns:p14="http://schemas.microsoft.com/office/powerpoint/2010/main" val="10117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48326"/>
            <a:ext cx="10058400" cy="91265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Étape </a:t>
            </a:r>
            <a:r>
              <a:rPr lang="fr-FR" sz="2800" dirty="0" smtClean="0"/>
              <a:t>4 </a:t>
            </a:r>
            <a:r>
              <a:rPr lang="fr-FR" sz="2800" dirty="0"/>
              <a:t>– Récupérer le paramètre (</a:t>
            </a:r>
            <a:r>
              <a:rPr lang="fr-FR" sz="2800" dirty="0" err="1">
                <a:solidFill>
                  <a:srgbClr val="FF0000"/>
                </a:solidFill>
              </a:rPr>
              <a:t>ActivatedRoute</a:t>
            </a:r>
            <a:r>
              <a:rPr lang="fr-FR" sz="2800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81668"/>
            <a:ext cx="10058400" cy="405079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Afficher l’ID utilisateur provenant de l’URL</a:t>
            </a:r>
            <a:r>
              <a:rPr lang="fr-FR" sz="28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800" b="1" dirty="0" smtClean="0"/>
              <a:t>user-</a:t>
            </a:r>
            <a:r>
              <a:rPr lang="fr-FR" sz="2800" b="1" dirty="0" err="1" smtClean="0"/>
              <a:t>details.component.ts</a:t>
            </a:r>
            <a:endParaRPr lang="fr-FR" sz="2800" b="1" dirty="0" smtClean="0"/>
          </a:p>
          <a:p>
            <a:pPr>
              <a:lnSpc>
                <a:spcPct val="200000"/>
              </a:lnSpc>
            </a:pPr>
            <a:r>
              <a:rPr lang="fr-FR" sz="2800" dirty="0"/>
              <a:t>Résultat </a:t>
            </a:r>
            <a:r>
              <a:rPr lang="fr-FR" sz="2800" dirty="0" smtClean="0"/>
              <a:t>attendu :</a:t>
            </a:r>
            <a:endParaRPr lang="fr-FR" sz="28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33005" y="2268579"/>
            <a:ext cx="5234290" cy="38959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768" y="4453447"/>
            <a:ext cx="3287730" cy="8171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051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Étape </a:t>
            </a:r>
            <a:r>
              <a:rPr lang="fr-FR" sz="4400" dirty="0" smtClean="0"/>
              <a:t>5 </a:t>
            </a:r>
            <a:r>
              <a:rPr lang="fr-FR" sz="4400" dirty="0"/>
              <a:t>– Comprendre </a:t>
            </a:r>
            <a:r>
              <a:rPr lang="fr-FR" sz="4400" dirty="0" err="1"/>
              <a:t>snapshot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snapshot</a:t>
            </a:r>
            <a:r>
              <a:rPr lang="fr-FR" sz="2400" dirty="0"/>
              <a:t> lit le paramètre une seule </a:t>
            </a:r>
            <a:r>
              <a:rPr lang="fr-FR" sz="2400" dirty="0" smtClean="0"/>
              <a:t>fois</a:t>
            </a:r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Si </a:t>
            </a:r>
            <a:r>
              <a:rPr lang="fr-FR" sz="2400" b="1" dirty="0"/>
              <a:t>l’URL</a:t>
            </a:r>
            <a:r>
              <a:rPr lang="fr-FR" sz="2400" dirty="0"/>
              <a:t> change sans recréer le composant → la valeur ne change pas</a:t>
            </a:r>
          </a:p>
        </p:txBody>
      </p:sp>
    </p:spTree>
    <p:extLst>
      <p:ext uri="{BB962C8B-B14F-4D97-AF65-F5344CB8AC3E}">
        <p14:creationId xmlns:p14="http://schemas.microsoft.com/office/powerpoint/2010/main" val="38257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77040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Étape </a:t>
            </a:r>
            <a:r>
              <a:rPr lang="fr-FR" sz="3200" dirty="0" smtClean="0"/>
              <a:t>6 </a:t>
            </a:r>
            <a:r>
              <a:rPr lang="fr-FR" sz="3200" dirty="0"/>
              <a:t>– Réagir au changement de paramètre (bonne pratique)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Modifier le code pour écouter les changements</a:t>
            </a:r>
            <a:r>
              <a:rPr lang="fr-FR" dirty="0" smtClean="0"/>
              <a:t>.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r>
              <a:rPr lang="fr-FR" dirty="0"/>
              <a:t>Recommandé dans les applications réelles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78894" y="1769519"/>
            <a:ext cx="4674741" cy="1641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6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Tableau récapitulatif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47" y="2280863"/>
            <a:ext cx="9851581" cy="35034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992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Cas d’usage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3721" y="2093976"/>
            <a:ext cx="9596063" cy="39575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835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Point important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Même avec </a:t>
            </a:r>
            <a:r>
              <a:rPr lang="fr-FR" sz="3200" b="1" dirty="0" err="1"/>
              <a:t>subscribe</a:t>
            </a:r>
            <a:r>
              <a:rPr lang="fr-FR" sz="3200" b="1" dirty="0"/>
              <a:t>()</a:t>
            </a:r>
            <a:r>
              <a:rPr lang="fr-FR" sz="3200" dirty="0"/>
              <a:t> </a:t>
            </a:r>
            <a:r>
              <a:rPr lang="fr-FR" sz="32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3200" b="1" dirty="0" err="1"/>
              <a:t>Angular</a:t>
            </a:r>
            <a:r>
              <a:rPr lang="fr-FR" sz="3200" dirty="0"/>
              <a:t> gère automatiquement la destruction du </a:t>
            </a:r>
            <a:r>
              <a:rPr lang="fr-FR" sz="3200" dirty="0" smtClean="0"/>
              <a:t>composant</a:t>
            </a:r>
          </a:p>
          <a:p>
            <a:pPr lvl="1" algn="just">
              <a:lnSpc>
                <a:spcPct val="200000"/>
              </a:lnSpc>
            </a:pPr>
            <a:r>
              <a:rPr lang="fr-FR" sz="3000" dirty="0"/>
              <a:t>Pas besoin de </a:t>
            </a:r>
            <a:r>
              <a:rPr lang="fr-FR" sz="3000" b="1" dirty="0" err="1"/>
              <a:t>unsubscribe</a:t>
            </a:r>
            <a:r>
              <a:rPr lang="fr-FR" sz="3000" dirty="0"/>
              <a:t>() pour </a:t>
            </a:r>
            <a:r>
              <a:rPr lang="fr-FR" sz="3000" b="1" dirty="0" err="1"/>
              <a:t>ActivatedRoute.paramMap</a:t>
            </a:r>
            <a:endParaRPr lang="fr-FR" sz="3000" b="1" dirty="0" smtClean="0"/>
          </a:p>
          <a:p>
            <a:pPr algn="just">
              <a:lnSpc>
                <a:spcPct val="200000"/>
              </a:lnSpc>
            </a:pPr>
            <a:r>
              <a:rPr lang="fr-FR" sz="3200" dirty="0" smtClean="0"/>
              <a:t>Le </a:t>
            </a:r>
            <a:r>
              <a:rPr lang="fr-FR" sz="3200" dirty="0"/>
              <a:t>choix dépend du cycle de vie du composant, pas de la route.</a:t>
            </a:r>
          </a:p>
        </p:txBody>
      </p:sp>
    </p:spTree>
    <p:extLst>
      <p:ext uri="{BB962C8B-B14F-4D97-AF65-F5344CB8AC3E}">
        <p14:creationId xmlns:p14="http://schemas.microsoft.com/office/powerpoint/2010/main" val="317839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32215"/>
            <a:ext cx="10058400" cy="707170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Étape </a:t>
            </a:r>
            <a:r>
              <a:rPr lang="fr-FR" sz="3600" dirty="0" smtClean="0"/>
              <a:t>7 </a:t>
            </a:r>
            <a:r>
              <a:rPr lang="fr-FR" sz="3600" dirty="0"/>
              <a:t>– Navigation avec </a:t>
            </a:r>
            <a:r>
              <a:rPr lang="fr-FR" sz="3600" dirty="0" err="1">
                <a:solidFill>
                  <a:srgbClr val="FF0000"/>
                </a:solidFill>
              </a:rPr>
              <a:t>routerLink</a:t>
            </a:r>
            <a:endParaRPr lang="fr-FR" sz="3600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84410"/>
            <a:ext cx="10058400" cy="4050792"/>
          </a:xfrm>
        </p:spPr>
        <p:txBody>
          <a:bodyPr>
            <a:normAutofit/>
          </a:bodyPr>
          <a:lstStyle/>
          <a:p>
            <a:r>
              <a:rPr lang="fr-FR" sz="2800" dirty="0" smtClean="0"/>
              <a:t>app.component.html</a:t>
            </a:r>
          </a:p>
          <a:p>
            <a:endParaRPr lang="fr-FR" sz="2800" dirty="0"/>
          </a:p>
          <a:p>
            <a:endParaRPr lang="fr-FR" sz="2800" dirty="0" smtClean="0"/>
          </a:p>
          <a:p>
            <a:endParaRPr lang="fr-FR" sz="2800" dirty="0"/>
          </a:p>
          <a:p>
            <a:endParaRPr lang="fr-FR" sz="2800" dirty="0" smtClean="0"/>
          </a:p>
          <a:p>
            <a:r>
              <a:rPr lang="fr-FR" sz="2800" b="1" dirty="0" err="1"/>
              <a:t>routerLink</a:t>
            </a:r>
            <a:r>
              <a:rPr lang="fr-FR" sz="2800" dirty="0"/>
              <a:t> permet une navigation </a:t>
            </a:r>
            <a:r>
              <a:rPr lang="fr-FR" sz="2800" dirty="0" smtClean="0"/>
              <a:t>SPA</a:t>
            </a:r>
          </a:p>
          <a:p>
            <a:r>
              <a:rPr lang="fr-FR" sz="2800" dirty="0" smtClean="0"/>
              <a:t>Le </a:t>
            </a:r>
            <a:r>
              <a:rPr lang="fr-FR" sz="2800" dirty="0"/>
              <a:t>paramètre est transmis via l’URL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67901" y="1162675"/>
            <a:ext cx="6143947" cy="27826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994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38052"/>
            <a:ext cx="10058400" cy="779089"/>
          </a:xfrm>
        </p:spPr>
        <p:txBody>
          <a:bodyPr/>
          <a:lstStyle/>
          <a:p>
            <a:pPr algn="ctr"/>
            <a:r>
              <a:rPr lang="fr-FR" dirty="0"/>
              <a:t>Étape </a:t>
            </a:r>
            <a:r>
              <a:rPr lang="fr-FR" dirty="0" smtClean="0"/>
              <a:t>8 </a:t>
            </a:r>
            <a:r>
              <a:rPr lang="fr-FR" dirty="0"/>
              <a:t>– Version dynamique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1685" y="1479479"/>
            <a:ext cx="7417942" cy="45925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927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09971"/>
            <a:ext cx="10058400" cy="65579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Routes enfants (</a:t>
            </a:r>
            <a:r>
              <a:rPr lang="fr-FR" dirty="0" err="1"/>
              <a:t>Nested</a:t>
            </a:r>
            <a:r>
              <a:rPr lang="fr-FR" dirty="0"/>
              <a:t> routes)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535781"/>
            <a:ext cx="10058400" cy="40507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Cas d’utilisation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27767" y="2837824"/>
            <a:ext cx="5342561" cy="22684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45950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Configuration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18526" y="2093976"/>
            <a:ext cx="8753581" cy="37725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7325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17504"/>
            <a:ext cx="10058400" cy="52223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RouterOutlet</a:t>
            </a:r>
            <a:r>
              <a:rPr lang="fr-FR" dirty="0"/>
              <a:t> imbriqué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17834"/>
            <a:ext cx="10058400" cy="4754366"/>
          </a:xfrm>
        </p:spPr>
        <p:txBody>
          <a:bodyPr>
            <a:normAutofit/>
          </a:bodyPr>
          <a:lstStyle/>
          <a:p>
            <a:r>
              <a:rPr lang="fr-FR" sz="2800" dirty="0"/>
              <a:t>Dans </a:t>
            </a:r>
            <a:r>
              <a:rPr lang="fr-FR" sz="2800" b="1" dirty="0"/>
              <a:t>admin.component.html</a:t>
            </a:r>
            <a:r>
              <a:rPr lang="fr-FR" sz="2800" dirty="0"/>
              <a:t> </a:t>
            </a:r>
            <a:r>
              <a:rPr lang="fr-FR" sz="2800" dirty="0" smtClean="0"/>
              <a:t>:</a:t>
            </a:r>
          </a:p>
          <a:p>
            <a:endParaRPr lang="fr-FR" sz="2800" dirty="0"/>
          </a:p>
          <a:p>
            <a:endParaRPr lang="fr-FR" sz="2800" dirty="0" smtClean="0"/>
          </a:p>
          <a:p>
            <a:endParaRPr lang="fr-FR" sz="2800" dirty="0"/>
          </a:p>
          <a:p>
            <a:endParaRPr lang="fr-FR" sz="2800" dirty="0" smtClean="0"/>
          </a:p>
          <a:p>
            <a:r>
              <a:rPr lang="fr-FR" sz="2800" b="1" dirty="0" smtClean="0"/>
              <a:t>Illustration :</a:t>
            </a:r>
            <a:endParaRPr lang="fr-FR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34291" y="906877"/>
            <a:ext cx="4413862" cy="17849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17942" y="3611019"/>
            <a:ext cx="3914454" cy="18342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1397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Redirections et routes spéciales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fr-FR" sz="3200" dirty="0"/>
              <a:t>Route par </a:t>
            </a:r>
            <a:r>
              <a:rPr lang="fr-FR" sz="3200" dirty="0" smtClean="0"/>
              <a:t>défaut</a:t>
            </a:r>
          </a:p>
          <a:p>
            <a:pPr>
              <a:lnSpc>
                <a:spcPct val="150000"/>
              </a:lnSpc>
            </a:pPr>
            <a:endParaRPr lang="fr-FR" sz="3200" dirty="0"/>
          </a:p>
          <a:p>
            <a:pPr>
              <a:lnSpc>
                <a:spcPct val="150000"/>
              </a:lnSpc>
            </a:pPr>
            <a:r>
              <a:rPr lang="fr-FR" sz="3200" dirty="0"/>
              <a:t>Page </a:t>
            </a:r>
            <a:r>
              <a:rPr lang="fr-FR" sz="3200" dirty="0" smtClean="0"/>
              <a:t>404</a:t>
            </a:r>
          </a:p>
          <a:p>
            <a:pPr>
              <a:lnSpc>
                <a:spcPct val="150000"/>
              </a:lnSpc>
            </a:pPr>
            <a:endParaRPr lang="fr-FR" sz="3200" dirty="0"/>
          </a:p>
          <a:p>
            <a:pPr>
              <a:lnSpc>
                <a:spcPct val="150000"/>
              </a:lnSpc>
            </a:pPr>
            <a:r>
              <a:rPr lang="fr-FR" sz="3200" dirty="0"/>
              <a:t>Toujours </a:t>
            </a:r>
            <a:r>
              <a:rPr lang="fr-FR" sz="3200" b="1" dirty="0"/>
              <a:t>à la fin</a:t>
            </a:r>
            <a:r>
              <a:rPr lang="fr-FR" sz="3200" dirty="0"/>
              <a:t> du tableau des routes.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2551" y="2226201"/>
            <a:ext cx="5717103" cy="7224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2552" y="3965819"/>
            <a:ext cx="5717102" cy="6883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80867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Exemple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800" dirty="0" smtClean="0"/>
              <a:t>Créer le composant </a:t>
            </a:r>
            <a:r>
              <a:rPr lang="fr-FR" sz="2800" b="1" dirty="0" smtClean="0"/>
              <a:t>page/not-</a:t>
            </a:r>
            <a:r>
              <a:rPr lang="fr-FR" sz="2800" b="1" dirty="0" err="1" smtClean="0"/>
              <a:t>found</a:t>
            </a:r>
            <a:endParaRPr lang="fr-FR" sz="2800" b="1" dirty="0" smtClean="0"/>
          </a:p>
          <a:p>
            <a:pPr>
              <a:lnSpc>
                <a:spcPct val="200000"/>
              </a:lnSpc>
            </a:pPr>
            <a:r>
              <a:rPr lang="fr-FR" sz="2800" dirty="0" smtClean="0"/>
              <a:t>Customiser </a:t>
            </a:r>
            <a:r>
              <a:rPr lang="fr-FR" sz="2800" b="1" dirty="0" err="1" smtClean="0"/>
              <a:t>routes.ts</a:t>
            </a:r>
            <a:endParaRPr lang="fr-FR" sz="2800" b="1" dirty="0" smtClean="0"/>
          </a:p>
          <a:p>
            <a:pPr>
              <a:lnSpc>
                <a:spcPct val="200000"/>
              </a:lnSpc>
            </a:pPr>
            <a:r>
              <a:rPr lang="fr-FR" sz="2800" dirty="0" smtClean="0"/>
              <a:t>Customiser </a:t>
            </a:r>
            <a:r>
              <a:rPr lang="fr-FR" sz="2800" b="1" dirty="0" smtClean="0"/>
              <a:t>not-found.html</a:t>
            </a:r>
          </a:p>
          <a:p>
            <a:pPr>
              <a:lnSpc>
                <a:spcPct val="200000"/>
              </a:lnSpc>
            </a:pPr>
            <a:r>
              <a:rPr lang="fr-FR" sz="2800" dirty="0" smtClean="0"/>
              <a:t>Tester un </a:t>
            </a:r>
            <a:r>
              <a:rPr lang="fr-FR" sz="2800" dirty="0" err="1" smtClean="0"/>
              <a:t>path</a:t>
            </a:r>
            <a:r>
              <a:rPr lang="fr-FR" sz="2800" dirty="0" smtClean="0"/>
              <a:t> </a:t>
            </a:r>
            <a:r>
              <a:rPr lang="fr-FR" sz="2800" b="1" dirty="0" err="1" smtClean="0"/>
              <a:t>inexiste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3745580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Customiser </a:t>
            </a:r>
            <a:r>
              <a:rPr lang="fr-FR" dirty="0" err="1" smtClean="0"/>
              <a:t>routes.ts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7883" y="2438216"/>
            <a:ext cx="7582329" cy="9933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44789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Customiser </a:t>
            </a:r>
            <a:r>
              <a:rPr lang="fr-FR" dirty="0" smtClean="0"/>
              <a:t>not-found.html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6058" y="2093975"/>
            <a:ext cx="8763857" cy="34540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57614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Tester un </a:t>
            </a:r>
            <a:r>
              <a:rPr lang="fr-FR" dirty="0" err="1"/>
              <a:t>path</a:t>
            </a:r>
            <a:r>
              <a:rPr lang="fr-FR" dirty="0"/>
              <a:t> </a:t>
            </a:r>
            <a:r>
              <a:rPr lang="fr-FR" dirty="0" err="1" smtClean="0"/>
              <a:t>inexiste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4000" b="1" dirty="0"/>
              <a:t>http://localhost:4200/test</a:t>
            </a:r>
          </a:p>
        </p:txBody>
      </p:sp>
    </p:spTree>
    <p:extLst>
      <p:ext uri="{BB962C8B-B14F-4D97-AF65-F5344CB8AC3E}">
        <p14:creationId xmlns:p14="http://schemas.microsoft.com/office/powerpoint/2010/main" val="31139210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400" dirty="0" err="1"/>
              <a:t>Guards</a:t>
            </a:r>
            <a:r>
              <a:rPr lang="fr-FR" sz="4400" dirty="0"/>
              <a:t> – Sécurisation des routes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9067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Pourquoi utiliser un </a:t>
            </a:r>
            <a:r>
              <a:rPr lang="fr-FR" dirty="0" err="1">
                <a:solidFill>
                  <a:srgbClr val="FF0000"/>
                </a:solidFill>
              </a:rPr>
              <a:t>Guard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3600" dirty="0"/>
              <a:t>Protéger une </a:t>
            </a:r>
            <a:r>
              <a:rPr lang="fr-FR" sz="3600" dirty="0" smtClean="0"/>
              <a:t>page</a:t>
            </a:r>
          </a:p>
          <a:p>
            <a:pPr>
              <a:lnSpc>
                <a:spcPct val="200000"/>
              </a:lnSpc>
            </a:pPr>
            <a:r>
              <a:rPr lang="fr-FR" sz="3600" dirty="0" smtClean="0"/>
              <a:t>Vérifier authentification</a:t>
            </a:r>
          </a:p>
          <a:p>
            <a:pPr>
              <a:lnSpc>
                <a:spcPct val="200000"/>
              </a:lnSpc>
            </a:pPr>
            <a:r>
              <a:rPr lang="fr-FR" sz="3600" dirty="0" smtClean="0"/>
              <a:t>Gérer </a:t>
            </a:r>
            <a:r>
              <a:rPr lang="fr-FR" sz="3600" dirty="0"/>
              <a:t>les rôles</a:t>
            </a:r>
          </a:p>
        </p:txBody>
      </p:sp>
    </p:spTree>
    <p:extLst>
      <p:ext uri="{BB962C8B-B14F-4D97-AF65-F5344CB8AC3E}">
        <p14:creationId xmlns:p14="http://schemas.microsoft.com/office/powerpoint/2010/main" val="2177374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Création d’un </a:t>
            </a:r>
            <a:r>
              <a:rPr lang="fr-FR" dirty="0" err="1"/>
              <a:t>Guard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4400" b="1" dirty="0" err="1">
                <a:solidFill>
                  <a:srgbClr val="FF0000"/>
                </a:solidFill>
              </a:rPr>
              <a:t>ng</a:t>
            </a:r>
            <a:r>
              <a:rPr lang="fr-FR" sz="4400" b="1" dirty="0">
                <a:solidFill>
                  <a:srgbClr val="FF0000"/>
                </a:solidFill>
              </a:rPr>
              <a:t> </a:t>
            </a:r>
            <a:r>
              <a:rPr lang="fr-FR" sz="4400" b="1" dirty="0" err="1">
                <a:solidFill>
                  <a:srgbClr val="FF0000"/>
                </a:solidFill>
              </a:rPr>
              <a:t>generate</a:t>
            </a:r>
            <a:r>
              <a:rPr lang="fr-FR" sz="4400" b="1" dirty="0">
                <a:solidFill>
                  <a:srgbClr val="FF0000"/>
                </a:solidFill>
              </a:rPr>
              <a:t> </a:t>
            </a:r>
            <a:r>
              <a:rPr lang="fr-FR" sz="4400" b="1" dirty="0" err="1">
                <a:solidFill>
                  <a:srgbClr val="FF0000"/>
                </a:solidFill>
              </a:rPr>
              <a:t>guard</a:t>
            </a:r>
            <a:r>
              <a:rPr lang="fr-FR" sz="4400" b="1" dirty="0">
                <a:solidFill>
                  <a:srgbClr val="FF0000"/>
                </a:solidFill>
              </a:rPr>
              <a:t> </a:t>
            </a:r>
            <a:r>
              <a:rPr lang="fr-FR" sz="4400" b="1" dirty="0" err="1">
                <a:solidFill>
                  <a:srgbClr val="FF0000"/>
                </a:solidFill>
              </a:rPr>
              <a:t>auth</a:t>
            </a:r>
            <a:endParaRPr lang="fr-FR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535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968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Exemple </a:t>
            </a:r>
            <a:r>
              <a:rPr lang="fr-FR" dirty="0" err="1"/>
              <a:t>CanActivate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0980" y="1778167"/>
            <a:ext cx="10048126" cy="40267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30668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Utilisation du </a:t>
            </a:r>
            <a:r>
              <a:rPr lang="fr-FR" dirty="0" err="1"/>
              <a:t>Guard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4623370"/>
            <a:ext cx="10058400" cy="1548829"/>
          </a:xfrm>
        </p:spPr>
        <p:txBody>
          <a:bodyPr>
            <a:normAutofit/>
          </a:bodyPr>
          <a:lstStyle/>
          <a:p>
            <a:r>
              <a:rPr lang="fr-FR" sz="3600" dirty="0"/>
              <a:t>Si </a:t>
            </a:r>
            <a:r>
              <a:rPr lang="fr-FR" sz="3600" b="1" dirty="0"/>
              <a:t>false</a:t>
            </a:r>
            <a:r>
              <a:rPr lang="fr-FR" sz="3600" dirty="0"/>
              <a:t> → accès refusé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98697" y="1976139"/>
            <a:ext cx="4890499" cy="22568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24920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Atelier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78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800" dirty="0" err="1"/>
              <a:t>Lazy</a:t>
            </a:r>
            <a:r>
              <a:rPr lang="fr-FR" sz="4800" dirty="0"/>
              <a:t> </a:t>
            </a:r>
            <a:r>
              <a:rPr lang="fr-FR" sz="4800" dirty="0" err="1"/>
              <a:t>Loading</a:t>
            </a:r>
            <a:r>
              <a:rPr lang="fr-FR" sz="4800" dirty="0"/>
              <a:t> (Optimisation)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9209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Pourquoi le </a:t>
            </a:r>
            <a:r>
              <a:rPr lang="fr-FR" dirty="0" err="1"/>
              <a:t>Lazy</a:t>
            </a:r>
            <a:r>
              <a:rPr lang="fr-FR" dirty="0"/>
              <a:t> </a:t>
            </a:r>
            <a:r>
              <a:rPr lang="fr-FR" dirty="0" err="1"/>
              <a:t>Loading</a:t>
            </a:r>
            <a:r>
              <a:rPr lang="fr-FR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3200" dirty="0"/>
              <a:t>Charger les modules à la </a:t>
            </a:r>
            <a:r>
              <a:rPr lang="fr-FR" sz="3200" dirty="0" smtClean="0"/>
              <a:t>demande</a:t>
            </a:r>
          </a:p>
          <a:p>
            <a:pPr algn="just">
              <a:lnSpc>
                <a:spcPct val="150000"/>
              </a:lnSpc>
            </a:pPr>
            <a:r>
              <a:rPr lang="fr-FR" sz="3200" dirty="0" smtClean="0"/>
              <a:t>Accélérer </a:t>
            </a:r>
            <a:r>
              <a:rPr lang="fr-FR" sz="3200" dirty="0"/>
              <a:t>le </a:t>
            </a:r>
            <a:r>
              <a:rPr lang="fr-FR" sz="3200" dirty="0" smtClean="0"/>
              <a:t>démarrage</a:t>
            </a:r>
          </a:p>
          <a:p>
            <a:pPr algn="just">
              <a:lnSpc>
                <a:spcPct val="150000"/>
              </a:lnSpc>
            </a:pPr>
            <a:r>
              <a:rPr lang="fr-FR" sz="3200" dirty="0" smtClean="0"/>
              <a:t>Idéal </a:t>
            </a:r>
            <a:r>
              <a:rPr lang="fr-FR" sz="3200" dirty="0"/>
              <a:t>pour admin / </a:t>
            </a:r>
            <a:r>
              <a:rPr lang="fr-FR" sz="3200" dirty="0" err="1"/>
              <a:t>dashboard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6877069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Création d’un module </a:t>
            </a:r>
            <a:r>
              <a:rPr lang="fr-FR" dirty="0" err="1"/>
              <a:t>lazy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36998" y="2121408"/>
            <a:ext cx="11013896" cy="405079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ng generate module admin --route admin --module </a:t>
            </a:r>
            <a:r>
              <a:rPr lang="en-US" sz="2800" b="1" dirty="0" err="1">
                <a:solidFill>
                  <a:srgbClr val="FF0000"/>
                </a:solidFill>
              </a:rPr>
              <a:t>app.module</a:t>
            </a:r>
            <a:endParaRPr lang="fr-F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8810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40734"/>
          </a:xfrm>
        </p:spPr>
        <p:txBody>
          <a:bodyPr/>
          <a:lstStyle/>
          <a:p>
            <a:pPr algn="ctr"/>
            <a:r>
              <a:rPr lang="fr-FR" dirty="0"/>
              <a:t>Configuration manuelle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4376790"/>
            <a:ext cx="10058400" cy="1795409"/>
          </a:xfrm>
        </p:spPr>
        <p:txBody>
          <a:bodyPr>
            <a:normAutofit/>
          </a:bodyPr>
          <a:lstStyle/>
          <a:p>
            <a:r>
              <a:rPr lang="fr-FR" sz="2800" dirty="0"/>
              <a:t>Le module </a:t>
            </a:r>
            <a:r>
              <a:rPr lang="fr-FR" sz="2800" b="1" dirty="0"/>
              <a:t>n’est chargé que quand on accède à /admin</a:t>
            </a: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3474" y="1428108"/>
            <a:ext cx="6729573" cy="25068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52479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Bonnes pratiques </a:t>
            </a:r>
            <a:r>
              <a:rPr lang="fr-FR" dirty="0" err="1"/>
              <a:t>Angular</a:t>
            </a:r>
            <a:r>
              <a:rPr lang="fr-FR" dirty="0"/>
              <a:t> 21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Toujours utiliser </a:t>
            </a:r>
            <a:r>
              <a:rPr lang="fr-FR" sz="2800" b="1" dirty="0" err="1"/>
              <a:t>Lazy</a:t>
            </a:r>
            <a:r>
              <a:rPr lang="fr-FR" sz="2800" b="1" dirty="0"/>
              <a:t> </a:t>
            </a:r>
            <a:r>
              <a:rPr lang="fr-FR" sz="2800" b="1" dirty="0" err="1" smtClean="0"/>
              <a:t>Loading</a:t>
            </a:r>
            <a:endParaRPr lang="fr-FR" sz="2800" b="1" dirty="0" smtClean="0"/>
          </a:p>
          <a:p>
            <a:pPr algn="just">
              <a:lnSpc>
                <a:spcPct val="150000"/>
              </a:lnSpc>
            </a:pPr>
            <a:r>
              <a:rPr lang="fr-FR" sz="2800" dirty="0" smtClean="0"/>
              <a:t>Un </a:t>
            </a:r>
            <a:r>
              <a:rPr lang="fr-FR" sz="2800" dirty="0"/>
              <a:t>module = un </a:t>
            </a:r>
            <a:r>
              <a:rPr lang="fr-FR" sz="2800" dirty="0" smtClean="0"/>
              <a:t>routage</a:t>
            </a:r>
          </a:p>
          <a:p>
            <a:pPr algn="just">
              <a:lnSpc>
                <a:spcPct val="150000"/>
              </a:lnSpc>
            </a:pPr>
            <a:r>
              <a:rPr lang="fr-FR" sz="2800" dirty="0" smtClean="0"/>
              <a:t>Éviter </a:t>
            </a:r>
            <a:r>
              <a:rPr lang="fr-FR" sz="2800" dirty="0"/>
              <a:t>la logique dans les </a:t>
            </a:r>
            <a:r>
              <a:rPr lang="fr-FR" sz="2800" b="1" dirty="0" err="1" smtClean="0"/>
              <a:t>Guards</a:t>
            </a:r>
            <a:endParaRPr lang="fr-FR" sz="2800" b="1" dirty="0" smtClean="0"/>
          </a:p>
          <a:p>
            <a:pPr algn="just">
              <a:lnSpc>
                <a:spcPct val="150000"/>
              </a:lnSpc>
            </a:pPr>
            <a:r>
              <a:rPr lang="fr-FR" sz="2800" dirty="0" smtClean="0"/>
              <a:t>Utiliser </a:t>
            </a:r>
            <a:r>
              <a:rPr lang="fr-FR" sz="2800" b="1" dirty="0" err="1"/>
              <a:t>ActivatedRoute</a:t>
            </a:r>
            <a:r>
              <a:rPr lang="fr-FR" sz="2800" dirty="0"/>
              <a:t> de façon </a:t>
            </a:r>
            <a:r>
              <a:rPr lang="fr-FR" sz="2800" dirty="0" smtClean="0"/>
              <a:t>réactive</a:t>
            </a:r>
          </a:p>
          <a:p>
            <a:pPr algn="just">
              <a:lnSpc>
                <a:spcPct val="150000"/>
              </a:lnSpc>
            </a:pPr>
            <a:r>
              <a:rPr lang="fr-FR" sz="2800" dirty="0" smtClean="0"/>
              <a:t>Centraliser </a:t>
            </a:r>
            <a:r>
              <a:rPr lang="fr-FR" sz="2800" dirty="0"/>
              <a:t>les routes sensibles</a:t>
            </a:r>
          </a:p>
        </p:txBody>
      </p:sp>
    </p:spTree>
    <p:extLst>
      <p:ext uri="{BB962C8B-B14F-4D97-AF65-F5344CB8AC3E}">
        <p14:creationId xmlns:p14="http://schemas.microsoft.com/office/powerpoint/2010/main" val="26723740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Atelier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74751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800" dirty="0"/>
              <a:t>Bonnes pratiques </a:t>
            </a:r>
            <a:r>
              <a:rPr lang="fr-FR" sz="4800" dirty="0" err="1"/>
              <a:t>Angular</a:t>
            </a:r>
            <a:r>
              <a:rPr lang="fr-FR" sz="4800" dirty="0"/>
              <a:t> 21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/>
              <a:t>Partie 2 de la mise à niveau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9980385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Toujours utiliser des services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/>
              <a:t>Mauvais :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31840" y="3154166"/>
            <a:ext cx="4767208" cy="10068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Bon :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64224" y="2815119"/>
            <a:ext cx="4844882" cy="24667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1331840" y="4532362"/>
            <a:ext cx="409942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Pourquoi </a:t>
            </a:r>
            <a:r>
              <a:rPr lang="fr-FR" sz="2000" dirty="0" smtClean="0"/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Séparation des </a:t>
            </a:r>
            <a:r>
              <a:rPr lang="fr-FR" sz="2000" dirty="0" smtClean="0"/>
              <a:t>responsabilités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smtClean="0"/>
              <a:t>Réutilisabilité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smtClean="0"/>
              <a:t>Testabilité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703390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Typer les réponses HTTP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 smtClean="0"/>
              <a:t>Mauvais </a:t>
            </a:r>
            <a:endParaRPr lang="fr-FR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6800" y="3657601"/>
            <a:ext cx="4542890" cy="986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 smtClean="0"/>
              <a:t>Bon 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64224" y="3657601"/>
            <a:ext cx="4754880" cy="986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99621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069848" y="73665"/>
            <a:ext cx="10058400" cy="1015395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Centraliser la gestion des erreurs (</a:t>
            </a:r>
            <a:r>
              <a:rPr lang="fr-FR" sz="2800" dirty="0" err="1"/>
              <a:t>Interceptor</a:t>
            </a:r>
            <a:r>
              <a:rPr lang="fr-FR" sz="2800" dirty="0"/>
              <a:t>)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96571" y="1800157"/>
            <a:ext cx="8804953" cy="37581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03525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Utiliser des </a:t>
            </a:r>
            <a:r>
              <a:rPr lang="fr-FR" sz="3600" dirty="0" err="1"/>
              <a:t>Interceptors</a:t>
            </a:r>
            <a:r>
              <a:rPr lang="fr-FR" sz="3600" dirty="0"/>
              <a:t> (</a:t>
            </a:r>
            <a:r>
              <a:rPr lang="fr-FR" sz="3600" dirty="0" err="1"/>
              <a:t>auth</a:t>
            </a:r>
            <a:r>
              <a:rPr lang="fr-FR" sz="3600" dirty="0"/>
              <a:t>, headers)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1672" y="2208944"/>
            <a:ext cx="8917968" cy="32877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68800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99638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Éviter les </a:t>
            </a:r>
            <a:r>
              <a:rPr lang="fr-FR" sz="4000" dirty="0" err="1"/>
              <a:t>subscribe</a:t>
            </a:r>
            <a:r>
              <a:rPr lang="fr-FR" sz="4000" dirty="0"/>
              <a:t> dans les services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 smtClean="0"/>
              <a:t>Mauvais</a:t>
            </a:r>
            <a:endParaRPr lang="fr-FR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76737" y="3698698"/>
            <a:ext cx="4119937" cy="890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Espace réservé du texte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 smtClean="0"/>
              <a:t>Bon</a:t>
            </a:r>
            <a:endParaRPr lang="fr-FR" dirty="0"/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002761" y="3786410"/>
            <a:ext cx="3459896" cy="7776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2823831" y="5138925"/>
            <a:ext cx="70807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/>
              <a:t>Le </a:t>
            </a:r>
            <a:r>
              <a:rPr lang="fr-FR" sz="2800" b="1" dirty="0" err="1">
                <a:solidFill>
                  <a:srgbClr val="FF0000"/>
                </a:solidFill>
              </a:rPr>
              <a:t>subscribe</a:t>
            </a:r>
            <a:r>
              <a:rPr lang="fr-FR" sz="2800" b="1" dirty="0"/>
              <a:t> doit être dans le composant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9152598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800" dirty="0" err="1"/>
              <a:t>RxJS</a:t>
            </a:r>
            <a:r>
              <a:rPr lang="fr-FR" sz="6000" dirty="0"/>
              <a:t> – Bonnes pratiques</a:t>
            </a:r>
          </a:p>
        </p:txBody>
      </p:sp>
      <p:sp>
        <p:nvSpPr>
          <p:cNvPr id="8" name="Sous-titr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9627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Penser “flux de données”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Observable = </a:t>
            </a:r>
            <a:r>
              <a:rPr lang="fr-FR" sz="3200" b="1" dirty="0" smtClean="0"/>
              <a:t>flux</a:t>
            </a:r>
          </a:p>
          <a:p>
            <a:r>
              <a:rPr lang="fr-FR" sz="3200" dirty="0" smtClean="0"/>
              <a:t>Ne </a:t>
            </a:r>
            <a:r>
              <a:rPr lang="fr-FR" sz="3200" dirty="0"/>
              <a:t>pas forcer la valeur avec </a:t>
            </a:r>
            <a:r>
              <a:rPr lang="fr-FR" sz="3200" b="1" dirty="0"/>
              <a:t>.</a:t>
            </a:r>
            <a:r>
              <a:rPr lang="fr-FR" sz="3200" b="1" dirty="0" err="1"/>
              <a:t>subscribe</a:t>
            </a:r>
            <a:r>
              <a:rPr lang="fr-FR" sz="3200" b="1" dirty="0"/>
              <a:t>() </a:t>
            </a:r>
            <a:r>
              <a:rPr lang="fr-FR" sz="3200" dirty="0"/>
              <a:t>partout</a:t>
            </a:r>
          </a:p>
        </p:txBody>
      </p:sp>
    </p:spTree>
    <p:extLst>
      <p:ext uri="{BB962C8B-B14F-4D97-AF65-F5344CB8AC3E}">
        <p14:creationId xmlns:p14="http://schemas.microsoft.com/office/powerpoint/2010/main" val="81210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Utiliser </a:t>
            </a:r>
            <a:r>
              <a:rPr lang="fr-FR" sz="3600" dirty="0" err="1"/>
              <a:t>async</a:t>
            </a:r>
            <a:r>
              <a:rPr lang="fr-FR" sz="3600" dirty="0"/>
              <a:t> pipe (OBLIGATOIRE)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 smtClean="0"/>
              <a:t>Mauvais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6218" y="3849186"/>
            <a:ext cx="5182042" cy="7233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 smtClean="0"/>
              <a:t>Bon</a:t>
            </a:r>
            <a:endParaRPr lang="fr-FR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39943" y="3113598"/>
            <a:ext cx="5052534" cy="18338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1505542" y="5004455"/>
            <a:ext cx="35250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Avantages </a:t>
            </a:r>
            <a:r>
              <a:rPr lang="fr-FR" sz="24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Auto </a:t>
            </a:r>
            <a:r>
              <a:rPr lang="fr-FR" sz="2400" b="1" dirty="0" err="1" smtClean="0"/>
              <a:t>unsubscribe</a:t>
            </a:r>
            <a:endParaRPr lang="fr-FR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smtClean="0"/>
              <a:t>Code </a:t>
            </a:r>
            <a:r>
              <a:rPr lang="fr-FR" sz="2400" dirty="0"/>
              <a:t>propre</a:t>
            </a:r>
          </a:p>
        </p:txBody>
      </p:sp>
    </p:spTree>
    <p:extLst>
      <p:ext uri="{BB962C8B-B14F-4D97-AF65-F5344CB8AC3E}">
        <p14:creationId xmlns:p14="http://schemas.microsoft.com/office/powerpoint/2010/main" val="168872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Utiliser les bons opérateurs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39074" y="2093976"/>
            <a:ext cx="8733034" cy="39472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49084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Éviter les </a:t>
            </a:r>
            <a:r>
              <a:rPr lang="fr-FR" dirty="0" err="1"/>
              <a:t>subscribe</a:t>
            </a:r>
            <a:r>
              <a:rPr lang="fr-FR" dirty="0"/>
              <a:t> imbriqués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 smtClean="0"/>
              <a:t>Mauvais	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66800" y="3020602"/>
            <a:ext cx="4133146" cy="1759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 smtClean="0"/>
              <a:t>Bon</a:t>
            </a:r>
            <a:endParaRPr lang="fr-FR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22302" y="2976088"/>
            <a:ext cx="4200534" cy="18165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19812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Toujours gérer l’</a:t>
            </a:r>
            <a:r>
              <a:rPr lang="fr-FR" dirty="0" err="1"/>
              <a:t>unsubscribe</a:t>
            </a:r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Solutions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 err="1"/>
              <a:t>async</a:t>
            </a:r>
            <a:r>
              <a:rPr lang="fr-FR" sz="2400" dirty="0"/>
              <a:t> </a:t>
            </a:r>
            <a:r>
              <a:rPr lang="fr-FR" sz="2400" b="1" dirty="0"/>
              <a:t>pipe</a:t>
            </a:r>
            <a:r>
              <a:rPr lang="fr-FR" sz="2400" dirty="0"/>
              <a:t> (meilleur</a:t>
            </a:r>
            <a:r>
              <a:rPr lang="fr-FR" sz="24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 err="1" smtClean="0"/>
              <a:t>takeUntilDestroyed</a:t>
            </a:r>
            <a:r>
              <a:rPr lang="fr-FR" sz="2400" dirty="0"/>
              <a:t>() (</a:t>
            </a:r>
            <a:r>
              <a:rPr lang="fr-FR" sz="2400" dirty="0" err="1"/>
              <a:t>Angular</a:t>
            </a:r>
            <a:r>
              <a:rPr lang="fr-FR" sz="2400" dirty="0"/>
              <a:t> </a:t>
            </a:r>
            <a:r>
              <a:rPr lang="fr-FR" sz="2400" b="1" dirty="0"/>
              <a:t>16+</a:t>
            </a:r>
            <a:r>
              <a:rPr lang="fr-FR" sz="2400" dirty="0"/>
              <a:t>)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49375" y="4242776"/>
            <a:ext cx="5743253" cy="21580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79829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400" dirty="0"/>
              <a:t>Formulaires – Bonnes pratiques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968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Toujours préférer </a:t>
            </a:r>
            <a:r>
              <a:rPr lang="fr-FR" sz="4000" dirty="0" err="1"/>
              <a:t>Reactive</a:t>
            </a:r>
            <a:r>
              <a:rPr lang="fr-FR" sz="4000" dirty="0"/>
              <a:t> </a:t>
            </a:r>
            <a:r>
              <a:rPr lang="fr-FR" sz="4000" dirty="0" err="1"/>
              <a:t>Forms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Eviter T</a:t>
            </a:r>
            <a:r>
              <a:rPr lang="fr-FR" sz="3200" b="1" dirty="0"/>
              <a:t>emplate-</a:t>
            </a:r>
            <a:r>
              <a:rPr lang="fr-FR" sz="3200" b="1" dirty="0" err="1"/>
              <a:t>driven</a:t>
            </a:r>
            <a:r>
              <a:rPr lang="fr-FR" sz="3200" dirty="0"/>
              <a:t> (en </a:t>
            </a:r>
            <a:r>
              <a:rPr lang="fr-FR" sz="3200" dirty="0" err="1"/>
              <a:t>prod</a:t>
            </a:r>
            <a:r>
              <a:rPr lang="fr-FR" sz="32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3200" b="1" dirty="0" err="1"/>
              <a:t>Reactive</a:t>
            </a:r>
            <a:r>
              <a:rPr lang="fr-FR" sz="3200" b="1" dirty="0"/>
              <a:t> </a:t>
            </a:r>
            <a:r>
              <a:rPr lang="fr-FR" sz="3200" b="1" dirty="0" err="1" smtClean="0"/>
              <a:t>Forms</a:t>
            </a:r>
            <a:r>
              <a:rPr lang="fr-FR" sz="3200" b="1" dirty="0" smtClean="0"/>
              <a:t> </a:t>
            </a:r>
            <a:r>
              <a:rPr lang="fr-FR" sz="3200" dirty="0" smtClean="0"/>
              <a:t>recommandés 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8317832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Utiliser </a:t>
            </a:r>
            <a:r>
              <a:rPr lang="fr-FR" dirty="0" err="1"/>
              <a:t>FormBuilder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88396" y="2527443"/>
            <a:ext cx="8270696" cy="21652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2796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Validation claire et centralisée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4027470"/>
            <a:ext cx="10058400" cy="2144730"/>
          </a:xfrm>
        </p:spPr>
        <p:txBody>
          <a:bodyPr>
            <a:normAutofit/>
          </a:bodyPr>
          <a:lstStyle/>
          <a:p>
            <a:r>
              <a:rPr lang="pt-BR" sz="3200" dirty="0"/>
              <a:t>Angular 21 → syntaxe </a:t>
            </a:r>
            <a:r>
              <a:rPr lang="pt-BR" sz="3200" b="1" dirty="0"/>
              <a:t>@if, @for</a:t>
            </a:r>
            <a:endParaRPr lang="fr-FR" sz="3200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8944" y="1838444"/>
            <a:ext cx="7870003" cy="18705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3471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58601"/>
            <a:ext cx="10058400" cy="1025669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Ne jamais accéder au DOM directement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17975"/>
            <a:ext cx="10058400" cy="4050792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600" b="1" dirty="0" err="1"/>
              <a:t>document.getElementById</a:t>
            </a:r>
            <a:r>
              <a:rPr lang="fr-FR" sz="3600" b="1" dirty="0" smtClean="0"/>
              <a:t>(...) </a:t>
            </a:r>
            <a:r>
              <a:rPr lang="fr-FR" sz="3600" dirty="0" smtClean="0"/>
              <a:t>: à éviter</a:t>
            </a:r>
          </a:p>
          <a:p>
            <a:pPr algn="just">
              <a:lnSpc>
                <a:spcPct val="200000"/>
              </a:lnSpc>
            </a:pPr>
            <a:r>
              <a:rPr lang="fr-FR" sz="3600" b="1" dirty="0" err="1"/>
              <a:t>FormControl</a:t>
            </a:r>
            <a:r>
              <a:rPr lang="fr-FR" sz="3600" b="1" dirty="0"/>
              <a:t> / </a:t>
            </a:r>
            <a:r>
              <a:rPr lang="fr-FR" sz="3600" b="1" dirty="0" err="1" smtClean="0"/>
              <a:t>ValueChanges</a:t>
            </a:r>
            <a:r>
              <a:rPr lang="fr-FR" sz="3600" b="1" dirty="0" smtClean="0"/>
              <a:t> </a:t>
            </a:r>
            <a:r>
              <a:rPr lang="fr-FR" sz="3600" dirty="0" smtClean="0"/>
              <a:t>: </a:t>
            </a:r>
            <a:r>
              <a:rPr lang="fr-FR" sz="3600" dirty="0" err="1" smtClean="0"/>
              <a:t>Reommandés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2153783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Utiliser </a:t>
            </a:r>
            <a:r>
              <a:rPr lang="fr-FR" sz="4000" dirty="0" err="1"/>
              <a:t>valueChanges</a:t>
            </a:r>
            <a:r>
              <a:rPr lang="fr-FR" sz="4000" dirty="0"/>
              <a:t> avec </a:t>
            </a:r>
            <a:r>
              <a:rPr lang="fr-FR" sz="4000" dirty="0" err="1"/>
              <a:t>RxJS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75380" y="2291137"/>
            <a:ext cx="7428216" cy="29897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07732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Séparer Formulaire / Soumission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11685" y="2671281"/>
            <a:ext cx="7818633" cy="2609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95418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800" dirty="0"/>
              <a:t>Routage – Bonnes pratiques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04625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Toujours utiliser </a:t>
            </a:r>
            <a:r>
              <a:rPr lang="fr-FR" dirty="0" err="1"/>
              <a:t>Lazy</a:t>
            </a:r>
            <a:r>
              <a:rPr lang="fr-FR" dirty="0"/>
              <a:t> </a:t>
            </a:r>
            <a:r>
              <a:rPr lang="fr-FR" dirty="0" err="1"/>
              <a:t>Loading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4304872"/>
            <a:ext cx="10058400" cy="1867328"/>
          </a:xfrm>
        </p:spPr>
        <p:txBody>
          <a:bodyPr>
            <a:normAutofit/>
          </a:bodyPr>
          <a:lstStyle/>
          <a:p>
            <a:r>
              <a:rPr lang="fr-FR" sz="3200" dirty="0" err="1"/>
              <a:t>Angular</a:t>
            </a:r>
            <a:r>
              <a:rPr lang="fr-FR" sz="3200" dirty="0"/>
              <a:t> 21 → </a:t>
            </a:r>
            <a:r>
              <a:rPr lang="fr-FR" sz="3200" b="1" dirty="0" err="1"/>
              <a:t>standalone</a:t>
            </a:r>
            <a:r>
              <a:rPr lang="fr-FR" sz="3200" b="1" dirty="0"/>
              <a:t> routes</a:t>
            </a:r>
            <a:endParaRPr lang="fr-FR" sz="32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2091" y="1888859"/>
            <a:ext cx="8270696" cy="16659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1764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Utiliser </a:t>
            </a:r>
            <a:r>
              <a:rPr lang="fr-FR" dirty="0" err="1"/>
              <a:t>Guards</a:t>
            </a:r>
            <a:r>
              <a:rPr lang="fr-FR" dirty="0"/>
              <a:t> + </a:t>
            </a:r>
            <a:r>
              <a:rPr lang="fr-FR" dirty="0" err="1"/>
              <a:t>Resolvers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600" b="1" dirty="0" err="1"/>
              <a:t>Guard</a:t>
            </a:r>
            <a:r>
              <a:rPr lang="fr-FR" sz="3600" dirty="0"/>
              <a:t> → </a:t>
            </a:r>
            <a:r>
              <a:rPr lang="fr-FR" sz="3600" dirty="0" smtClean="0"/>
              <a:t>accès</a:t>
            </a:r>
          </a:p>
          <a:p>
            <a:pPr algn="just">
              <a:lnSpc>
                <a:spcPct val="200000"/>
              </a:lnSpc>
            </a:pPr>
            <a:r>
              <a:rPr lang="fr-FR" sz="3600" b="1" dirty="0" err="1" smtClean="0"/>
              <a:t>Resolver</a:t>
            </a:r>
            <a:r>
              <a:rPr lang="fr-FR" sz="3600" dirty="0" smtClean="0"/>
              <a:t> </a:t>
            </a:r>
            <a:r>
              <a:rPr lang="fr-FR" sz="3600" dirty="0"/>
              <a:t>→ données avant </a:t>
            </a:r>
            <a:r>
              <a:rPr lang="fr-FR" sz="3600" dirty="0" smtClean="0"/>
              <a:t>affichage</a:t>
            </a:r>
          </a:p>
          <a:p>
            <a:pPr lvl="1" algn="just">
              <a:lnSpc>
                <a:spcPct val="200000"/>
              </a:lnSpc>
            </a:pPr>
            <a:r>
              <a:rPr lang="fr-FR" sz="3400" b="1" dirty="0" err="1">
                <a:solidFill>
                  <a:srgbClr val="FF0000"/>
                </a:solidFill>
              </a:rPr>
              <a:t>resolve</a:t>
            </a:r>
            <a:r>
              <a:rPr lang="fr-FR" sz="3400" b="1" dirty="0">
                <a:solidFill>
                  <a:srgbClr val="FF0000"/>
                </a:solidFill>
              </a:rPr>
              <a:t>: { </a:t>
            </a:r>
            <a:r>
              <a:rPr lang="fr-FR" sz="3400" b="1" dirty="0" err="1">
                <a:solidFill>
                  <a:srgbClr val="FF0000"/>
                </a:solidFill>
              </a:rPr>
              <a:t>users</a:t>
            </a:r>
            <a:r>
              <a:rPr lang="fr-FR" sz="3400" b="1" dirty="0">
                <a:solidFill>
                  <a:srgbClr val="FF0000"/>
                </a:solidFill>
              </a:rPr>
              <a:t>: </a:t>
            </a:r>
            <a:r>
              <a:rPr lang="fr-FR" sz="3400" b="1" dirty="0" err="1">
                <a:solidFill>
                  <a:srgbClr val="FF0000"/>
                </a:solidFill>
              </a:rPr>
              <a:t>UsersResolver</a:t>
            </a:r>
            <a:r>
              <a:rPr lang="fr-FR" sz="3400" b="1" dirty="0">
                <a:solidFill>
                  <a:srgbClr val="FF0000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74574593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/>
              <a:t>Éviter la logique métier dans les composants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 smtClean="0"/>
              <a:t>Mauvais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44616" y="3524037"/>
            <a:ext cx="3655148" cy="12393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 smtClean="0"/>
              <a:t>Bon</a:t>
            </a:r>
            <a:endParaRPr lang="fr-FR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64224" y="3524037"/>
            <a:ext cx="5155333" cy="12393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716947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/>
              <a:t>Utiliser les paramètres de façon réactive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41794" y="2434975"/>
            <a:ext cx="6914508" cy="2260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354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Centraliser la gestion des routes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300000"/>
              </a:lnSpc>
            </a:pPr>
            <a:r>
              <a:rPr lang="fr-FR" sz="3600" b="1" dirty="0" err="1" smtClean="0"/>
              <a:t>app.routes.ts</a:t>
            </a:r>
            <a:endParaRPr lang="fr-FR" sz="3600" b="1" dirty="0" smtClean="0"/>
          </a:p>
          <a:p>
            <a:pPr algn="just">
              <a:lnSpc>
                <a:spcPct val="300000"/>
              </a:lnSpc>
            </a:pPr>
            <a:r>
              <a:rPr lang="fr-FR" sz="3600" dirty="0" smtClean="0"/>
              <a:t>Un </a:t>
            </a:r>
            <a:r>
              <a:rPr lang="fr-FR" sz="3600" dirty="0"/>
              <a:t>fichier par module</a:t>
            </a:r>
          </a:p>
        </p:txBody>
      </p:sp>
    </p:spTree>
    <p:extLst>
      <p:ext uri="{BB962C8B-B14F-4D97-AF65-F5344CB8AC3E}">
        <p14:creationId xmlns:p14="http://schemas.microsoft.com/office/powerpoint/2010/main" val="20381789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97588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Architecture recommandée </a:t>
            </a:r>
            <a:r>
              <a:rPr lang="fr-FR" sz="3600" dirty="0" err="1"/>
              <a:t>Angular</a:t>
            </a:r>
            <a:r>
              <a:rPr lang="fr-FR" sz="3600" dirty="0"/>
              <a:t> 21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1829" y="1726058"/>
            <a:ext cx="6739847" cy="465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709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Règle d’or </a:t>
            </a:r>
            <a:r>
              <a:rPr lang="fr-FR" dirty="0" err="1"/>
              <a:t>Angular</a:t>
            </a:r>
            <a:r>
              <a:rPr lang="fr-FR" dirty="0"/>
              <a:t> 21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3600" b="1" dirty="0"/>
              <a:t>Composants = </a:t>
            </a:r>
            <a:r>
              <a:rPr lang="fr-FR" sz="3600" b="1" dirty="0" smtClean="0"/>
              <a:t>affichage</a:t>
            </a:r>
          </a:p>
          <a:p>
            <a:pPr algn="just">
              <a:lnSpc>
                <a:spcPct val="150000"/>
              </a:lnSpc>
            </a:pPr>
            <a:r>
              <a:rPr lang="fr-FR" sz="3600" b="1" dirty="0" smtClean="0"/>
              <a:t>Services </a:t>
            </a:r>
            <a:r>
              <a:rPr lang="fr-FR" sz="3600" b="1" dirty="0"/>
              <a:t>= </a:t>
            </a:r>
            <a:r>
              <a:rPr lang="fr-FR" sz="3600" b="1" dirty="0" smtClean="0"/>
              <a:t>logique</a:t>
            </a:r>
          </a:p>
          <a:p>
            <a:pPr algn="just">
              <a:lnSpc>
                <a:spcPct val="150000"/>
              </a:lnSpc>
            </a:pPr>
            <a:r>
              <a:rPr lang="fr-FR" sz="3600" b="1" dirty="0" err="1" smtClean="0"/>
              <a:t>RxJS</a:t>
            </a:r>
            <a:r>
              <a:rPr lang="fr-FR" sz="3600" b="1" dirty="0" smtClean="0"/>
              <a:t> </a:t>
            </a:r>
            <a:r>
              <a:rPr lang="fr-FR" sz="3600" b="1" dirty="0"/>
              <a:t>= </a:t>
            </a:r>
            <a:r>
              <a:rPr lang="fr-FR" sz="3600" b="1" dirty="0" smtClean="0"/>
              <a:t>orchestration</a:t>
            </a:r>
          </a:p>
          <a:p>
            <a:pPr algn="just">
              <a:lnSpc>
                <a:spcPct val="150000"/>
              </a:lnSpc>
            </a:pPr>
            <a:r>
              <a:rPr lang="fr-FR" sz="3600" b="1" dirty="0" smtClean="0"/>
              <a:t>Router </a:t>
            </a:r>
            <a:r>
              <a:rPr lang="fr-FR" sz="3600" b="1" dirty="0"/>
              <a:t>= navigation &amp; sécurité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696620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623</TotalTime>
  <Words>985</Words>
  <Application>Microsoft Office PowerPoint</Application>
  <PresentationFormat>Grand écran</PresentationFormat>
  <Paragraphs>246</Paragraphs>
  <Slides>91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91</vt:i4>
      </vt:variant>
    </vt:vector>
  </HeadingPairs>
  <TitlesOfParts>
    <vt:vector size="96" baseType="lpstr">
      <vt:lpstr>Arial</vt:lpstr>
      <vt:lpstr>Georgia</vt:lpstr>
      <vt:lpstr>Trebuchet MS</vt:lpstr>
      <vt:lpstr>Wingdings</vt:lpstr>
      <vt:lpstr>Type de bois</vt:lpstr>
      <vt:lpstr>Le routage</vt:lpstr>
      <vt:lpstr>Le Routage</vt:lpstr>
      <vt:lpstr>SPA (Single Page Application)</vt:lpstr>
      <vt:lpstr>Composants principaux</vt:lpstr>
      <vt:lpstr>Processus</vt:lpstr>
      <vt:lpstr>Architecture Angular 14 et Antérieur</vt:lpstr>
      <vt:lpstr>Architecture Angular 21</vt:lpstr>
      <vt:lpstr>Module app-routing.module.ts </vt:lpstr>
      <vt:lpstr>Angular 21</vt:lpstr>
      <vt:lpstr>Structure générée (Angular 21)</vt:lpstr>
      <vt:lpstr>Définir les routes → app.routes.ts</vt:lpstr>
      <vt:lpstr>Installer  le Router (providers) → app.config.ts</vt:lpstr>
      <vt:lpstr>Bootstrap de l’application → main.ts</vt:lpstr>
      <vt:lpstr>Composant racine → app.component.ts</vt:lpstr>
      <vt:lpstr>HTML racine → app.component.html</vt:lpstr>
      <vt:lpstr>Illustration logique</vt:lpstr>
      <vt:lpstr>Navigation avec routerLink</vt:lpstr>
      <vt:lpstr>Navigation programmatique</vt:lpstr>
      <vt:lpstr>Résumé </vt:lpstr>
      <vt:lpstr>Atelier N° 1</vt:lpstr>
      <vt:lpstr>Mise à jour du fichier app.routes.ts</vt:lpstr>
      <vt:lpstr>Mise à jour des pages HTML</vt:lpstr>
      <vt:lpstr>Customiser la page app.html</vt:lpstr>
      <vt:lpstr>Test</vt:lpstr>
      <vt:lpstr>Navigation entre composant</vt:lpstr>
      <vt:lpstr>Customiser service.ts </vt:lpstr>
      <vt:lpstr>Customiser service.html</vt:lpstr>
      <vt:lpstr>Routage avec paramètres</vt:lpstr>
      <vt:lpstr>Définir une route paramétrée</vt:lpstr>
      <vt:lpstr>Récupérer le paramètre</vt:lpstr>
      <vt:lpstr>Version réactive (Angular recommandé)</vt:lpstr>
      <vt:lpstr>Cas réel</vt:lpstr>
      <vt:lpstr>Atelier N° 2</vt:lpstr>
      <vt:lpstr>Étape 1 – Création du composant cible</vt:lpstr>
      <vt:lpstr>Étape 2 – Définir une route paramétrée</vt:lpstr>
      <vt:lpstr>Etape 3: Tester l’URL paramétrée</vt:lpstr>
      <vt:lpstr>Étape 4 – Récupérer le paramètre (ActivatedRoute)</vt:lpstr>
      <vt:lpstr>Étape 5 – Comprendre snapshot</vt:lpstr>
      <vt:lpstr>Étape 6 – Réagir au changement de paramètre (bonne pratique)</vt:lpstr>
      <vt:lpstr>Tableau récapitulatif</vt:lpstr>
      <vt:lpstr>Cas d’usage</vt:lpstr>
      <vt:lpstr>Point important </vt:lpstr>
      <vt:lpstr>Étape 7 – Navigation avec routerLink</vt:lpstr>
      <vt:lpstr>Étape 8 – Version dynamique</vt:lpstr>
      <vt:lpstr>Routes enfants (Nested routes)</vt:lpstr>
      <vt:lpstr>Configuration</vt:lpstr>
      <vt:lpstr>RouterOutlet imbriqué</vt:lpstr>
      <vt:lpstr>Redirections et routes spéciales</vt:lpstr>
      <vt:lpstr>Exemple </vt:lpstr>
      <vt:lpstr>Customiser routes.ts</vt:lpstr>
      <vt:lpstr>Customiser not-found.html</vt:lpstr>
      <vt:lpstr>Tester un path inexiste</vt:lpstr>
      <vt:lpstr>Guards – Sécurisation des routes</vt:lpstr>
      <vt:lpstr>Pourquoi utiliser un Guard ?</vt:lpstr>
      <vt:lpstr>Création d’un Guard</vt:lpstr>
      <vt:lpstr>Exemple CanActivate</vt:lpstr>
      <vt:lpstr>Utilisation du Guard</vt:lpstr>
      <vt:lpstr>Atelier </vt:lpstr>
      <vt:lpstr>Lazy Loading (Optimisation)</vt:lpstr>
      <vt:lpstr>Pourquoi le Lazy Loading ?</vt:lpstr>
      <vt:lpstr>Création d’un module lazy</vt:lpstr>
      <vt:lpstr>Configuration manuelle</vt:lpstr>
      <vt:lpstr>Bonnes pratiques Angular 21</vt:lpstr>
      <vt:lpstr>Atelier </vt:lpstr>
      <vt:lpstr>Bonnes pratiques Angular 21</vt:lpstr>
      <vt:lpstr>Toujours utiliser des services</vt:lpstr>
      <vt:lpstr>Typer les réponses HTTP</vt:lpstr>
      <vt:lpstr>Centraliser la gestion des erreurs (Interceptor)</vt:lpstr>
      <vt:lpstr>Utiliser des Interceptors (auth, headers)</vt:lpstr>
      <vt:lpstr>Éviter les subscribe dans les services</vt:lpstr>
      <vt:lpstr>RxJS – Bonnes pratiques</vt:lpstr>
      <vt:lpstr>Penser “flux de données”</vt:lpstr>
      <vt:lpstr>Utiliser async pipe (OBLIGATOIRE)</vt:lpstr>
      <vt:lpstr>Utiliser les bons opérateurs</vt:lpstr>
      <vt:lpstr>Éviter les subscribe imbriqués</vt:lpstr>
      <vt:lpstr>Toujours gérer l’unsubscribe</vt:lpstr>
      <vt:lpstr>Formulaires – Bonnes pratiques</vt:lpstr>
      <vt:lpstr>Toujours préférer Reactive Forms</vt:lpstr>
      <vt:lpstr>Utiliser FormBuilder</vt:lpstr>
      <vt:lpstr>Validation claire et centralisée</vt:lpstr>
      <vt:lpstr>Ne jamais accéder au DOM directement</vt:lpstr>
      <vt:lpstr>Utiliser valueChanges avec RxJS</vt:lpstr>
      <vt:lpstr>Séparer Formulaire / Soumission</vt:lpstr>
      <vt:lpstr>Routage – Bonnes pratiques</vt:lpstr>
      <vt:lpstr>Toujours utiliser Lazy Loading</vt:lpstr>
      <vt:lpstr>Utiliser Guards + Resolvers</vt:lpstr>
      <vt:lpstr>Éviter la logique métier dans les composants</vt:lpstr>
      <vt:lpstr>Utiliser les paramètres de façon réactive</vt:lpstr>
      <vt:lpstr>Centraliser la gestion des routes</vt:lpstr>
      <vt:lpstr>Architecture recommandée Angular 21</vt:lpstr>
      <vt:lpstr>Règle d’or Angular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routage</dc:title>
  <dc:creator>admin</dc:creator>
  <cp:lastModifiedBy>admin</cp:lastModifiedBy>
  <cp:revision>110</cp:revision>
  <dcterms:created xsi:type="dcterms:W3CDTF">2026-01-19T22:46:35Z</dcterms:created>
  <dcterms:modified xsi:type="dcterms:W3CDTF">2026-01-20T09:09:40Z</dcterms:modified>
</cp:coreProperties>
</file>