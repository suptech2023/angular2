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322" r:id="rId25"/>
    <p:sldId id="323" r:id="rId26"/>
    <p:sldId id="324" r:id="rId27"/>
    <p:sldId id="325"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6" r:id="rId70"/>
    <p:sldId id="327" r:id="rId71"/>
    <p:sldId id="328" r:id="rId72"/>
    <p:sldId id="329"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fr-FR" smtClean="0"/>
              <a:t>Modifiez le style du titre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D91B805F-FF0F-4BAA-A3A3-E4F945D687F8}" type="datetimeFigureOut">
              <a:rPr lang="en-US" dirty="0"/>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2261F3A6-CC5D-4649-8527-DB0C21FDDFD9}" type="datetimeFigureOut">
              <a:rPr lang="en-US" dirty="0"/>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fr-FR" smtClean="0"/>
              <a:t>Modifiez le style du titre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5B6F927C-B73E-4F9D-ADFE-F6E23BD7CEE8}" type="datetimeFigureOut">
              <a:rPr lang="en-US" dirty="0"/>
              <a:t>1/15/2026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65B1FFFF-984A-4EE5-9BF2-EC9310C878F1}" type="datetimeFigureOut">
              <a:rPr lang="en-US" dirty="0"/>
              <a:t>1/15/2026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smtClean="0"/>
              <a:t>Modifiez le style du titre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703271C1-B42E-4A60-A25F-0185B888604B}" type="datetimeFigureOut">
              <a:rPr lang="en-US" dirty="0"/>
              <a:t>1/15/2026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80416292-3725-4763-8973-4C59F0403D99}" type="datetimeFigureOut">
              <a:rPr lang="en-US" dirty="0"/>
              <a:t>1/15/2026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6996D1-8909-469F-911A-4C12C68BF5D9}" type="datetimeFigureOut">
              <a:rPr lang="en-US" dirty="0"/>
              <a:t>1/15/2026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E16A73BC-5D11-4675-B334-102E1E8C9B50}" type="datetimeFigureOut">
              <a:rPr lang="en-US" dirty="0"/>
              <a:t>1/15/2026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27B8E45F-652B-4E89-8925-000B0AB8FD98}" type="datetimeFigureOut">
              <a:rPr lang="en-US" dirty="0"/>
              <a:t>1/15/2026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780B5C51-60B3-48EF-AA78-DB950F30DBA2}" type="datetimeFigureOut">
              <a:rPr lang="en-US" dirty="0"/>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C35D676B-6E73-4E3B-A9B3-4966DB9B52A5}" type="datetimeFigureOut">
              <a:rPr lang="en-US" dirty="0"/>
              <a:t>1/15/2026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C4A3462A-2D5B-48AF-A3D4-EF8A90A50A80}" type="datetimeFigureOut">
              <a:rPr lang="en-US" dirty="0"/>
              <a:t>1/15/2026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2.xml"/><Relationship Id="rId5" Type="http://schemas.microsoft.com/office/2007/relationships/hdphoto" Target="../media/hdphoto9.wdp"/><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pPr algn="ctr"/>
            <a:r>
              <a:rPr lang="fr-FR" sz="6600" dirty="0" smtClean="0"/>
              <a:t>Mise à niveau </a:t>
            </a:r>
            <a:r>
              <a:rPr lang="fr-FR" sz="6600" dirty="0" err="1" smtClean="0"/>
              <a:t>Angular</a:t>
            </a:r>
            <a:endParaRPr lang="fr-FR" sz="6600" dirty="0"/>
          </a:p>
        </p:txBody>
      </p:sp>
      <p:sp>
        <p:nvSpPr>
          <p:cNvPr id="3" name="Sous-titre 2"/>
          <p:cNvSpPr>
            <a:spLocks noGrp="1"/>
          </p:cNvSpPr>
          <p:nvPr>
            <p:ph type="subTitle" idx="1"/>
          </p:nvPr>
        </p:nvSpPr>
        <p:spPr>
          <a:xfrm>
            <a:off x="1069847" y="4389120"/>
            <a:ext cx="8146071" cy="1069848"/>
          </a:xfrm>
        </p:spPr>
        <p:txBody>
          <a:bodyPr anchor="ctr"/>
          <a:lstStyle/>
          <a:p>
            <a:r>
              <a:rPr lang="fr-FR" dirty="0"/>
              <a:t>PARTIE 2 – Gestion des données et intégration avec les API </a:t>
            </a:r>
          </a:p>
          <a:p>
            <a:endParaRPr lang="fr-FR" dirty="0"/>
          </a:p>
        </p:txBody>
      </p:sp>
    </p:spTree>
    <p:extLst>
      <p:ext uri="{BB962C8B-B14F-4D97-AF65-F5344CB8AC3E}">
        <p14:creationId xmlns:p14="http://schemas.microsoft.com/office/powerpoint/2010/main" val="987757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PLAN</a:t>
            </a:r>
            <a:endParaRPr lang="fr-FR" dirty="0"/>
          </a:p>
        </p:txBody>
      </p:sp>
      <p:sp>
        <p:nvSpPr>
          <p:cNvPr id="3" name="Espace réservé du contenu 2"/>
          <p:cNvSpPr>
            <a:spLocks noGrp="1"/>
          </p:cNvSpPr>
          <p:nvPr>
            <p:ph idx="1"/>
          </p:nvPr>
        </p:nvSpPr>
        <p:spPr/>
        <p:txBody>
          <a:bodyPr>
            <a:noAutofit/>
          </a:bodyPr>
          <a:lstStyle/>
          <a:p>
            <a:pPr algn="just">
              <a:lnSpc>
                <a:spcPct val="200000"/>
              </a:lnSpc>
            </a:pPr>
            <a:r>
              <a:rPr lang="fr-FR" sz="2400" dirty="0"/>
              <a:t>Communication </a:t>
            </a:r>
            <a:r>
              <a:rPr lang="fr-FR" sz="2400" dirty="0" smtClean="0"/>
              <a:t>HTTP</a:t>
            </a:r>
          </a:p>
          <a:p>
            <a:pPr algn="just">
              <a:lnSpc>
                <a:spcPct val="200000"/>
              </a:lnSpc>
            </a:pPr>
            <a:r>
              <a:rPr lang="fr-FR" sz="2400" dirty="0"/>
              <a:t>Programmation réactive avec </a:t>
            </a:r>
            <a:r>
              <a:rPr lang="fr-FR" sz="2400" dirty="0" err="1" smtClean="0"/>
              <a:t>RxJS</a:t>
            </a:r>
            <a:endParaRPr lang="fr-FR" sz="2400" dirty="0" smtClean="0"/>
          </a:p>
          <a:p>
            <a:pPr algn="just">
              <a:lnSpc>
                <a:spcPct val="200000"/>
              </a:lnSpc>
            </a:pPr>
            <a:r>
              <a:rPr lang="fr-FR" sz="2400" dirty="0"/>
              <a:t>Template-</a:t>
            </a:r>
            <a:r>
              <a:rPr lang="fr-FR" sz="2400" dirty="0" err="1"/>
              <a:t>driven</a:t>
            </a:r>
            <a:r>
              <a:rPr lang="fr-FR" sz="2400" dirty="0"/>
              <a:t> </a:t>
            </a:r>
            <a:r>
              <a:rPr lang="fr-FR" sz="2400" dirty="0" err="1"/>
              <a:t>Forms</a:t>
            </a:r>
            <a:r>
              <a:rPr lang="fr-FR" sz="2400" dirty="0"/>
              <a:t> </a:t>
            </a:r>
            <a:endParaRPr lang="fr-FR" sz="2400" dirty="0" smtClean="0"/>
          </a:p>
          <a:p>
            <a:pPr algn="just">
              <a:lnSpc>
                <a:spcPct val="200000"/>
              </a:lnSpc>
            </a:pPr>
            <a:r>
              <a:rPr lang="fr-FR" sz="2400" dirty="0" err="1" smtClean="0"/>
              <a:t>Reactive</a:t>
            </a:r>
            <a:r>
              <a:rPr lang="fr-FR" sz="2400" dirty="0" smtClean="0"/>
              <a:t> </a:t>
            </a:r>
            <a:r>
              <a:rPr lang="fr-FR" sz="2400" dirty="0" err="1" smtClean="0"/>
              <a:t>Forms</a:t>
            </a:r>
            <a:endParaRPr lang="fr-FR" sz="2400" dirty="0" smtClean="0"/>
          </a:p>
          <a:p>
            <a:pPr algn="just">
              <a:lnSpc>
                <a:spcPct val="200000"/>
              </a:lnSpc>
            </a:pPr>
            <a:r>
              <a:rPr lang="fr-FR" sz="2400" dirty="0" err="1"/>
              <a:t>Routing</a:t>
            </a:r>
            <a:r>
              <a:rPr lang="fr-FR" sz="2400" dirty="0"/>
              <a:t> &amp; navigation</a:t>
            </a:r>
            <a:endParaRPr lang="fr-FR" sz="2400" dirty="0"/>
          </a:p>
        </p:txBody>
      </p:sp>
    </p:spTree>
    <p:extLst>
      <p:ext uri="{BB962C8B-B14F-4D97-AF65-F5344CB8AC3E}">
        <p14:creationId xmlns:p14="http://schemas.microsoft.com/office/powerpoint/2010/main" val="3939125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Partie 9 : </a:t>
            </a:r>
            <a:r>
              <a:rPr lang="fr-FR" dirty="0" err="1" smtClean="0"/>
              <a:t>HttpClient</a:t>
            </a:r>
            <a:endParaRPr lang="fr-FR" dirty="0"/>
          </a:p>
        </p:txBody>
      </p:sp>
      <p:pic>
        <p:nvPicPr>
          <p:cNvPr id="7" name="Image 6"/>
          <p:cNvPicPr>
            <a:picLocks noChangeAspect="1"/>
          </p:cNvPicPr>
          <p:nvPr/>
        </p:nvPicPr>
        <p:blipFill>
          <a:blip r:embed="rId2"/>
          <a:stretch>
            <a:fillRect/>
          </a:stretch>
        </p:blipFill>
        <p:spPr>
          <a:xfrm>
            <a:off x="1850313" y="4468031"/>
            <a:ext cx="7246390" cy="2137721"/>
          </a:xfrm>
          <a:prstGeom prst="rect">
            <a:avLst/>
          </a:prstGeom>
        </p:spPr>
      </p:pic>
    </p:spTree>
    <p:extLst>
      <p:ext uri="{BB962C8B-B14F-4D97-AF65-F5344CB8AC3E}">
        <p14:creationId xmlns:p14="http://schemas.microsoft.com/office/powerpoint/2010/main" val="38883418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Concepts</a:t>
            </a:r>
            <a:endParaRPr lang="fr-FR" dirty="0"/>
          </a:p>
        </p:txBody>
      </p:sp>
      <p:sp>
        <p:nvSpPr>
          <p:cNvPr id="3" name="Espace réservé du contenu 2"/>
          <p:cNvSpPr>
            <a:spLocks noGrp="1"/>
          </p:cNvSpPr>
          <p:nvPr>
            <p:ph idx="1"/>
          </p:nvPr>
        </p:nvSpPr>
        <p:spPr/>
        <p:txBody>
          <a:bodyPr>
            <a:noAutofit/>
          </a:bodyPr>
          <a:lstStyle/>
          <a:p>
            <a:pPr marL="0" indent="0">
              <a:lnSpc>
                <a:spcPct val="200000"/>
              </a:lnSpc>
              <a:buNone/>
            </a:pPr>
            <a:r>
              <a:rPr lang="fr-FR" dirty="0"/>
              <a:t>•	Introduction à </a:t>
            </a:r>
            <a:r>
              <a:rPr lang="fr-FR" b="1" dirty="0" err="1"/>
              <a:t>HttpClient</a:t>
            </a:r>
            <a:endParaRPr lang="fr-FR" b="1" dirty="0"/>
          </a:p>
          <a:p>
            <a:pPr marL="0" indent="0">
              <a:lnSpc>
                <a:spcPct val="200000"/>
              </a:lnSpc>
              <a:buNone/>
            </a:pPr>
            <a:r>
              <a:rPr lang="fr-FR" dirty="0"/>
              <a:t>•	Appels </a:t>
            </a:r>
            <a:r>
              <a:rPr lang="fr-FR" b="1" dirty="0"/>
              <a:t>GET</a:t>
            </a:r>
            <a:r>
              <a:rPr lang="fr-FR" dirty="0"/>
              <a:t>, </a:t>
            </a:r>
            <a:r>
              <a:rPr lang="fr-FR" b="1" dirty="0"/>
              <a:t>POST</a:t>
            </a:r>
            <a:r>
              <a:rPr lang="fr-FR" dirty="0"/>
              <a:t>, </a:t>
            </a:r>
            <a:r>
              <a:rPr lang="fr-FR" b="1" dirty="0"/>
              <a:t>PUT</a:t>
            </a:r>
            <a:r>
              <a:rPr lang="fr-FR" dirty="0"/>
              <a:t>, </a:t>
            </a:r>
            <a:r>
              <a:rPr lang="fr-FR" b="1" dirty="0"/>
              <a:t>DELETE</a:t>
            </a:r>
          </a:p>
          <a:p>
            <a:pPr marL="0" indent="0">
              <a:lnSpc>
                <a:spcPct val="200000"/>
              </a:lnSpc>
              <a:buNone/>
            </a:pPr>
            <a:r>
              <a:rPr lang="fr-FR" dirty="0"/>
              <a:t>•	Gestion des erreurs et </a:t>
            </a:r>
            <a:r>
              <a:rPr lang="fr-FR" b="1" dirty="0" err="1"/>
              <a:t>HttpInterceptor</a:t>
            </a:r>
            <a:endParaRPr lang="fr-FR" b="1" dirty="0"/>
          </a:p>
          <a:p>
            <a:pPr marL="0" indent="0">
              <a:lnSpc>
                <a:spcPct val="200000"/>
              </a:lnSpc>
              <a:buNone/>
            </a:pPr>
            <a:r>
              <a:rPr lang="fr-FR" dirty="0"/>
              <a:t>•	Atelier : consommer une API publique (ex. </a:t>
            </a:r>
            <a:r>
              <a:rPr lang="fr-FR" b="1" dirty="0" err="1"/>
              <a:t>JSONPlaceholder</a:t>
            </a:r>
            <a:r>
              <a:rPr lang="fr-FR" dirty="0"/>
              <a:t>)</a:t>
            </a:r>
          </a:p>
          <a:p>
            <a:pPr marL="0" indent="0">
              <a:lnSpc>
                <a:spcPct val="200000"/>
              </a:lnSpc>
              <a:buNone/>
            </a:pPr>
            <a:endParaRPr lang="fr-FR" dirty="0"/>
          </a:p>
        </p:txBody>
      </p:sp>
    </p:spTree>
    <p:extLst>
      <p:ext uri="{BB962C8B-B14F-4D97-AF65-F5344CB8AC3E}">
        <p14:creationId xmlns:p14="http://schemas.microsoft.com/office/powerpoint/2010/main" val="310808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HTTPCLIENT</a:t>
            </a:r>
            <a:endParaRPr lang="fr-FR" dirty="0"/>
          </a:p>
        </p:txBody>
      </p:sp>
      <p:sp>
        <p:nvSpPr>
          <p:cNvPr id="3" name="Espace réservé du contenu 2"/>
          <p:cNvSpPr>
            <a:spLocks noGrp="1"/>
          </p:cNvSpPr>
          <p:nvPr>
            <p:ph idx="1"/>
          </p:nvPr>
        </p:nvSpPr>
        <p:spPr/>
        <p:txBody>
          <a:bodyPr>
            <a:normAutofit fontScale="92500"/>
          </a:bodyPr>
          <a:lstStyle/>
          <a:p>
            <a:pPr algn="just">
              <a:lnSpc>
                <a:spcPct val="200000"/>
              </a:lnSpc>
            </a:pPr>
            <a:r>
              <a:rPr lang="fr-FR" sz="2800" dirty="0"/>
              <a:t>Communiquer avec une API </a:t>
            </a:r>
            <a:r>
              <a:rPr lang="fr-FR" sz="2800" dirty="0" err="1"/>
              <a:t>RESTful</a:t>
            </a:r>
            <a:r>
              <a:rPr lang="fr-FR" sz="2800" dirty="0"/>
              <a:t> à l'aide du module </a:t>
            </a:r>
            <a:r>
              <a:rPr lang="fr-FR" sz="2800" dirty="0" err="1"/>
              <a:t>Angular's</a:t>
            </a:r>
            <a:r>
              <a:rPr lang="fr-FR" sz="2800" dirty="0"/>
              <a:t> </a:t>
            </a:r>
            <a:r>
              <a:rPr lang="fr-FR" sz="2800" dirty="0" err="1"/>
              <a:t>HttpClient</a:t>
            </a:r>
            <a:endParaRPr lang="fr-FR" sz="2800" dirty="0"/>
          </a:p>
          <a:p>
            <a:pPr algn="just">
              <a:lnSpc>
                <a:spcPct val="200000"/>
              </a:lnSpc>
            </a:pPr>
            <a:r>
              <a:rPr lang="fr-FR" sz="2800" dirty="0" smtClean="0"/>
              <a:t>Mise </a:t>
            </a:r>
            <a:r>
              <a:rPr lang="fr-FR" sz="2800" dirty="0"/>
              <a:t>en œuvre des requêtes GET, POST, PUT et DELETE</a:t>
            </a:r>
          </a:p>
          <a:p>
            <a:pPr algn="just">
              <a:lnSpc>
                <a:spcPct val="200000"/>
              </a:lnSpc>
            </a:pPr>
            <a:r>
              <a:rPr lang="fr-FR" sz="2800" dirty="0" smtClean="0"/>
              <a:t>Gestion </a:t>
            </a:r>
            <a:r>
              <a:rPr lang="fr-FR" sz="2800" dirty="0"/>
              <a:t>des erreurs et des événements de progression</a:t>
            </a:r>
          </a:p>
          <a:p>
            <a:pPr algn="just">
              <a:lnSpc>
                <a:spcPct val="200000"/>
              </a:lnSpc>
            </a:pPr>
            <a:endParaRPr lang="fr-FR" sz="2800" dirty="0"/>
          </a:p>
        </p:txBody>
      </p:sp>
    </p:spTree>
    <p:extLst>
      <p:ext uri="{BB962C8B-B14F-4D97-AF65-F5344CB8AC3E}">
        <p14:creationId xmlns:p14="http://schemas.microsoft.com/office/powerpoint/2010/main" val="26275026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57808" y="166325"/>
            <a:ext cx="8911687" cy="930166"/>
          </a:xfrm>
        </p:spPr>
        <p:txBody>
          <a:bodyPr>
            <a:normAutofit/>
          </a:bodyPr>
          <a:lstStyle/>
          <a:p>
            <a:pPr algn="ctr"/>
            <a:r>
              <a:rPr lang="fr-FR" sz="2400" b="1" dirty="0" err="1" smtClean="0"/>
              <a:t>RxJS</a:t>
            </a:r>
            <a:r>
              <a:rPr lang="fr-FR" sz="2400" b="1" dirty="0" smtClean="0"/>
              <a:t> </a:t>
            </a:r>
            <a:r>
              <a:rPr lang="fr-FR" sz="2400" b="1" dirty="0"/>
              <a:t>(</a:t>
            </a:r>
            <a:r>
              <a:rPr lang="fr-FR" sz="2400" b="1" dirty="0" err="1"/>
              <a:t>Reactive</a:t>
            </a:r>
            <a:r>
              <a:rPr lang="fr-FR" sz="2400" b="1" dirty="0"/>
              <a:t> extensions for </a:t>
            </a:r>
            <a:r>
              <a:rPr lang="fr-FR" sz="2800" b="1" dirty="0"/>
              <a:t>JavaScript</a:t>
            </a:r>
            <a:r>
              <a:rPr lang="fr-FR" sz="2400" b="1" dirty="0"/>
              <a:t>) </a:t>
            </a:r>
            <a:endParaRPr lang="fr-FR" sz="2400" dirty="0"/>
          </a:p>
        </p:txBody>
      </p:sp>
      <p:sp>
        <p:nvSpPr>
          <p:cNvPr id="3" name="Espace réservé du contenu 2"/>
          <p:cNvSpPr>
            <a:spLocks noGrp="1"/>
          </p:cNvSpPr>
          <p:nvPr>
            <p:ph idx="1"/>
          </p:nvPr>
        </p:nvSpPr>
        <p:spPr>
          <a:xfrm>
            <a:off x="898634" y="1096491"/>
            <a:ext cx="10605978" cy="4036381"/>
          </a:xfrm>
        </p:spPr>
        <p:txBody>
          <a:bodyPr>
            <a:normAutofit/>
          </a:bodyPr>
          <a:lstStyle/>
          <a:p>
            <a:pPr algn="just">
              <a:lnSpc>
                <a:spcPct val="200000"/>
              </a:lnSpc>
            </a:pPr>
            <a:r>
              <a:rPr lang="fr-FR" sz="2000" b="1" dirty="0" err="1"/>
              <a:t>RxJS</a:t>
            </a:r>
            <a:r>
              <a:rPr lang="fr-FR" sz="2000" dirty="0"/>
              <a:t> est une bibliothèque de programmation réactive utilisant des </a:t>
            </a:r>
            <a:r>
              <a:rPr lang="fr-FR" sz="2000" i="1" dirty="0"/>
              <a:t>Observables</a:t>
            </a:r>
            <a:r>
              <a:rPr lang="fr-FR" sz="2000" dirty="0"/>
              <a:t> pour faciliter la composition de code asynchrone</a:t>
            </a:r>
            <a:r>
              <a:rPr lang="fr-FR" sz="2000" dirty="0" smtClean="0"/>
              <a:t>.</a:t>
            </a:r>
          </a:p>
          <a:p>
            <a:pPr algn="just">
              <a:lnSpc>
                <a:spcPct val="200000"/>
              </a:lnSpc>
            </a:pPr>
            <a:r>
              <a:rPr lang="fr-FR" sz="2000" b="1" dirty="0" err="1"/>
              <a:t>ReactiveX</a:t>
            </a:r>
            <a:r>
              <a:rPr lang="fr-FR" sz="2000" dirty="0"/>
              <a:t> combine l’</a:t>
            </a:r>
            <a:r>
              <a:rPr lang="fr-FR" sz="2000" i="1" dirty="0"/>
              <a:t>Observer pattern</a:t>
            </a:r>
            <a:r>
              <a:rPr lang="fr-FR" sz="2000" dirty="0"/>
              <a:t> avec l’</a:t>
            </a:r>
            <a:r>
              <a:rPr lang="fr-FR" sz="2000" i="1" dirty="0"/>
              <a:t>Iterator pattern</a:t>
            </a:r>
            <a:r>
              <a:rPr lang="fr-FR" sz="2000" dirty="0"/>
              <a:t> et la </a:t>
            </a:r>
            <a:r>
              <a:rPr lang="fr-FR" sz="2000" i="1" dirty="0"/>
              <a:t>programmation fonctionnelle</a:t>
            </a:r>
            <a:r>
              <a:rPr lang="fr-FR" sz="2000" dirty="0"/>
              <a:t> avec des collections pour répondre au besoin de gérer les séquences d'événements.</a:t>
            </a:r>
          </a:p>
        </p:txBody>
      </p:sp>
      <p:pic>
        <p:nvPicPr>
          <p:cNvPr id="4" name="Image 3"/>
          <p:cNvPicPr>
            <a:picLocks noChangeAspect="1"/>
          </p:cNvPicPr>
          <p:nvPr/>
        </p:nvPicPr>
        <p:blipFill>
          <a:blip r:embed="rId2"/>
          <a:stretch>
            <a:fillRect/>
          </a:stretch>
        </p:blipFill>
        <p:spPr>
          <a:xfrm>
            <a:off x="3276855" y="3906713"/>
            <a:ext cx="5849536" cy="2452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708823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776609"/>
          </a:xfrm>
        </p:spPr>
        <p:txBody>
          <a:bodyPr>
            <a:normAutofit fontScale="90000"/>
          </a:bodyPr>
          <a:lstStyle/>
          <a:p>
            <a:pPr algn="ctr"/>
            <a:r>
              <a:rPr lang="fr-FR" b="1" dirty="0"/>
              <a:t>la programmation réactive</a:t>
            </a:r>
            <a:br>
              <a:rPr lang="fr-FR" b="1" dirty="0"/>
            </a:br>
            <a:endParaRPr lang="fr-FR" dirty="0"/>
          </a:p>
        </p:txBody>
      </p:sp>
      <p:sp>
        <p:nvSpPr>
          <p:cNvPr id="3" name="Espace réservé du contenu 2"/>
          <p:cNvSpPr>
            <a:spLocks noGrp="1"/>
          </p:cNvSpPr>
          <p:nvPr>
            <p:ph idx="1"/>
          </p:nvPr>
        </p:nvSpPr>
        <p:spPr>
          <a:xfrm>
            <a:off x="1069848" y="1261241"/>
            <a:ext cx="10058400" cy="4050792"/>
          </a:xfrm>
        </p:spPr>
        <p:txBody>
          <a:bodyPr>
            <a:noAutofit/>
          </a:bodyPr>
          <a:lstStyle/>
          <a:p>
            <a:pPr algn="just">
              <a:lnSpc>
                <a:spcPct val="200000"/>
              </a:lnSpc>
            </a:pPr>
            <a:r>
              <a:rPr lang="fr-FR" sz="2400" dirty="0"/>
              <a:t>La programmation réactive se base sur le concept d'observateur. </a:t>
            </a:r>
            <a:r>
              <a:rPr lang="fr-FR" sz="2400" dirty="0" smtClean="0"/>
              <a:t>Le </a:t>
            </a:r>
            <a:r>
              <a:rPr lang="fr-FR" sz="2400" dirty="0"/>
              <a:t>principe est tout simplement que l'on définit des observables et des observateurs. Les observables vont émettre des événements qui seront interceptés par les observateurs.</a:t>
            </a:r>
          </a:p>
          <a:p>
            <a:pPr algn="just">
              <a:lnSpc>
                <a:spcPct val="200000"/>
              </a:lnSpc>
            </a:pPr>
            <a:r>
              <a:rPr lang="fr-FR" sz="2400" dirty="0" smtClean="0"/>
              <a:t>La </a:t>
            </a:r>
            <a:r>
              <a:rPr lang="fr-FR" sz="2400" dirty="0"/>
              <a:t>programmation réactive va étendre ce concept en permettant de combiner les observables, modifier les événements à la volée, les filtrer, etc.</a:t>
            </a:r>
          </a:p>
        </p:txBody>
      </p:sp>
    </p:spTree>
    <p:extLst>
      <p:ext uri="{BB962C8B-B14F-4D97-AF65-F5344CB8AC3E}">
        <p14:creationId xmlns:p14="http://schemas.microsoft.com/office/powerpoint/2010/main" val="33076178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a:t>Obtenir et envoyer des données</a:t>
            </a:r>
            <a:br>
              <a:rPr lang="fr-FR" b="1" dirty="0"/>
            </a:br>
            <a:endParaRPr lang="fr-FR" b="1" dirty="0"/>
          </a:p>
        </p:txBody>
      </p:sp>
      <p:sp>
        <p:nvSpPr>
          <p:cNvPr id="3" name="Espace réservé du contenu 2"/>
          <p:cNvSpPr>
            <a:spLocks noGrp="1"/>
          </p:cNvSpPr>
          <p:nvPr>
            <p:ph idx="1"/>
          </p:nvPr>
        </p:nvSpPr>
        <p:spPr>
          <a:xfrm>
            <a:off x="959489" y="1648442"/>
            <a:ext cx="10058400" cy="4050792"/>
          </a:xfrm>
        </p:spPr>
        <p:txBody>
          <a:bodyPr>
            <a:noAutofit/>
          </a:bodyPr>
          <a:lstStyle/>
          <a:p>
            <a:pPr algn="just">
              <a:lnSpc>
                <a:spcPct val="200000"/>
              </a:lnSpc>
            </a:pPr>
            <a:r>
              <a:rPr lang="fr-FR" sz="2400" dirty="0"/>
              <a:t>Afin d’envoyer et de recevoir des données, </a:t>
            </a:r>
            <a:r>
              <a:rPr lang="fr-FR" sz="2400" b="1" dirty="0" err="1"/>
              <a:t>Angular</a:t>
            </a:r>
            <a:r>
              <a:rPr lang="fr-FR" sz="2400" dirty="0"/>
              <a:t> fournit un module </a:t>
            </a:r>
            <a:r>
              <a:rPr lang="fr-FR" sz="2400" b="1" dirty="0"/>
              <a:t>HTTP</a:t>
            </a:r>
            <a:r>
              <a:rPr lang="fr-FR" sz="2400" dirty="0"/>
              <a:t>. Le module </a:t>
            </a:r>
            <a:r>
              <a:rPr lang="fr-FR" sz="2400" b="1" dirty="0"/>
              <a:t>HTTP</a:t>
            </a:r>
            <a:r>
              <a:rPr lang="fr-FR" sz="2400" dirty="0"/>
              <a:t> expose plusieurs méthodes permettant d’envoyer et recevoir des données via des requêtes </a:t>
            </a:r>
            <a:r>
              <a:rPr lang="fr-FR" sz="2400" b="1" dirty="0"/>
              <a:t>HTTP</a:t>
            </a:r>
            <a:r>
              <a:rPr lang="fr-FR" sz="2400" dirty="0" smtClean="0"/>
              <a:t>.</a:t>
            </a:r>
          </a:p>
          <a:p>
            <a:pPr algn="just">
              <a:lnSpc>
                <a:spcPct val="200000"/>
              </a:lnSpc>
            </a:pPr>
            <a:r>
              <a:rPr lang="fr-FR" sz="2400" i="1" dirty="0"/>
              <a:t>Le module </a:t>
            </a:r>
            <a:r>
              <a:rPr lang="fr-FR" sz="2400" b="1" i="1" dirty="0" err="1"/>
              <a:t>HttpModule</a:t>
            </a:r>
            <a:r>
              <a:rPr lang="fr-FR" sz="2400" i="1" dirty="0"/>
              <a:t> enregistre une dépendance sur la classe </a:t>
            </a:r>
            <a:r>
              <a:rPr lang="fr-FR" sz="2400" b="1" i="1" dirty="0"/>
              <a:t>http</a:t>
            </a:r>
            <a:r>
              <a:rPr lang="fr-FR" sz="2400" i="1" dirty="0"/>
              <a:t>. Une fois ce module importé, il est possible d’injecter cette classe dans tous les éléments ayant besoin d’effectuer des requêtes </a:t>
            </a:r>
            <a:r>
              <a:rPr lang="fr-FR" sz="2400" b="1" i="1" dirty="0"/>
              <a:t>HTTP</a:t>
            </a:r>
            <a:r>
              <a:rPr lang="fr-FR" sz="2400" i="1" dirty="0"/>
              <a:t>.</a:t>
            </a:r>
            <a:endParaRPr lang="fr-FR" sz="2400" dirty="0"/>
          </a:p>
        </p:txBody>
      </p:sp>
    </p:spTree>
    <p:extLst>
      <p:ext uri="{BB962C8B-B14F-4D97-AF65-F5344CB8AC3E}">
        <p14:creationId xmlns:p14="http://schemas.microsoft.com/office/powerpoint/2010/main" val="1158649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b="1" dirty="0" err="1"/>
              <a:t>HttpClient</a:t>
            </a:r>
            <a:endParaRPr lang="fr-FR" b="1" dirty="0"/>
          </a:p>
        </p:txBody>
      </p:sp>
      <p:sp>
        <p:nvSpPr>
          <p:cNvPr id="3" name="Espace réservé du contenu 2"/>
          <p:cNvSpPr>
            <a:spLocks noGrp="1"/>
          </p:cNvSpPr>
          <p:nvPr>
            <p:ph idx="1"/>
          </p:nvPr>
        </p:nvSpPr>
        <p:spPr/>
        <p:txBody>
          <a:bodyPr>
            <a:normAutofit/>
          </a:bodyPr>
          <a:lstStyle/>
          <a:p>
            <a:pPr algn="just">
              <a:lnSpc>
                <a:spcPct val="200000"/>
              </a:lnSpc>
            </a:pPr>
            <a:r>
              <a:rPr lang="fr-FR" sz="2400" b="1" dirty="0" err="1"/>
              <a:t>HttpClient</a:t>
            </a:r>
            <a:r>
              <a:rPr lang="fr-FR" sz="2400" dirty="0"/>
              <a:t> est une classe de service intégrée disponible dans @</a:t>
            </a:r>
            <a:r>
              <a:rPr lang="fr-FR" sz="2400" b="1" dirty="0" err="1"/>
              <a:t>angular</a:t>
            </a:r>
            <a:r>
              <a:rPr lang="fr-FR" sz="2400" dirty="0"/>
              <a:t>/</a:t>
            </a:r>
            <a:r>
              <a:rPr lang="fr-FR" sz="2400" b="1" dirty="0" err="1"/>
              <a:t>common</a:t>
            </a:r>
            <a:r>
              <a:rPr lang="fr-FR" sz="2400" b="1" dirty="0"/>
              <a:t>/http</a:t>
            </a:r>
            <a:r>
              <a:rPr lang="fr-FR" sz="2400" dirty="0"/>
              <a:t> paquet. Il a plusieurs types de signature et de retour pour chaque demande. Il utilise les API basées sur les observables </a:t>
            </a:r>
            <a:r>
              <a:rPr lang="fr-FR" sz="2400" b="1" dirty="0" err="1"/>
              <a:t>RxJS</a:t>
            </a:r>
            <a:r>
              <a:rPr lang="fr-FR" sz="2400" dirty="0"/>
              <a:t>, ce qui signifie qu'il renvoie l'observable et ce dont nous avons besoin pour y souscrire.</a:t>
            </a:r>
          </a:p>
        </p:txBody>
      </p:sp>
    </p:spTree>
    <p:extLst>
      <p:ext uri="{BB962C8B-B14F-4D97-AF65-F5344CB8AC3E}">
        <p14:creationId xmlns:p14="http://schemas.microsoft.com/office/powerpoint/2010/main" val="796742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t>Fonctionnalités de </a:t>
            </a:r>
            <a:r>
              <a:rPr lang="fr-FR" b="1" dirty="0" err="1"/>
              <a:t>HttpClient</a:t>
            </a:r>
            <a:r>
              <a:rPr lang="fr-FR" b="1" dirty="0"/>
              <a:t/>
            </a:r>
            <a:br>
              <a:rPr lang="fr-FR" b="1" dirty="0"/>
            </a:br>
            <a:endParaRPr lang="fr-FR" dirty="0"/>
          </a:p>
        </p:txBody>
      </p:sp>
      <p:sp>
        <p:nvSpPr>
          <p:cNvPr id="3" name="Espace réservé du contenu 2"/>
          <p:cNvSpPr>
            <a:spLocks noGrp="1"/>
          </p:cNvSpPr>
          <p:nvPr>
            <p:ph idx="1"/>
          </p:nvPr>
        </p:nvSpPr>
        <p:spPr/>
        <p:txBody>
          <a:bodyPr>
            <a:normAutofit/>
          </a:bodyPr>
          <a:lstStyle/>
          <a:p>
            <a:pPr algn="just" fontAlgn="base">
              <a:lnSpc>
                <a:spcPct val="150000"/>
              </a:lnSpc>
            </a:pPr>
            <a:r>
              <a:rPr lang="fr-FR" sz="2000" dirty="0"/>
              <a:t>Fournit des objets de requête et de réponse typés</a:t>
            </a:r>
          </a:p>
          <a:p>
            <a:pPr algn="just" fontAlgn="base">
              <a:lnSpc>
                <a:spcPct val="150000"/>
              </a:lnSpc>
            </a:pPr>
            <a:r>
              <a:rPr lang="fr-FR" sz="2000" dirty="0"/>
              <a:t>Contient des fonctionnalités de testabilité</a:t>
            </a:r>
          </a:p>
          <a:p>
            <a:pPr algn="just" fontAlgn="base">
              <a:lnSpc>
                <a:spcPct val="150000"/>
              </a:lnSpc>
            </a:pPr>
            <a:r>
              <a:rPr lang="fr-FR" sz="2000" dirty="0"/>
              <a:t>Intercepte la demande et la réponse</a:t>
            </a:r>
          </a:p>
          <a:p>
            <a:pPr algn="just" fontAlgn="base">
              <a:lnSpc>
                <a:spcPct val="150000"/>
              </a:lnSpc>
            </a:pPr>
            <a:r>
              <a:rPr lang="fr-FR" sz="2000" dirty="0"/>
              <a:t>Prise en charge API basées sur les observables </a:t>
            </a:r>
            <a:r>
              <a:rPr lang="fr-FR" sz="2000" b="1" dirty="0" err="1"/>
              <a:t>RxJS</a:t>
            </a:r>
            <a:endParaRPr lang="fr-FR" sz="2000" b="1" dirty="0"/>
          </a:p>
          <a:p>
            <a:pPr algn="just" fontAlgn="base">
              <a:lnSpc>
                <a:spcPct val="150000"/>
              </a:lnSpc>
            </a:pPr>
            <a:r>
              <a:rPr lang="fr-FR" sz="2000" dirty="0"/>
              <a:t>Prend en charge la gestion rationalisée des erreurs</a:t>
            </a:r>
          </a:p>
          <a:p>
            <a:pPr algn="just" fontAlgn="base">
              <a:lnSpc>
                <a:spcPct val="150000"/>
              </a:lnSpc>
            </a:pPr>
            <a:r>
              <a:rPr lang="fr-FR" sz="2000" dirty="0"/>
              <a:t>Effectue les opérations </a:t>
            </a:r>
            <a:r>
              <a:rPr lang="fr-FR" sz="2000" b="1" dirty="0"/>
              <a:t>GET</a:t>
            </a:r>
            <a:r>
              <a:rPr lang="fr-FR" sz="2000" dirty="0"/>
              <a:t>, </a:t>
            </a:r>
            <a:r>
              <a:rPr lang="fr-FR" sz="2000" b="1" dirty="0"/>
              <a:t>POST</a:t>
            </a:r>
            <a:r>
              <a:rPr lang="fr-FR" sz="2000" dirty="0"/>
              <a:t>, </a:t>
            </a:r>
            <a:r>
              <a:rPr lang="fr-FR" sz="2000" b="1" dirty="0"/>
              <a:t>PUT</a:t>
            </a:r>
            <a:r>
              <a:rPr lang="fr-FR" sz="2000" dirty="0"/>
              <a:t>, </a:t>
            </a:r>
            <a:r>
              <a:rPr lang="fr-FR" sz="2000" b="1" dirty="0"/>
              <a:t>DELETE</a:t>
            </a:r>
          </a:p>
          <a:p>
            <a:pPr algn="just">
              <a:lnSpc>
                <a:spcPct val="150000"/>
              </a:lnSpc>
            </a:pPr>
            <a:endParaRPr lang="fr-FR" sz="2000" dirty="0"/>
          </a:p>
        </p:txBody>
      </p:sp>
    </p:spTree>
    <p:extLst>
      <p:ext uri="{BB962C8B-B14F-4D97-AF65-F5344CB8AC3E}">
        <p14:creationId xmlns:p14="http://schemas.microsoft.com/office/powerpoint/2010/main" val="15337074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38317" y="248149"/>
            <a:ext cx="10058400" cy="804672"/>
          </a:xfrm>
        </p:spPr>
        <p:txBody>
          <a:bodyPr>
            <a:normAutofit fontScale="90000"/>
          </a:bodyPr>
          <a:lstStyle/>
          <a:p>
            <a:pPr algn="ctr"/>
            <a:r>
              <a:rPr lang="fr-FR" b="1" dirty="0"/>
              <a:t>Transformer des données</a:t>
            </a:r>
            <a:br>
              <a:rPr lang="fr-FR" b="1" dirty="0"/>
            </a:br>
            <a:endParaRPr lang="fr-FR" b="1" dirty="0"/>
          </a:p>
        </p:txBody>
      </p:sp>
      <p:sp>
        <p:nvSpPr>
          <p:cNvPr id="3" name="Espace réservé du contenu 2"/>
          <p:cNvSpPr>
            <a:spLocks noGrp="1"/>
          </p:cNvSpPr>
          <p:nvPr>
            <p:ph idx="1"/>
          </p:nvPr>
        </p:nvSpPr>
        <p:spPr>
          <a:xfrm>
            <a:off x="833366" y="784808"/>
            <a:ext cx="10058400" cy="4050792"/>
          </a:xfrm>
        </p:spPr>
        <p:txBody>
          <a:bodyPr>
            <a:noAutofit/>
          </a:bodyPr>
          <a:lstStyle/>
          <a:p>
            <a:pPr algn="just">
              <a:lnSpc>
                <a:spcPct val="200000"/>
              </a:lnSpc>
            </a:pPr>
            <a:r>
              <a:rPr lang="fr-FR" sz="2400" dirty="0"/>
              <a:t>Habituellement la récupération et le traitement des données s’effectuent dans des services. Il est souvent plus judicieux de retourner directement un observable du type attendu par l’appelant plutôt qu’un observable de type </a:t>
            </a:r>
            <a:r>
              <a:rPr lang="fr-FR" sz="2400" b="1" dirty="0" err="1"/>
              <a:t>Response</a:t>
            </a:r>
            <a:r>
              <a:rPr lang="fr-FR" sz="2400" dirty="0"/>
              <a:t>. Avec </a:t>
            </a:r>
            <a:r>
              <a:rPr lang="fr-FR" sz="2400" b="1" dirty="0" err="1"/>
              <a:t>RxJS</a:t>
            </a:r>
            <a:r>
              <a:rPr lang="fr-FR" sz="2400" dirty="0"/>
              <a:t>, il est très simple de modifier le type de retour d’un observable tout en restant dans le flux de traitement de celui-ci. Il suffit en effet d’utiliser la méthode </a:t>
            </a:r>
            <a:r>
              <a:rPr lang="fr-FR" sz="2400" b="1" dirty="0" err="1"/>
              <a:t>map</a:t>
            </a:r>
            <a:r>
              <a:rPr lang="fr-FR" sz="2400" dirty="0"/>
              <a:t>. Afin de l’utiliser, il est nécessaire d’importer l’opérateur </a:t>
            </a:r>
            <a:r>
              <a:rPr lang="fr-FR" sz="2400" b="1" dirty="0" err="1"/>
              <a:t>map</a:t>
            </a:r>
            <a:r>
              <a:rPr lang="fr-FR" sz="2400" dirty="0"/>
              <a:t> depuis </a:t>
            </a:r>
            <a:r>
              <a:rPr lang="fr-FR" sz="2400" b="1" dirty="0" err="1"/>
              <a:t>RxJS</a:t>
            </a:r>
            <a:r>
              <a:rPr lang="fr-FR" sz="2400" dirty="0"/>
              <a:t>.</a:t>
            </a:r>
          </a:p>
        </p:txBody>
      </p:sp>
    </p:spTree>
    <p:extLst>
      <p:ext uri="{BB962C8B-B14F-4D97-AF65-F5344CB8AC3E}">
        <p14:creationId xmlns:p14="http://schemas.microsoft.com/office/powerpoint/2010/main" val="29514995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Intégration de provider http</a:t>
            </a:r>
            <a:endParaRPr lang="fr-FR" dirty="0"/>
          </a:p>
        </p:txBody>
      </p:sp>
      <p:pic>
        <p:nvPicPr>
          <p:cNvPr id="4" name="Espace réservé du contenu 3"/>
          <p:cNvPicPr>
            <a:picLocks noGrp="1" noChangeAspect="1"/>
          </p:cNvPicPr>
          <p:nvPr>
            <p:ph idx="1"/>
          </p:nvPr>
        </p:nvPicPr>
        <p:blipFill>
          <a:blip r:embed="rId2"/>
          <a:stretch>
            <a:fillRect/>
          </a:stretch>
        </p:blipFill>
        <p:spPr>
          <a:xfrm>
            <a:off x="2641601" y="2302933"/>
            <a:ext cx="7450666" cy="2929467"/>
          </a:xfrm>
          <a:prstGeom prst="rect">
            <a:avLst/>
          </a:prstGeom>
        </p:spPr>
      </p:pic>
    </p:spTree>
    <p:extLst>
      <p:ext uri="{BB962C8B-B14F-4D97-AF65-F5344CB8AC3E}">
        <p14:creationId xmlns:p14="http://schemas.microsoft.com/office/powerpoint/2010/main" val="1288549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90039"/>
            <a:ext cx="10058400" cy="650485"/>
          </a:xfrm>
        </p:spPr>
        <p:txBody>
          <a:bodyPr>
            <a:normAutofit/>
          </a:bodyPr>
          <a:lstStyle/>
          <a:p>
            <a:pPr algn="ctr"/>
            <a:r>
              <a:rPr lang="fr-FR" sz="3600" dirty="0"/>
              <a:t>Requête GET (Récupérer des données)</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91862" y="1261242"/>
            <a:ext cx="8544909" cy="46140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391115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Requête POST (Créer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049517" y="2270235"/>
            <a:ext cx="8466083" cy="31215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244982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Requête PUT (Mettre à jour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159876" y="2459421"/>
            <a:ext cx="7993117" cy="3200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94194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t>Requête DELETE (Supprimer une ressource)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939159" y="2459422"/>
            <a:ext cx="8749861" cy="31531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900714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16618"/>
            <a:ext cx="10058400" cy="414002"/>
          </a:xfrm>
        </p:spPr>
        <p:txBody>
          <a:bodyPr>
            <a:normAutofit fontScale="90000"/>
          </a:bodyPr>
          <a:lstStyle/>
          <a:p>
            <a:pPr algn="ctr"/>
            <a:r>
              <a:rPr lang="fr-FR" sz="4000" dirty="0"/>
              <a:t>Gestion des erreurs dans </a:t>
            </a:r>
            <a:r>
              <a:rPr lang="fr-FR" sz="4000" dirty="0" err="1"/>
              <a:t>HttpClient</a:t>
            </a:r>
            <a:endParaRPr lang="fr-FR" sz="4000" dirty="0"/>
          </a:p>
        </p:txBody>
      </p:sp>
      <p:sp>
        <p:nvSpPr>
          <p:cNvPr id="3" name="Espace réservé du contenu 2"/>
          <p:cNvSpPr>
            <a:spLocks noGrp="1"/>
          </p:cNvSpPr>
          <p:nvPr>
            <p:ph idx="1"/>
          </p:nvPr>
        </p:nvSpPr>
        <p:spPr>
          <a:xfrm>
            <a:off x="599090" y="954759"/>
            <a:ext cx="11035862" cy="5335681"/>
          </a:xfrm>
        </p:spPr>
        <p:txBody>
          <a:bodyPr>
            <a:normAutofit lnSpcReduction="10000"/>
          </a:bodyPr>
          <a:lstStyle/>
          <a:p>
            <a:pPr algn="just"/>
            <a:r>
              <a:rPr lang="fr-FR" dirty="0"/>
              <a:t>Lorsqu'on envoie une requête </a:t>
            </a:r>
            <a:r>
              <a:rPr lang="fr-FR" b="1" dirty="0"/>
              <a:t>HTTP</a:t>
            </a:r>
            <a:r>
              <a:rPr lang="fr-FR" dirty="0"/>
              <a:t>, il peut y avoir des erreurs (ex: serveur indisponible, mauvaise requête). Pour les gérer proprement, on utilise </a:t>
            </a:r>
            <a:r>
              <a:rPr lang="fr-FR" b="1" dirty="0" err="1"/>
              <a:t>catchError</a:t>
            </a:r>
            <a:r>
              <a:rPr lang="fr-FR" dirty="0"/>
              <a:t> de </a:t>
            </a:r>
            <a:r>
              <a:rPr lang="fr-FR" b="1" dirty="0" err="1"/>
              <a:t>RxJS</a:t>
            </a:r>
            <a:r>
              <a:rPr lang="fr-FR" dirty="0" smtClean="0"/>
              <a:t>.</a:t>
            </a:r>
          </a:p>
          <a:p>
            <a:pPr algn="just"/>
            <a:r>
              <a:rPr lang="fr-FR" dirty="0" smtClean="0"/>
              <a:t>Exemple :</a:t>
            </a:r>
          </a:p>
          <a:p>
            <a:pPr algn="just"/>
            <a:endParaRPr lang="fr-FR" dirty="0"/>
          </a:p>
          <a:p>
            <a:pPr algn="just"/>
            <a:endParaRPr lang="fr-FR" dirty="0" smtClean="0"/>
          </a:p>
          <a:p>
            <a:pPr algn="just"/>
            <a:endParaRPr lang="fr-FR" dirty="0"/>
          </a:p>
          <a:p>
            <a:pPr algn="just"/>
            <a:endParaRPr lang="fr-FR" dirty="0" smtClean="0"/>
          </a:p>
          <a:p>
            <a:pPr algn="just"/>
            <a:endParaRPr lang="fr-FR" dirty="0"/>
          </a:p>
          <a:p>
            <a:pPr algn="just"/>
            <a:endParaRPr lang="fr-FR" dirty="0" smtClean="0"/>
          </a:p>
          <a:p>
            <a:pPr algn="just"/>
            <a:endParaRPr lang="fr-FR" dirty="0"/>
          </a:p>
          <a:p>
            <a:pPr algn="just"/>
            <a:endParaRPr lang="fr-FR" dirty="0" smtClean="0"/>
          </a:p>
          <a:p>
            <a:pPr algn="just"/>
            <a:r>
              <a:rPr lang="fr-FR" b="1" dirty="0" err="1"/>
              <a:t>catchError</a:t>
            </a:r>
            <a:r>
              <a:rPr lang="fr-FR" dirty="0"/>
              <a:t>() capture l'erreur et empêche le plantage de l'application</a:t>
            </a:r>
            <a:r>
              <a:rPr lang="fr-FR" dirty="0" smtClean="0"/>
              <a:t>.</a:t>
            </a:r>
          </a:p>
          <a:p>
            <a:pPr algn="just"/>
            <a:r>
              <a:rPr lang="fr-FR" b="1" dirty="0" err="1"/>
              <a:t>throwError</a:t>
            </a:r>
            <a:r>
              <a:rPr lang="fr-FR" dirty="0"/>
              <a:t>() permet de renvoyer une erreur personnalisée.</a:t>
            </a:r>
          </a:p>
        </p:txBody>
      </p:sp>
      <p:pic>
        <p:nvPicPr>
          <p:cNvPr id="6" name="Image 5"/>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089549" y="1751430"/>
            <a:ext cx="5944092" cy="340389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365161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2400" dirty="0"/>
              <a:t>Gestion des événements de progression (Loader, chargement)</a:t>
            </a:r>
          </a:p>
        </p:txBody>
      </p:sp>
      <p:sp>
        <p:nvSpPr>
          <p:cNvPr id="3" name="Espace réservé du contenu 2"/>
          <p:cNvSpPr>
            <a:spLocks noGrp="1"/>
          </p:cNvSpPr>
          <p:nvPr>
            <p:ph idx="1"/>
          </p:nvPr>
        </p:nvSpPr>
        <p:spPr/>
        <p:txBody>
          <a:bodyPr/>
          <a:lstStyle/>
          <a:p>
            <a:r>
              <a:rPr lang="fr-FR" dirty="0"/>
              <a:t>On peut afficher un </a:t>
            </a:r>
            <a:r>
              <a:rPr lang="fr-FR" b="1" dirty="0"/>
              <a:t>loader</a:t>
            </a:r>
            <a:r>
              <a:rPr lang="fr-FR" dirty="0"/>
              <a:t> lorsque la requête est en cours.</a:t>
            </a:r>
          </a:p>
          <a:p>
            <a:endParaRPr lang="fr-FR"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82870" y="2799016"/>
            <a:ext cx="5186854" cy="34006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6621517" y="3074276"/>
            <a:ext cx="4693709" cy="23332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106943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76738" y="370142"/>
            <a:ext cx="9668924" cy="959640"/>
          </a:xfrm>
        </p:spPr>
        <p:txBody>
          <a:bodyPr>
            <a:noAutofit/>
          </a:bodyPr>
          <a:lstStyle/>
          <a:p>
            <a:pPr algn="ctr"/>
            <a:r>
              <a:rPr lang="fr-FR" sz="3600" b="1" dirty="0" smtClean="0"/>
              <a:t>Exemple </a:t>
            </a:r>
            <a:r>
              <a:rPr lang="fr-FR" sz="3600" b="1" dirty="0" smtClean="0"/>
              <a:t>Manipulation de données JSON</a:t>
            </a:r>
            <a:endParaRPr lang="fr-FR" sz="3600" b="1" dirty="0"/>
          </a:p>
        </p:txBody>
      </p:sp>
      <p:sp>
        <p:nvSpPr>
          <p:cNvPr id="3" name="Espace réservé du contenu 2"/>
          <p:cNvSpPr>
            <a:spLocks noGrp="1"/>
          </p:cNvSpPr>
          <p:nvPr>
            <p:ph idx="1"/>
          </p:nvPr>
        </p:nvSpPr>
        <p:spPr>
          <a:xfrm>
            <a:off x="520045" y="1620209"/>
            <a:ext cx="10863722" cy="3777622"/>
          </a:xfrm>
        </p:spPr>
        <p:txBody>
          <a:bodyPr>
            <a:normAutofit/>
          </a:bodyPr>
          <a:lstStyle/>
          <a:p>
            <a:r>
              <a:rPr lang="fr-FR" sz="3200" dirty="0" smtClean="0"/>
              <a:t>Consommer </a:t>
            </a:r>
            <a:r>
              <a:rPr lang="fr-FR" sz="3200" dirty="0" smtClean="0"/>
              <a:t>un API </a:t>
            </a:r>
            <a:r>
              <a:rPr lang="fr-FR" sz="3200" dirty="0" smtClean="0"/>
              <a:t>développer avec </a:t>
            </a:r>
            <a:r>
              <a:rPr lang="fr-FR" sz="3200" b="1" dirty="0" err="1" smtClean="0"/>
              <a:t>Spring</a:t>
            </a:r>
            <a:r>
              <a:rPr lang="fr-FR" sz="3200" b="1" dirty="0" smtClean="0"/>
              <a:t> BOOT</a:t>
            </a:r>
          </a:p>
          <a:p>
            <a:pPr lvl="1"/>
            <a:endParaRPr lang="fr-FR" sz="2800" dirty="0"/>
          </a:p>
        </p:txBody>
      </p:sp>
    </p:spTree>
    <p:extLst>
      <p:ext uri="{BB962C8B-B14F-4D97-AF65-F5344CB8AC3E}">
        <p14:creationId xmlns:p14="http://schemas.microsoft.com/office/powerpoint/2010/main" val="2349644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service</a:t>
            </a:r>
            <a:endParaRPr lang="fr-FR" b="1" dirty="0"/>
          </a:p>
        </p:txBody>
      </p:sp>
      <p:pic>
        <p:nvPicPr>
          <p:cNvPr id="4" name="Image 3"/>
          <p:cNvPicPr>
            <a:picLocks noChangeAspect="1"/>
          </p:cNvPicPr>
          <p:nvPr/>
        </p:nvPicPr>
        <p:blipFill>
          <a:blip r:embed="rId2"/>
          <a:stretch>
            <a:fillRect/>
          </a:stretch>
        </p:blipFill>
        <p:spPr>
          <a:xfrm>
            <a:off x="2840855" y="1825564"/>
            <a:ext cx="6649374" cy="3731858"/>
          </a:xfrm>
          <a:prstGeom prst="rect">
            <a:avLst/>
          </a:prstGeom>
        </p:spPr>
      </p:pic>
    </p:spTree>
    <p:extLst>
      <p:ext uri="{BB962C8B-B14F-4D97-AF65-F5344CB8AC3E}">
        <p14:creationId xmlns:p14="http://schemas.microsoft.com/office/powerpoint/2010/main" val="40915435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Mise à jour du composant</a:t>
            </a:r>
            <a:endParaRPr lang="fr-FR" b="1" dirty="0"/>
          </a:p>
        </p:txBody>
      </p:sp>
      <p:pic>
        <p:nvPicPr>
          <p:cNvPr id="4" name="Image 3"/>
          <p:cNvPicPr>
            <a:picLocks noChangeAspect="1"/>
          </p:cNvPicPr>
          <p:nvPr/>
        </p:nvPicPr>
        <p:blipFill>
          <a:blip r:embed="rId2"/>
          <a:stretch>
            <a:fillRect/>
          </a:stretch>
        </p:blipFill>
        <p:spPr>
          <a:xfrm>
            <a:off x="2388093" y="1766933"/>
            <a:ext cx="7688061" cy="4403047"/>
          </a:xfrm>
          <a:prstGeom prst="rect">
            <a:avLst/>
          </a:prstGeom>
        </p:spPr>
      </p:pic>
    </p:spTree>
    <p:extLst>
      <p:ext uri="{BB962C8B-B14F-4D97-AF65-F5344CB8AC3E}">
        <p14:creationId xmlns:p14="http://schemas.microsoft.com/office/powerpoint/2010/main" val="83788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t>Mise à jour du Template</a:t>
            </a:r>
            <a:endParaRPr lang="fr-FR" b="1" dirty="0"/>
          </a:p>
        </p:txBody>
      </p:sp>
      <p:pic>
        <p:nvPicPr>
          <p:cNvPr id="5" name="Image 4"/>
          <p:cNvPicPr>
            <a:picLocks noChangeAspect="1"/>
          </p:cNvPicPr>
          <p:nvPr/>
        </p:nvPicPr>
        <p:blipFill>
          <a:blip r:embed="rId2"/>
          <a:stretch>
            <a:fillRect/>
          </a:stretch>
        </p:blipFill>
        <p:spPr>
          <a:xfrm>
            <a:off x="3124941" y="1923990"/>
            <a:ext cx="6409678" cy="3873127"/>
          </a:xfrm>
          <a:prstGeom prst="rect">
            <a:avLst/>
          </a:prstGeom>
        </p:spPr>
      </p:pic>
    </p:spTree>
    <p:extLst>
      <p:ext uri="{BB962C8B-B14F-4D97-AF65-F5344CB8AC3E}">
        <p14:creationId xmlns:p14="http://schemas.microsoft.com/office/powerpoint/2010/main" val="38770300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Intégration de provider http</a:t>
            </a:r>
            <a:endParaRPr lang="fr-FR" dirty="0"/>
          </a:p>
        </p:txBody>
      </p:sp>
      <p:pic>
        <p:nvPicPr>
          <p:cNvPr id="4" name="Espace réservé du contenu 3"/>
          <p:cNvPicPr>
            <a:picLocks noGrp="1" noChangeAspect="1"/>
          </p:cNvPicPr>
          <p:nvPr>
            <p:ph idx="1"/>
          </p:nvPr>
        </p:nvPicPr>
        <p:blipFill>
          <a:blip r:embed="rId2"/>
          <a:stretch>
            <a:fillRect/>
          </a:stretch>
        </p:blipFill>
        <p:spPr>
          <a:xfrm>
            <a:off x="2641601" y="2302933"/>
            <a:ext cx="7450666" cy="2929467"/>
          </a:xfrm>
          <a:prstGeom prst="rect">
            <a:avLst/>
          </a:prstGeom>
        </p:spPr>
      </p:pic>
    </p:spTree>
    <p:extLst>
      <p:ext uri="{BB962C8B-B14F-4D97-AF65-F5344CB8AC3E}">
        <p14:creationId xmlns:p14="http://schemas.microsoft.com/office/powerpoint/2010/main" val="22167936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Atelier </a:t>
            </a:r>
            <a:endParaRPr lang="fr-FR" dirty="0"/>
          </a:p>
        </p:txBody>
      </p:sp>
      <p:sp>
        <p:nvSpPr>
          <p:cNvPr id="3" name="Espace réservé du contenu 2"/>
          <p:cNvSpPr>
            <a:spLocks noGrp="1"/>
          </p:cNvSpPr>
          <p:nvPr>
            <p:ph idx="1"/>
          </p:nvPr>
        </p:nvSpPr>
        <p:spPr/>
        <p:txBody>
          <a:bodyPr>
            <a:normAutofit/>
          </a:bodyPr>
          <a:lstStyle/>
          <a:p>
            <a:r>
              <a:rPr lang="fr-FR" sz="4000" dirty="0" smtClean="0"/>
              <a:t>Afficher la liste des utilisateurs</a:t>
            </a:r>
            <a:endParaRPr lang="fr-FR" sz="4000" dirty="0"/>
          </a:p>
        </p:txBody>
      </p:sp>
    </p:spTree>
    <p:extLst>
      <p:ext uri="{BB962C8B-B14F-4D97-AF65-F5344CB8AC3E}">
        <p14:creationId xmlns:p14="http://schemas.microsoft.com/office/powerpoint/2010/main" val="2488650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Service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106202" y="2093976"/>
            <a:ext cx="8363163" cy="38239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76067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Composant TS</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558265" y="1982912"/>
            <a:ext cx="7551506" cy="3924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67135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Composant HTML</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434975" y="1900719"/>
            <a:ext cx="7911101" cy="36104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10223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dirty="0" smtClean="0"/>
              <a:t>Les contrats de communication</a:t>
            </a:r>
            <a:endParaRPr lang="fr-FR" dirty="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21436951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Qu’est-ce qu’un contrat de communication ?</a:t>
            </a:r>
          </a:p>
        </p:txBody>
      </p:sp>
      <p:sp>
        <p:nvSpPr>
          <p:cNvPr id="3" name="Espace réservé du contenu 2"/>
          <p:cNvSpPr>
            <a:spLocks noGrp="1"/>
          </p:cNvSpPr>
          <p:nvPr>
            <p:ph idx="1"/>
          </p:nvPr>
        </p:nvSpPr>
        <p:spPr/>
        <p:txBody>
          <a:bodyPr>
            <a:normAutofit/>
          </a:bodyPr>
          <a:lstStyle/>
          <a:p>
            <a:pPr algn="just">
              <a:lnSpc>
                <a:spcPct val="150000"/>
              </a:lnSpc>
            </a:pPr>
            <a:r>
              <a:rPr lang="fr-FR" sz="2400" dirty="0"/>
              <a:t>C’est un </a:t>
            </a:r>
            <a:r>
              <a:rPr lang="fr-FR" sz="2400" b="1" dirty="0"/>
              <a:t>accord technique</a:t>
            </a:r>
            <a:r>
              <a:rPr lang="fr-FR" sz="2400" dirty="0"/>
              <a:t> entre le </a:t>
            </a:r>
            <a:r>
              <a:rPr lang="fr-FR" sz="2400" b="1" dirty="0" err="1"/>
              <a:t>frontend</a:t>
            </a:r>
            <a:r>
              <a:rPr lang="fr-FR" sz="2400" b="1" dirty="0"/>
              <a:t> (client </a:t>
            </a:r>
            <a:r>
              <a:rPr lang="fr-FR" sz="2400" b="1" dirty="0" err="1"/>
              <a:t>Angular</a:t>
            </a:r>
            <a:r>
              <a:rPr lang="fr-FR" sz="2400" b="1" dirty="0"/>
              <a:t>)</a:t>
            </a:r>
            <a:r>
              <a:rPr lang="fr-FR" sz="2400" dirty="0"/>
              <a:t> et le </a:t>
            </a:r>
            <a:r>
              <a:rPr lang="fr-FR" sz="2400" b="1" dirty="0" err="1"/>
              <a:t>backend</a:t>
            </a:r>
            <a:r>
              <a:rPr lang="fr-FR" sz="2400" b="1" dirty="0"/>
              <a:t> (API </a:t>
            </a:r>
            <a:r>
              <a:rPr lang="fr-FR" sz="2400" b="1" dirty="0" err="1"/>
              <a:t>Spring</a:t>
            </a:r>
            <a:r>
              <a:rPr lang="fr-FR" sz="2400" b="1" dirty="0"/>
              <a:t> </a:t>
            </a:r>
            <a:r>
              <a:rPr lang="fr-FR" sz="2400" b="1" dirty="0" smtClean="0"/>
              <a:t>Boot à titre d’exemple)</a:t>
            </a:r>
            <a:r>
              <a:rPr lang="fr-FR" sz="2400" dirty="0" smtClean="0"/>
              <a:t>.</a:t>
            </a:r>
            <a:endParaRPr lang="fr-FR" sz="2400" dirty="0" smtClean="0"/>
          </a:p>
          <a:p>
            <a:pPr algn="just">
              <a:lnSpc>
                <a:spcPct val="150000"/>
              </a:lnSpc>
            </a:pPr>
            <a:r>
              <a:rPr lang="fr-FR" sz="2400" dirty="0"/>
              <a:t>Il définit </a:t>
            </a:r>
            <a:r>
              <a:rPr lang="fr-FR" sz="2400" b="1" dirty="0"/>
              <a:t>comment les deux couches échangent les données</a:t>
            </a:r>
            <a:r>
              <a:rPr lang="fr-FR" sz="2400" dirty="0"/>
              <a:t> : format, structure, types, </a:t>
            </a:r>
            <a:r>
              <a:rPr lang="fr-FR" sz="2400" dirty="0" err="1"/>
              <a:t>endpoints</a:t>
            </a:r>
            <a:r>
              <a:rPr lang="fr-FR" sz="2400" dirty="0"/>
              <a:t>, codes de statut, etc</a:t>
            </a:r>
            <a:r>
              <a:rPr lang="fr-FR" sz="2400" dirty="0" smtClean="0"/>
              <a:t>.</a:t>
            </a:r>
          </a:p>
          <a:p>
            <a:pPr algn="just">
              <a:lnSpc>
                <a:spcPct val="150000"/>
              </a:lnSpc>
            </a:pPr>
            <a:r>
              <a:rPr lang="fr-FR" sz="2400" dirty="0"/>
              <a:t>Il garantit la </a:t>
            </a:r>
            <a:r>
              <a:rPr lang="fr-FR" sz="2400" b="1" dirty="0"/>
              <a:t>cohérence</a:t>
            </a:r>
            <a:r>
              <a:rPr lang="fr-FR" sz="2400" dirty="0"/>
              <a:t>, la </a:t>
            </a:r>
            <a:r>
              <a:rPr lang="fr-FR" sz="2400" b="1" dirty="0"/>
              <a:t>maintenabilité</a:t>
            </a:r>
            <a:r>
              <a:rPr lang="fr-FR" sz="2400" dirty="0"/>
              <a:t> et la </a:t>
            </a:r>
            <a:r>
              <a:rPr lang="fr-FR" sz="2400" b="1" dirty="0"/>
              <a:t>sécurité</a:t>
            </a:r>
            <a:r>
              <a:rPr lang="fr-FR" sz="2400" dirty="0"/>
              <a:t> des échanges.</a:t>
            </a:r>
          </a:p>
        </p:txBody>
      </p:sp>
    </p:spTree>
    <p:extLst>
      <p:ext uri="{BB962C8B-B14F-4D97-AF65-F5344CB8AC3E}">
        <p14:creationId xmlns:p14="http://schemas.microsoft.com/office/powerpoint/2010/main" val="29967845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Objectif</a:t>
            </a:r>
          </a:p>
        </p:txBody>
      </p:sp>
      <p:sp>
        <p:nvSpPr>
          <p:cNvPr id="3" name="Espace réservé du contenu 2"/>
          <p:cNvSpPr>
            <a:spLocks noGrp="1"/>
          </p:cNvSpPr>
          <p:nvPr>
            <p:ph idx="1"/>
          </p:nvPr>
        </p:nvSpPr>
        <p:spPr/>
        <p:txBody>
          <a:bodyPr>
            <a:normAutofit/>
          </a:bodyPr>
          <a:lstStyle/>
          <a:p>
            <a:pPr>
              <a:lnSpc>
                <a:spcPct val="200000"/>
              </a:lnSpc>
            </a:pPr>
            <a:r>
              <a:rPr lang="fr-FR" sz="2800" dirty="0"/>
              <a:t>Éviter les incohérences entre le front et le back</a:t>
            </a:r>
            <a:r>
              <a:rPr lang="fr-FR" sz="2800" dirty="0" smtClean="0"/>
              <a:t>.</a:t>
            </a:r>
          </a:p>
          <a:p>
            <a:pPr>
              <a:lnSpc>
                <a:spcPct val="200000"/>
              </a:lnSpc>
            </a:pPr>
            <a:r>
              <a:rPr lang="fr-FR" sz="2800" dirty="0"/>
              <a:t>Faciliter les tests et la validation des intégrations</a:t>
            </a:r>
            <a:r>
              <a:rPr lang="fr-FR" sz="2800" dirty="0" smtClean="0"/>
              <a:t>.</a:t>
            </a:r>
          </a:p>
          <a:p>
            <a:pPr>
              <a:lnSpc>
                <a:spcPct val="200000"/>
              </a:lnSpc>
            </a:pPr>
            <a:r>
              <a:rPr lang="fr-FR" sz="2800" dirty="0"/>
              <a:t>Servir de </a:t>
            </a:r>
            <a:r>
              <a:rPr lang="fr-FR" sz="2800" b="1" dirty="0"/>
              <a:t>référence commune</a:t>
            </a:r>
            <a:r>
              <a:rPr lang="fr-FR" sz="2800" dirty="0"/>
              <a:t> entre les équipes.</a:t>
            </a:r>
          </a:p>
        </p:txBody>
      </p:sp>
    </p:spTree>
    <p:extLst>
      <p:ext uri="{BB962C8B-B14F-4D97-AF65-F5344CB8AC3E}">
        <p14:creationId xmlns:p14="http://schemas.microsoft.com/office/powerpoint/2010/main" val="460705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21939"/>
            <a:ext cx="10058400" cy="727719"/>
          </a:xfrm>
        </p:spPr>
        <p:txBody>
          <a:bodyPr>
            <a:normAutofit fontScale="90000"/>
          </a:bodyPr>
          <a:lstStyle/>
          <a:p>
            <a:pPr algn="ctr"/>
            <a:r>
              <a:rPr lang="fr-FR" dirty="0"/>
              <a:t>Exemple contextuel (</a:t>
            </a:r>
            <a:r>
              <a:rPr lang="fr-FR" dirty="0" smtClean="0"/>
              <a:t>CNSS)</a:t>
            </a:r>
            <a:endParaRPr lang="fr-FR" dirty="0"/>
          </a:p>
        </p:txBody>
      </p:sp>
      <p:sp>
        <p:nvSpPr>
          <p:cNvPr id="3" name="Espace réservé du contenu 2"/>
          <p:cNvSpPr>
            <a:spLocks noGrp="1"/>
          </p:cNvSpPr>
          <p:nvPr>
            <p:ph idx="1"/>
          </p:nvPr>
        </p:nvSpPr>
        <p:spPr>
          <a:xfrm>
            <a:off x="1066800" y="1403603"/>
            <a:ext cx="10058400" cy="4050792"/>
          </a:xfrm>
        </p:spPr>
        <p:txBody>
          <a:bodyPr>
            <a:normAutofit lnSpcReduction="10000"/>
          </a:bodyPr>
          <a:lstStyle/>
          <a:p>
            <a:pPr algn="just">
              <a:lnSpc>
                <a:spcPct val="150000"/>
              </a:lnSpc>
            </a:pPr>
            <a:r>
              <a:rPr lang="fr-FR" dirty="0"/>
              <a:t>Lorsqu’une application </a:t>
            </a:r>
            <a:r>
              <a:rPr lang="fr-FR" dirty="0" err="1"/>
              <a:t>Angular</a:t>
            </a:r>
            <a:r>
              <a:rPr lang="fr-FR" dirty="0"/>
              <a:t> de gestion des dossiers CNSS interagit avec le serveur </a:t>
            </a:r>
            <a:r>
              <a:rPr lang="fr-FR" dirty="0" err="1"/>
              <a:t>Spring</a:t>
            </a:r>
            <a:r>
              <a:rPr lang="fr-FR" dirty="0"/>
              <a:t> Boot pour récupérer la liste des affiliés, le contrat définit </a:t>
            </a:r>
            <a:r>
              <a:rPr lang="fr-FR" dirty="0" smtClean="0"/>
              <a:t>:</a:t>
            </a:r>
          </a:p>
          <a:p>
            <a:pPr algn="just">
              <a:lnSpc>
                <a:spcPct val="150000"/>
              </a:lnSpc>
            </a:pPr>
            <a:endParaRPr lang="fr-FR" dirty="0"/>
          </a:p>
          <a:p>
            <a:pPr algn="just">
              <a:lnSpc>
                <a:spcPct val="150000"/>
              </a:lnSpc>
            </a:pPr>
            <a:endParaRPr lang="fr-FR" dirty="0" smtClean="0"/>
          </a:p>
          <a:p>
            <a:pPr algn="just">
              <a:lnSpc>
                <a:spcPct val="150000"/>
              </a:lnSpc>
            </a:pPr>
            <a:endParaRPr lang="fr-FR" dirty="0"/>
          </a:p>
          <a:p>
            <a:pPr algn="just">
              <a:lnSpc>
                <a:spcPct val="150000"/>
              </a:lnSpc>
            </a:pPr>
            <a:endParaRPr lang="fr-FR" dirty="0" smtClean="0"/>
          </a:p>
          <a:p>
            <a:pPr algn="just">
              <a:lnSpc>
                <a:spcPct val="150000"/>
              </a:lnSpc>
            </a:pPr>
            <a:r>
              <a:rPr lang="fr-FR" dirty="0"/>
              <a:t>et les méthodes autorisées : </a:t>
            </a:r>
            <a:r>
              <a:rPr lang="fr-FR" b="1" dirty="0"/>
              <a:t>GET /api/affilies/{id}</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503486" y="2562180"/>
            <a:ext cx="5024063" cy="22461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63429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196956"/>
            <a:ext cx="10058400" cy="892105"/>
          </a:xfrm>
        </p:spPr>
        <p:txBody>
          <a:bodyPr>
            <a:normAutofit/>
          </a:bodyPr>
          <a:lstStyle/>
          <a:p>
            <a:pPr algn="ctr"/>
            <a:r>
              <a:rPr lang="fr-FR" sz="3200" dirty="0"/>
              <a:t>Types de contrats et technologies associées</a:t>
            </a:r>
          </a:p>
        </p:txBody>
      </p:sp>
      <p:pic>
        <p:nvPicPr>
          <p:cNvPr id="4" name="Espace réservé du contenu 3"/>
          <p:cNvPicPr>
            <a:picLocks noGrp="1" noChangeAspect="1"/>
          </p:cNvPicPr>
          <p:nvPr>
            <p:ph idx="1"/>
          </p:nvPr>
        </p:nvPicPr>
        <p:blipFill>
          <a:blip r:embed="rId2"/>
          <a:stretch>
            <a:fillRect/>
          </a:stretch>
        </p:blipFill>
        <p:spPr>
          <a:xfrm>
            <a:off x="1069848" y="1171254"/>
            <a:ext cx="10058399" cy="4263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384937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600" dirty="0"/>
              <a:t>Structure du contrat REST dans le projet</a:t>
            </a:r>
          </a:p>
        </p:txBody>
      </p:sp>
      <p:sp>
        <p:nvSpPr>
          <p:cNvPr id="4" name="Espace réservé du texte 3"/>
          <p:cNvSpPr>
            <a:spLocks noGrp="1"/>
          </p:cNvSpPr>
          <p:nvPr>
            <p:ph type="body" idx="1"/>
          </p:nvPr>
        </p:nvSpPr>
        <p:spPr/>
        <p:txBody>
          <a:bodyPr/>
          <a:lstStyle/>
          <a:p>
            <a:pPr algn="ctr"/>
            <a:r>
              <a:rPr lang="fr-FR" dirty="0"/>
              <a:t>Côté </a:t>
            </a:r>
            <a:r>
              <a:rPr lang="fr-FR" dirty="0" err="1"/>
              <a:t>Spring</a:t>
            </a:r>
            <a:r>
              <a:rPr lang="fr-FR" dirty="0"/>
              <a:t> Boot (</a:t>
            </a:r>
            <a:r>
              <a:rPr lang="fr-FR" dirty="0" err="1"/>
              <a:t>Backend</a:t>
            </a:r>
            <a:r>
              <a:rPr lang="fr-FR" dirty="0" smtClean="0"/>
              <a:t>)</a:t>
            </a:r>
          </a:p>
        </p:txBody>
      </p:sp>
      <p:sp>
        <p:nvSpPr>
          <p:cNvPr id="5" name="Espace réservé du contenu 4"/>
          <p:cNvSpPr>
            <a:spLocks noGrp="1"/>
          </p:cNvSpPr>
          <p:nvPr>
            <p:ph sz="half" idx="2"/>
          </p:nvPr>
        </p:nvSpPr>
        <p:spPr/>
        <p:txBody>
          <a:bodyPr/>
          <a:lstStyle/>
          <a:p>
            <a:pPr algn="just">
              <a:lnSpc>
                <a:spcPct val="150000"/>
              </a:lnSpc>
            </a:pPr>
            <a:r>
              <a:rPr lang="fr-FR" dirty="0"/>
              <a:t>Les contrats sont matérialisés par les </a:t>
            </a:r>
            <a:r>
              <a:rPr lang="fr-FR" b="1" dirty="0" err="1"/>
              <a:t>endpoints</a:t>
            </a:r>
            <a:r>
              <a:rPr lang="fr-FR" b="1" dirty="0"/>
              <a:t> REST</a:t>
            </a:r>
            <a:r>
              <a:rPr lang="fr-FR" dirty="0"/>
              <a:t> exposés par les </a:t>
            </a:r>
            <a:r>
              <a:rPr lang="fr-FR" b="1" dirty="0"/>
              <a:t>@</a:t>
            </a:r>
            <a:r>
              <a:rPr lang="fr-FR" b="1" dirty="0" err="1"/>
              <a:t>RestController</a:t>
            </a:r>
            <a:r>
              <a:rPr lang="fr-FR" dirty="0"/>
              <a:t>.</a:t>
            </a:r>
          </a:p>
        </p:txBody>
      </p:sp>
      <p:sp>
        <p:nvSpPr>
          <p:cNvPr id="6" name="Espace réservé du texte 5"/>
          <p:cNvSpPr>
            <a:spLocks noGrp="1"/>
          </p:cNvSpPr>
          <p:nvPr>
            <p:ph type="body" sz="quarter" idx="3"/>
          </p:nvPr>
        </p:nvSpPr>
        <p:spPr/>
        <p:txBody>
          <a:bodyPr/>
          <a:lstStyle/>
          <a:p>
            <a:pPr algn="ctr"/>
            <a:r>
              <a:rPr lang="fr-FR" dirty="0"/>
              <a:t>Côté </a:t>
            </a:r>
            <a:r>
              <a:rPr lang="fr-FR" dirty="0" err="1"/>
              <a:t>Angular</a:t>
            </a:r>
            <a:r>
              <a:rPr lang="fr-FR" dirty="0"/>
              <a:t> (</a:t>
            </a:r>
            <a:r>
              <a:rPr lang="fr-FR" dirty="0" err="1"/>
              <a:t>Frontend</a:t>
            </a:r>
            <a:r>
              <a:rPr lang="fr-FR" dirty="0"/>
              <a:t>)</a:t>
            </a:r>
          </a:p>
        </p:txBody>
      </p:sp>
      <p:sp>
        <p:nvSpPr>
          <p:cNvPr id="7" name="Espace réservé du contenu 6"/>
          <p:cNvSpPr>
            <a:spLocks noGrp="1"/>
          </p:cNvSpPr>
          <p:nvPr>
            <p:ph sz="quarter" idx="4"/>
          </p:nvPr>
        </p:nvSpPr>
        <p:spPr/>
        <p:txBody>
          <a:bodyPr/>
          <a:lstStyle/>
          <a:p>
            <a:pPr algn="just">
              <a:lnSpc>
                <a:spcPct val="150000"/>
              </a:lnSpc>
            </a:pPr>
            <a:r>
              <a:rPr lang="fr-FR" dirty="0"/>
              <a:t>Le contrat est consommé via </a:t>
            </a:r>
            <a:r>
              <a:rPr lang="fr-FR" b="1" dirty="0" err="1"/>
              <a:t>HttpClient</a:t>
            </a:r>
            <a:r>
              <a:rPr lang="fr-FR" dirty="0"/>
              <a:t>.</a:t>
            </a:r>
          </a:p>
        </p:txBody>
      </p:sp>
      <p:pic>
        <p:nvPicPr>
          <p:cNvPr id="8" name="Image 7"/>
          <p:cNvPicPr>
            <a:picLocks noChangeAspect="1"/>
          </p:cNvPicPr>
          <p:nvPr/>
        </p:nvPicPr>
        <p:blipFill>
          <a:blip r:embed="rId2">
            <a:duotone>
              <a:prstClr val="black"/>
              <a:schemeClr val="accent1">
                <a:tint val="45000"/>
                <a:satMod val="400000"/>
              </a:schemeClr>
            </a:duotone>
          </a:blip>
          <a:stretch>
            <a:fillRect/>
          </a:stretch>
        </p:blipFill>
        <p:spPr>
          <a:xfrm>
            <a:off x="553675" y="4251960"/>
            <a:ext cx="5810549" cy="23496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Image 8"/>
          <p:cNvPicPr>
            <a:picLocks noChangeAspect="1"/>
          </p:cNvPicPr>
          <p:nvPr/>
        </p:nvPicPr>
        <p:blipFill>
          <a:blip r:embed="rId3">
            <a:duotone>
              <a:prstClr val="black"/>
              <a:schemeClr val="accent1">
                <a:tint val="45000"/>
                <a:satMod val="400000"/>
              </a:schemeClr>
            </a:duotone>
          </a:blip>
          <a:stretch>
            <a:fillRect/>
          </a:stretch>
        </p:blipFill>
        <p:spPr>
          <a:xfrm>
            <a:off x="6686294" y="4469258"/>
            <a:ext cx="4972306" cy="14794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711792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ctr"/>
            <a:r>
              <a:rPr lang="fr-FR" sz="3600" dirty="0"/>
              <a:t>Modèle partagé (exemple JSON attendu)</a:t>
            </a:r>
          </a:p>
        </p:txBody>
      </p:sp>
      <p:pic>
        <p:nvPicPr>
          <p:cNvPr id="9" name="Espace réservé du contenu 8"/>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743200" y="2496620"/>
            <a:ext cx="6000108" cy="29692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73261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4000" dirty="0"/>
              <a:t>Bonnes pratiques autour des contrats</a:t>
            </a:r>
          </a:p>
        </p:txBody>
      </p:sp>
      <p:sp>
        <p:nvSpPr>
          <p:cNvPr id="3" name="Espace réservé du contenu 2"/>
          <p:cNvSpPr>
            <a:spLocks noGrp="1"/>
          </p:cNvSpPr>
          <p:nvPr>
            <p:ph idx="1"/>
          </p:nvPr>
        </p:nvSpPr>
        <p:spPr/>
        <p:txBody>
          <a:bodyPr>
            <a:noAutofit/>
          </a:bodyPr>
          <a:lstStyle/>
          <a:p>
            <a:pPr algn="just">
              <a:lnSpc>
                <a:spcPct val="200000"/>
              </a:lnSpc>
            </a:pPr>
            <a:r>
              <a:rPr lang="fr-FR" sz="2400" dirty="0"/>
              <a:t>Standardiser les </a:t>
            </a:r>
            <a:r>
              <a:rPr lang="fr-FR" sz="2400" dirty="0" smtClean="0"/>
              <a:t>échanges</a:t>
            </a:r>
          </a:p>
          <a:p>
            <a:pPr algn="just">
              <a:lnSpc>
                <a:spcPct val="200000"/>
              </a:lnSpc>
            </a:pPr>
            <a:r>
              <a:rPr lang="fr-FR" sz="2400" dirty="0"/>
              <a:t>Documenter les </a:t>
            </a:r>
            <a:r>
              <a:rPr lang="fr-FR" sz="2400" dirty="0" smtClean="0"/>
              <a:t>API</a:t>
            </a:r>
          </a:p>
          <a:p>
            <a:pPr algn="just">
              <a:lnSpc>
                <a:spcPct val="200000"/>
              </a:lnSpc>
            </a:pPr>
            <a:r>
              <a:rPr lang="fr-FR" sz="2400" dirty="0" err="1"/>
              <a:t>Versionner</a:t>
            </a:r>
            <a:r>
              <a:rPr lang="fr-FR" sz="2400" dirty="0"/>
              <a:t> les </a:t>
            </a:r>
            <a:r>
              <a:rPr lang="fr-FR" sz="2400" dirty="0" smtClean="0"/>
              <a:t>API</a:t>
            </a:r>
          </a:p>
          <a:p>
            <a:pPr algn="just">
              <a:lnSpc>
                <a:spcPct val="200000"/>
              </a:lnSpc>
            </a:pPr>
            <a:r>
              <a:rPr lang="fr-FR" sz="2400" dirty="0"/>
              <a:t>Gérer les erreurs </a:t>
            </a:r>
            <a:r>
              <a:rPr lang="fr-FR" sz="2400" dirty="0" smtClean="0"/>
              <a:t>proprement</a:t>
            </a:r>
          </a:p>
          <a:p>
            <a:pPr algn="just">
              <a:lnSpc>
                <a:spcPct val="200000"/>
              </a:lnSpc>
            </a:pPr>
            <a:r>
              <a:rPr lang="fr-FR" sz="2400" dirty="0"/>
              <a:t>Tests d’intégration</a:t>
            </a:r>
          </a:p>
        </p:txBody>
      </p:sp>
    </p:spTree>
    <p:extLst>
      <p:ext uri="{BB962C8B-B14F-4D97-AF65-F5344CB8AC3E}">
        <p14:creationId xmlns:p14="http://schemas.microsoft.com/office/powerpoint/2010/main" val="39374605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Standardiser les </a:t>
            </a:r>
            <a:r>
              <a:rPr lang="fr-FR" dirty="0" smtClean="0"/>
              <a:t>échanges</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Utiliser </a:t>
            </a:r>
            <a:r>
              <a:rPr lang="fr-FR" sz="2800" dirty="0" smtClean="0"/>
              <a:t>le </a:t>
            </a:r>
            <a:r>
              <a:rPr lang="fr-FR" sz="2800" dirty="0"/>
              <a:t>même format JSON (</a:t>
            </a:r>
            <a:r>
              <a:rPr lang="fr-FR" sz="2800" dirty="0" err="1"/>
              <a:t>camelCase</a:t>
            </a:r>
            <a:r>
              <a:rPr lang="fr-FR" sz="2800" dirty="0"/>
              <a:t>, types cohérents</a:t>
            </a:r>
            <a:r>
              <a:rPr lang="fr-FR" sz="2800" dirty="0" smtClean="0"/>
              <a:t>).</a:t>
            </a:r>
          </a:p>
          <a:p>
            <a:pPr algn="just">
              <a:lnSpc>
                <a:spcPct val="200000"/>
              </a:lnSpc>
            </a:pPr>
            <a:r>
              <a:rPr lang="fr-FR" sz="2800" dirty="0"/>
              <a:t>Définir des </a:t>
            </a:r>
            <a:r>
              <a:rPr lang="fr-FR" sz="2800" dirty="0" err="1"/>
              <a:t>DTOs</a:t>
            </a:r>
            <a:r>
              <a:rPr lang="fr-FR" sz="2800" dirty="0"/>
              <a:t> clairs côté </a:t>
            </a:r>
            <a:r>
              <a:rPr lang="fr-FR" sz="2800" dirty="0" err="1"/>
              <a:t>backend</a:t>
            </a:r>
            <a:r>
              <a:rPr lang="fr-FR" sz="2800" dirty="0"/>
              <a:t> et des interfaces </a:t>
            </a:r>
            <a:r>
              <a:rPr lang="fr-FR" sz="2800" dirty="0" err="1"/>
              <a:t>TypeScript</a:t>
            </a:r>
            <a:r>
              <a:rPr lang="fr-FR" sz="2800" dirty="0"/>
              <a:t> côté </a:t>
            </a:r>
            <a:r>
              <a:rPr lang="fr-FR" sz="2800" dirty="0" err="1"/>
              <a:t>frontend</a:t>
            </a:r>
            <a:r>
              <a:rPr lang="fr-FR" sz="2800" dirty="0"/>
              <a:t>.</a:t>
            </a:r>
          </a:p>
        </p:txBody>
      </p:sp>
    </p:spTree>
    <p:extLst>
      <p:ext uri="{BB962C8B-B14F-4D97-AF65-F5344CB8AC3E}">
        <p14:creationId xmlns:p14="http://schemas.microsoft.com/office/powerpoint/2010/main" val="17989284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Documenter les </a:t>
            </a:r>
            <a:r>
              <a:rPr lang="fr-FR" dirty="0" smtClean="0"/>
              <a:t>API</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nb-NO" sz="3200" dirty="0"/>
              <a:t>Utiliser </a:t>
            </a:r>
            <a:r>
              <a:rPr lang="nb-NO" sz="3200" b="1" dirty="0"/>
              <a:t>Swagger / OpenAPI</a:t>
            </a:r>
            <a:r>
              <a:rPr lang="nb-NO" sz="3200" dirty="0"/>
              <a:t> dans Spring Boot</a:t>
            </a:r>
            <a:r>
              <a:rPr lang="nb-NO" sz="3200" dirty="0" smtClean="0"/>
              <a:t>.</a:t>
            </a:r>
          </a:p>
          <a:p>
            <a:pPr lvl="1" algn="just">
              <a:lnSpc>
                <a:spcPct val="200000"/>
              </a:lnSpc>
            </a:pPr>
            <a:r>
              <a:rPr lang="fr-FR" sz="2800" dirty="0"/>
              <a:t>URL typique : /</a:t>
            </a:r>
            <a:r>
              <a:rPr lang="fr-FR" sz="2800" dirty="0" err="1"/>
              <a:t>swagger-ui</a:t>
            </a:r>
            <a:r>
              <a:rPr lang="fr-FR" sz="2800" dirty="0"/>
              <a:t>/index.html</a:t>
            </a:r>
          </a:p>
        </p:txBody>
      </p:sp>
    </p:spTree>
    <p:extLst>
      <p:ext uri="{BB962C8B-B14F-4D97-AF65-F5344CB8AC3E}">
        <p14:creationId xmlns:p14="http://schemas.microsoft.com/office/powerpoint/2010/main" val="3944017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Versionner</a:t>
            </a:r>
            <a:r>
              <a:rPr lang="fr-FR" dirty="0"/>
              <a:t> les </a:t>
            </a:r>
            <a:r>
              <a:rPr lang="fr-FR" dirty="0" smtClean="0"/>
              <a:t>API</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Exemple : /api/v1/affilies, /</a:t>
            </a:r>
            <a:r>
              <a:rPr lang="fr-FR" sz="2800" dirty="0" smtClean="0"/>
              <a:t>api/v2/affilies</a:t>
            </a:r>
          </a:p>
          <a:p>
            <a:pPr algn="just">
              <a:lnSpc>
                <a:spcPct val="200000"/>
              </a:lnSpc>
            </a:pPr>
            <a:r>
              <a:rPr lang="fr-FR" sz="2800" dirty="0"/>
              <a:t>Utile pour les évolutions sans casser le contrat existant.</a:t>
            </a:r>
          </a:p>
        </p:txBody>
      </p:sp>
    </p:spTree>
    <p:extLst>
      <p:ext uri="{BB962C8B-B14F-4D97-AF65-F5344CB8AC3E}">
        <p14:creationId xmlns:p14="http://schemas.microsoft.com/office/powerpoint/2010/main" val="40427301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Gérer les erreurs proprement</a:t>
            </a:r>
          </a:p>
        </p:txBody>
      </p:sp>
      <p:sp>
        <p:nvSpPr>
          <p:cNvPr id="3" name="Espace réservé du contenu 2"/>
          <p:cNvSpPr>
            <a:spLocks noGrp="1"/>
          </p:cNvSpPr>
          <p:nvPr>
            <p:ph idx="1"/>
          </p:nvPr>
        </p:nvSpPr>
        <p:spPr/>
        <p:txBody>
          <a:bodyPr>
            <a:normAutofit/>
          </a:bodyPr>
          <a:lstStyle/>
          <a:p>
            <a:r>
              <a:rPr lang="fr-FR" sz="3600" dirty="0"/>
              <a:t>Retourner des réponses uniformes :</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657600" y="3102795"/>
            <a:ext cx="5250094" cy="27021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767244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Tests d’intégration</a:t>
            </a:r>
          </a:p>
        </p:txBody>
      </p:sp>
      <p:sp>
        <p:nvSpPr>
          <p:cNvPr id="3" name="Espace réservé du contenu 2"/>
          <p:cNvSpPr>
            <a:spLocks noGrp="1"/>
          </p:cNvSpPr>
          <p:nvPr>
            <p:ph idx="1"/>
          </p:nvPr>
        </p:nvSpPr>
        <p:spPr/>
        <p:txBody>
          <a:bodyPr>
            <a:normAutofit/>
          </a:bodyPr>
          <a:lstStyle/>
          <a:p>
            <a:pPr algn="just">
              <a:lnSpc>
                <a:spcPct val="150000"/>
              </a:lnSpc>
            </a:pPr>
            <a:r>
              <a:rPr lang="fr-FR" sz="3200" dirty="0"/>
              <a:t>Utiliser </a:t>
            </a:r>
            <a:r>
              <a:rPr lang="fr-FR" sz="3200" b="1" dirty="0" err="1"/>
              <a:t>Postman</a:t>
            </a:r>
            <a:r>
              <a:rPr lang="fr-FR" sz="3200" dirty="0"/>
              <a:t> ou </a:t>
            </a:r>
            <a:r>
              <a:rPr lang="fr-FR" sz="3200" b="1" dirty="0" err="1"/>
              <a:t>RestAssured</a:t>
            </a:r>
            <a:r>
              <a:rPr lang="fr-FR" sz="3200" dirty="0"/>
              <a:t> pour valider le respect du contrat.</a:t>
            </a:r>
          </a:p>
        </p:txBody>
      </p:sp>
    </p:spTree>
    <p:extLst>
      <p:ext uri="{BB962C8B-B14F-4D97-AF65-F5344CB8AC3E}">
        <p14:creationId xmlns:p14="http://schemas.microsoft.com/office/powerpoint/2010/main" val="2251002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81890"/>
            <a:ext cx="10058400" cy="532510"/>
          </a:xfrm>
        </p:spPr>
        <p:txBody>
          <a:bodyPr>
            <a:normAutofit fontScale="90000"/>
          </a:bodyPr>
          <a:lstStyle/>
          <a:p>
            <a:pPr algn="ctr"/>
            <a:r>
              <a:rPr lang="fr-FR" dirty="0" smtClean="0"/>
              <a:t>Exemple : Cas </a:t>
            </a:r>
            <a:r>
              <a:rPr lang="fr-FR" dirty="0"/>
              <a:t>d’application CNSS</a:t>
            </a:r>
          </a:p>
        </p:txBody>
      </p:sp>
      <p:sp>
        <p:nvSpPr>
          <p:cNvPr id="3" name="Espace réservé du contenu 2"/>
          <p:cNvSpPr>
            <a:spLocks noGrp="1"/>
          </p:cNvSpPr>
          <p:nvPr>
            <p:ph idx="1"/>
          </p:nvPr>
        </p:nvSpPr>
        <p:spPr>
          <a:xfrm>
            <a:off x="1069848" y="1325366"/>
            <a:ext cx="10058400" cy="4846834"/>
          </a:xfrm>
        </p:spPr>
        <p:txBody>
          <a:bodyPr>
            <a:noAutofit/>
          </a:bodyPr>
          <a:lstStyle/>
          <a:p>
            <a:pPr algn="just">
              <a:lnSpc>
                <a:spcPct val="150000"/>
              </a:lnSpc>
            </a:pPr>
            <a:r>
              <a:rPr lang="fr-FR" sz="2400" dirty="0"/>
              <a:t>Application : </a:t>
            </a:r>
            <a:r>
              <a:rPr lang="fr-FR" sz="2400" i="1" dirty="0"/>
              <a:t>Gestion des cotisations </a:t>
            </a:r>
            <a:r>
              <a:rPr lang="fr-FR" sz="2400" i="1" dirty="0" smtClean="0"/>
              <a:t>sociales</a:t>
            </a:r>
          </a:p>
          <a:p>
            <a:pPr lvl="1" algn="just">
              <a:lnSpc>
                <a:spcPct val="150000"/>
              </a:lnSpc>
            </a:pPr>
            <a:r>
              <a:rPr lang="fr-FR" sz="2000" b="1" dirty="0" err="1"/>
              <a:t>Frontend</a:t>
            </a:r>
            <a:r>
              <a:rPr lang="fr-FR" sz="2000" b="1" dirty="0"/>
              <a:t> </a:t>
            </a:r>
            <a:r>
              <a:rPr lang="fr-FR" sz="2000" b="1" dirty="0" err="1"/>
              <a:t>Angular</a:t>
            </a:r>
            <a:r>
              <a:rPr lang="fr-FR" sz="2000" dirty="0"/>
              <a:t> : tableau de bord, formulaires de saisie, suivi des déclarations</a:t>
            </a:r>
            <a:r>
              <a:rPr lang="fr-FR" sz="2000" dirty="0" smtClean="0"/>
              <a:t>.</a:t>
            </a:r>
          </a:p>
          <a:p>
            <a:pPr lvl="1" algn="just">
              <a:lnSpc>
                <a:spcPct val="150000"/>
              </a:lnSpc>
            </a:pPr>
            <a:r>
              <a:rPr lang="fr-FR" sz="2000" b="1" dirty="0" err="1"/>
              <a:t>Backend</a:t>
            </a:r>
            <a:r>
              <a:rPr lang="fr-FR" sz="2000" b="1" dirty="0"/>
              <a:t> </a:t>
            </a:r>
            <a:r>
              <a:rPr lang="fr-FR" sz="2000" b="1" dirty="0" err="1"/>
              <a:t>Spring</a:t>
            </a:r>
            <a:r>
              <a:rPr lang="fr-FR" sz="2000" b="1" dirty="0"/>
              <a:t> Boot</a:t>
            </a:r>
            <a:r>
              <a:rPr lang="fr-FR" sz="2000" dirty="0"/>
              <a:t> : services REST pour la gestion des affiliés, cotisations, paiements</a:t>
            </a:r>
            <a:r>
              <a:rPr lang="fr-FR" sz="2000" dirty="0" smtClean="0"/>
              <a:t>.</a:t>
            </a:r>
          </a:p>
          <a:p>
            <a:pPr lvl="1" algn="just">
              <a:lnSpc>
                <a:spcPct val="150000"/>
              </a:lnSpc>
            </a:pPr>
            <a:r>
              <a:rPr lang="fr-FR" sz="2000" b="1" dirty="0"/>
              <a:t>Contrat de communication</a:t>
            </a:r>
            <a:r>
              <a:rPr lang="fr-FR" sz="2000" dirty="0"/>
              <a:t> </a:t>
            </a:r>
            <a:r>
              <a:rPr lang="fr-FR" sz="2000" dirty="0" smtClean="0"/>
              <a:t>:</a:t>
            </a:r>
          </a:p>
          <a:p>
            <a:pPr lvl="2" algn="just">
              <a:lnSpc>
                <a:spcPct val="150000"/>
              </a:lnSpc>
            </a:pPr>
            <a:r>
              <a:rPr lang="fr-FR" sz="1800" dirty="0"/>
              <a:t>Format JSON unique</a:t>
            </a:r>
            <a:r>
              <a:rPr lang="fr-FR" sz="1800" dirty="0" smtClean="0"/>
              <a:t>.</a:t>
            </a:r>
          </a:p>
          <a:p>
            <a:pPr lvl="2" algn="just">
              <a:lnSpc>
                <a:spcPct val="150000"/>
              </a:lnSpc>
            </a:pPr>
            <a:r>
              <a:rPr lang="fr-FR" sz="1800" dirty="0"/>
              <a:t>Authentification par </a:t>
            </a:r>
            <a:r>
              <a:rPr lang="fr-FR" sz="1800" b="1" dirty="0"/>
              <a:t>JWT</a:t>
            </a:r>
            <a:r>
              <a:rPr lang="fr-FR" sz="1800" dirty="0" smtClean="0"/>
              <a:t>.</a:t>
            </a:r>
          </a:p>
          <a:p>
            <a:pPr lvl="2" algn="just">
              <a:lnSpc>
                <a:spcPct val="150000"/>
              </a:lnSpc>
            </a:pPr>
            <a:r>
              <a:rPr lang="fr-FR" sz="1800" dirty="0"/>
              <a:t>Documentation automatique </a:t>
            </a:r>
            <a:r>
              <a:rPr lang="fr-FR" sz="1800" b="1" dirty="0" err="1"/>
              <a:t>Swagger</a:t>
            </a:r>
            <a:r>
              <a:rPr lang="fr-FR" sz="1800" dirty="0" smtClean="0"/>
              <a:t>.</a:t>
            </a:r>
          </a:p>
          <a:p>
            <a:pPr lvl="2" algn="just">
              <a:lnSpc>
                <a:spcPct val="150000"/>
              </a:lnSpc>
            </a:pPr>
            <a:r>
              <a:rPr lang="fr-FR" sz="1800" dirty="0"/>
              <a:t>Validation des entrées côté </a:t>
            </a:r>
            <a:r>
              <a:rPr lang="fr-FR" sz="1800" b="1" dirty="0" err="1"/>
              <a:t>backend</a:t>
            </a:r>
            <a:r>
              <a:rPr lang="fr-FR" sz="1800" dirty="0"/>
              <a:t> (Bean Validation).</a:t>
            </a:r>
          </a:p>
        </p:txBody>
      </p:sp>
    </p:spTree>
    <p:extLst>
      <p:ext uri="{BB962C8B-B14F-4D97-AF65-F5344CB8AC3E}">
        <p14:creationId xmlns:p14="http://schemas.microsoft.com/office/powerpoint/2010/main" val="6427007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API Externe</a:t>
            </a:r>
            <a:endParaRPr lang="fr-FR" dirty="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691747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Architecture globale</a:t>
            </a:r>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938409" y="2291138"/>
            <a:ext cx="6462445" cy="33493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74767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r"/>
            <a:r>
              <a:rPr lang="fr-FR" dirty="0"/>
              <a:t>Le contrat de communication (API </a:t>
            </a:r>
            <a:r>
              <a:rPr lang="fr-FR" dirty="0" err="1"/>
              <a:t>Contract</a:t>
            </a:r>
            <a:r>
              <a:rPr lang="fr-FR" dirty="0"/>
              <a:t>)</a:t>
            </a:r>
          </a:p>
        </p:txBody>
      </p:sp>
      <p:sp>
        <p:nvSpPr>
          <p:cNvPr id="3" name="Espace réservé du contenu 2"/>
          <p:cNvSpPr>
            <a:spLocks noGrp="1"/>
          </p:cNvSpPr>
          <p:nvPr>
            <p:ph idx="1"/>
          </p:nvPr>
        </p:nvSpPr>
        <p:spPr/>
        <p:txBody>
          <a:bodyPr>
            <a:normAutofit/>
          </a:bodyPr>
          <a:lstStyle/>
          <a:p>
            <a:pPr>
              <a:lnSpc>
                <a:spcPct val="150000"/>
              </a:lnSpc>
            </a:pPr>
            <a:r>
              <a:rPr lang="fr-FR" sz="2800" dirty="0"/>
              <a:t>Le contrat définit </a:t>
            </a:r>
            <a:r>
              <a:rPr lang="fr-FR" sz="2800" dirty="0" smtClean="0"/>
              <a:t>:</a:t>
            </a:r>
          </a:p>
          <a:p>
            <a:pPr lvl="1">
              <a:lnSpc>
                <a:spcPct val="150000"/>
              </a:lnSpc>
            </a:pPr>
            <a:r>
              <a:rPr lang="fr-FR" sz="2400" dirty="0"/>
              <a:t>Les </a:t>
            </a:r>
            <a:r>
              <a:rPr lang="fr-FR" sz="2400" dirty="0" err="1"/>
              <a:t>endpoints</a:t>
            </a:r>
            <a:r>
              <a:rPr lang="fr-FR" sz="2400" dirty="0"/>
              <a:t> (</a:t>
            </a:r>
            <a:r>
              <a:rPr lang="fr-FR" sz="2400" dirty="0" err="1"/>
              <a:t>URLs</a:t>
            </a:r>
            <a:r>
              <a:rPr lang="fr-FR" sz="2400" dirty="0" smtClean="0"/>
              <a:t>)</a:t>
            </a:r>
          </a:p>
          <a:p>
            <a:pPr lvl="1">
              <a:lnSpc>
                <a:spcPct val="150000"/>
              </a:lnSpc>
            </a:pPr>
            <a:r>
              <a:rPr lang="fr-FR" sz="2400" dirty="0" smtClean="0"/>
              <a:t>Les </a:t>
            </a:r>
            <a:r>
              <a:rPr lang="fr-FR" sz="2400" dirty="0"/>
              <a:t>méthodes HTTP (GET, POST</a:t>
            </a:r>
            <a:r>
              <a:rPr lang="fr-FR" sz="2400" dirty="0" smtClean="0"/>
              <a:t>…)</a:t>
            </a:r>
          </a:p>
          <a:p>
            <a:pPr lvl="1">
              <a:lnSpc>
                <a:spcPct val="150000"/>
              </a:lnSpc>
            </a:pPr>
            <a:r>
              <a:rPr lang="fr-FR" sz="2400" dirty="0" smtClean="0"/>
              <a:t>Le </a:t>
            </a:r>
            <a:r>
              <a:rPr lang="fr-FR" sz="2400" dirty="0"/>
              <a:t>format des données </a:t>
            </a:r>
            <a:r>
              <a:rPr lang="fr-FR" sz="2400" dirty="0" smtClean="0"/>
              <a:t>envoyées</a:t>
            </a:r>
          </a:p>
          <a:p>
            <a:pPr lvl="1">
              <a:lnSpc>
                <a:spcPct val="150000"/>
              </a:lnSpc>
            </a:pPr>
            <a:r>
              <a:rPr lang="fr-FR" sz="2400" dirty="0" smtClean="0"/>
              <a:t>Le </a:t>
            </a:r>
            <a:r>
              <a:rPr lang="fr-FR" sz="2400" dirty="0"/>
              <a:t>format des </a:t>
            </a:r>
            <a:r>
              <a:rPr lang="fr-FR" sz="2400" dirty="0" smtClean="0"/>
              <a:t>réponses</a:t>
            </a:r>
          </a:p>
          <a:p>
            <a:pPr lvl="1">
              <a:lnSpc>
                <a:spcPct val="150000"/>
              </a:lnSpc>
            </a:pPr>
            <a:r>
              <a:rPr lang="fr-FR" sz="2400" dirty="0" smtClean="0"/>
              <a:t>Les </a:t>
            </a:r>
            <a:r>
              <a:rPr lang="fr-FR" sz="2400" dirty="0"/>
              <a:t>codes d’erreur</a:t>
            </a:r>
          </a:p>
        </p:txBody>
      </p:sp>
    </p:spTree>
    <p:extLst>
      <p:ext uri="{BB962C8B-B14F-4D97-AF65-F5344CB8AC3E}">
        <p14:creationId xmlns:p14="http://schemas.microsoft.com/office/powerpoint/2010/main" val="1942881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Exemple de contrat de paiement</a:t>
            </a:r>
          </a:p>
        </p:txBody>
      </p:sp>
      <p:sp>
        <p:nvSpPr>
          <p:cNvPr id="3" name="Espace réservé du contenu 2"/>
          <p:cNvSpPr>
            <a:spLocks noGrp="1"/>
          </p:cNvSpPr>
          <p:nvPr>
            <p:ph idx="1"/>
          </p:nvPr>
        </p:nvSpPr>
        <p:spPr/>
        <p:txBody>
          <a:bodyPr/>
          <a:lstStyle/>
          <a:p>
            <a:r>
              <a:rPr lang="fr-FR" b="1" dirty="0" err="1" smtClean="0"/>
              <a:t>Endpoint</a:t>
            </a:r>
            <a:endParaRPr lang="fr-FR" b="1" dirty="0" smtClean="0"/>
          </a:p>
          <a:p>
            <a:endParaRPr lang="fr-FR" dirty="0"/>
          </a:p>
          <a:p>
            <a:endParaRPr lang="fr-FR" dirty="0" smtClean="0"/>
          </a:p>
          <a:p>
            <a:r>
              <a:rPr lang="fr-FR" b="1" dirty="0" err="1"/>
              <a:t>Request</a:t>
            </a:r>
            <a:r>
              <a:rPr lang="fr-FR" b="1" dirty="0"/>
              <a:t> (JSON</a:t>
            </a:r>
            <a:r>
              <a:rPr lang="fr-FR" b="1" dirty="0" smtClean="0"/>
              <a:t>)</a:t>
            </a:r>
          </a:p>
          <a:p>
            <a:endParaRPr lang="fr-FR" dirty="0"/>
          </a:p>
          <a:p>
            <a:endParaRPr lang="fr-FR" dirty="0" smtClean="0"/>
          </a:p>
          <a:p>
            <a:endParaRPr lang="fr-FR" dirty="0"/>
          </a:p>
          <a:p>
            <a:r>
              <a:rPr lang="fr-FR" b="1" dirty="0" err="1"/>
              <a:t>Response</a:t>
            </a:r>
            <a:r>
              <a:rPr lang="fr-FR" b="1" dirty="0"/>
              <a:t> (succès)</a:t>
            </a:r>
          </a:p>
        </p:txBody>
      </p:sp>
      <p:pic>
        <p:nvPicPr>
          <p:cNvPr id="4" name="Image 3"/>
          <p:cNvPicPr>
            <a:picLocks noChangeAspect="1"/>
          </p:cNvPicPr>
          <p:nvPr/>
        </p:nvPicPr>
        <p:blipFill>
          <a:blip r:embed="rId2">
            <a:duotone>
              <a:prstClr val="black"/>
              <a:schemeClr val="accent3">
                <a:tint val="45000"/>
                <a:satMod val="400000"/>
              </a:schemeClr>
            </a:duotone>
          </a:blip>
          <a:stretch>
            <a:fillRect/>
          </a:stretch>
        </p:blipFill>
        <p:spPr>
          <a:xfrm>
            <a:off x="5932469" y="1797541"/>
            <a:ext cx="2934129" cy="6168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duotone>
              <a:prstClr val="black"/>
              <a:schemeClr val="accent3">
                <a:tint val="45000"/>
                <a:satMod val="400000"/>
              </a:schemeClr>
            </a:duotone>
          </a:blip>
          <a:stretch>
            <a:fillRect/>
          </a:stretch>
        </p:blipFill>
        <p:spPr>
          <a:xfrm>
            <a:off x="5932470" y="2711524"/>
            <a:ext cx="2934128" cy="19015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Image 5"/>
          <p:cNvPicPr>
            <a:picLocks noChangeAspect="1"/>
          </p:cNvPicPr>
          <p:nvPr/>
        </p:nvPicPr>
        <p:blipFill>
          <a:blip r:embed="rId4">
            <a:duotone>
              <a:prstClr val="black"/>
              <a:schemeClr val="accent3">
                <a:tint val="45000"/>
                <a:satMod val="400000"/>
              </a:schemeClr>
            </a:duotone>
          </a:blip>
          <a:stretch>
            <a:fillRect/>
          </a:stretch>
        </p:blipFill>
        <p:spPr>
          <a:xfrm>
            <a:off x="5932468" y="4910194"/>
            <a:ext cx="2934129" cy="1470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52944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99697"/>
            <a:ext cx="10058400" cy="943476"/>
          </a:xfrm>
        </p:spPr>
        <p:txBody>
          <a:bodyPr/>
          <a:lstStyle/>
          <a:p>
            <a:pPr algn="ctr"/>
            <a:r>
              <a:rPr lang="fr-FR" dirty="0"/>
              <a:t>Gestion des erreurs</a:t>
            </a:r>
          </a:p>
        </p:txBody>
      </p:sp>
      <p:sp>
        <p:nvSpPr>
          <p:cNvPr id="3" name="Espace réservé du contenu 2"/>
          <p:cNvSpPr>
            <a:spLocks noGrp="1"/>
          </p:cNvSpPr>
          <p:nvPr>
            <p:ph idx="1"/>
          </p:nvPr>
        </p:nvSpPr>
        <p:spPr>
          <a:xfrm>
            <a:off x="771897" y="863030"/>
            <a:ext cx="10058400" cy="4559157"/>
          </a:xfrm>
        </p:spPr>
        <p:txBody>
          <a:bodyPr>
            <a:noAutofit/>
          </a:bodyPr>
          <a:lstStyle/>
          <a:p>
            <a:pPr>
              <a:lnSpc>
                <a:spcPct val="200000"/>
              </a:lnSpc>
            </a:pPr>
            <a:r>
              <a:rPr lang="fr-FR" sz="2800" dirty="0"/>
              <a:t>Types d’erreurs </a:t>
            </a:r>
            <a:r>
              <a:rPr lang="fr-FR" sz="2800" dirty="0" smtClean="0"/>
              <a:t>:</a:t>
            </a:r>
          </a:p>
          <a:p>
            <a:pPr lvl="1">
              <a:lnSpc>
                <a:spcPct val="200000"/>
              </a:lnSpc>
            </a:pPr>
            <a:r>
              <a:rPr lang="fr-FR" sz="2400" b="1" dirty="0"/>
              <a:t>400</a:t>
            </a:r>
            <a:r>
              <a:rPr lang="fr-FR" sz="2400" dirty="0"/>
              <a:t> : données </a:t>
            </a:r>
            <a:r>
              <a:rPr lang="fr-FR" sz="2400" dirty="0" smtClean="0"/>
              <a:t>invalides</a:t>
            </a:r>
          </a:p>
          <a:p>
            <a:pPr lvl="1">
              <a:lnSpc>
                <a:spcPct val="200000"/>
              </a:lnSpc>
            </a:pPr>
            <a:r>
              <a:rPr lang="fr-FR" sz="2400" b="1" dirty="0"/>
              <a:t>401</a:t>
            </a:r>
            <a:r>
              <a:rPr lang="fr-FR" sz="2400" dirty="0"/>
              <a:t> : non </a:t>
            </a:r>
            <a:r>
              <a:rPr lang="fr-FR" sz="2400" dirty="0" smtClean="0"/>
              <a:t>autorisé</a:t>
            </a:r>
          </a:p>
          <a:p>
            <a:pPr lvl="1">
              <a:lnSpc>
                <a:spcPct val="200000"/>
              </a:lnSpc>
            </a:pPr>
            <a:r>
              <a:rPr lang="fr-FR" sz="2400" b="1" dirty="0"/>
              <a:t>500</a:t>
            </a:r>
            <a:r>
              <a:rPr lang="fr-FR" sz="2400" dirty="0"/>
              <a:t> : erreur </a:t>
            </a:r>
            <a:r>
              <a:rPr lang="fr-FR" sz="2400" dirty="0" smtClean="0"/>
              <a:t>serveur</a:t>
            </a:r>
          </a:p>
          <a:p>
            <a:pPr>
              <a:lnSpc>
                <a:spcPct val="200000"/>
              </a:lnSpc>
            </a:pPr>
            <a:r>
              <a:rPr lang="fr-FR" sz="2800" dirty="0"/>
              <a:t>Bonnes pratiques </a:t>
            </a:r>
            <a:r>
              <a:rPr lang="fr-FR" sz="2800" dirty="0" smtClean="0"/>
              <a:t>:</a:t>
            </a:r>
          </a:p>
          <a:p>
            <a:pPr lvl="1">
              <a:lnSpc>
                <a:spcPct val="200000"/>
              </a:lnSpc>
            </a:pPr>
            <a:r>
              <a:rPr lang="fr-FR" sz="2400" dirty="0"/>
              <a:t>Messages clairs à </a:t>
            </a:r>
            <a:r>
              <a:rPr lang="fr-FR" sz="2400" dirty="0" smtClean="0"/>
              <a:t>l’utilisateur</a:t>
            </a:r>
          </a:p>
          <a:p>
            <a:pPr lvl="1">
              <a:lnSpc>
                <a:spcPct val="200000"/>
              </a:lnSpc>
            </a:pPr>
            <a:r>
              <a:rPr lang="fr-FR" sz="2400" dirty="0"/>
              <a:t>Logs techniques pour les développeurs</a:t>
            </a:r>
          </a:p>
        </p:txBody>
      </p:sp>
    </p:spTree>
    <p:extLst>
      <p:ext uri="{BB962C8B-B14F-4D97-AF65-F5344CB8AC3E}">
        <p14:creationId xmlns:p14="http://schemas.microsoft.com/office/powerpoint/2010/main" val="33617236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Sécurité (cas paiement)</a:t>
            </a:r>
          </a:p>
        </p:txBody>
      </p:sp>
      <p:sp>
        <p:nvSpPr>
          <p:cNvPr id="3" name="Espace réservé du contenu 2"/>
          <p:cNvSpPr>
            <a:spLocks noGrp="1"/>
          </p:cNvSpPr>
          <p:nvPr>
            <p:ph idx="1"/>
          </p:nvPr>
        </p:nvSpPr>
        <p:spPr/>
        <p:txBody>
          <a:bodyPr>
            <a:noAutofit/>
          </a:bodyPr>
          <a:lstStyle/>
          <a:p>
            <a:pPr algn="just">
              <a:lnSpc>
                <a:spcPct val="200000"/>
              </a:lnSpc>
            </a:pPr>
            <a:r>
              <a:rPr lang="fr-FR" sz="2800" dirty="0"/>
              <a:t>Points critiques </a:t>
            </a:r>
            <a:r>
              <a:rPr lang="fr-FR" sz="2800" dirty="0" smtClean="0"/>
              <a:t>:</a:t>
            </a:r>
          </a:p>
          <a:p>
            <a:pPr lvl="1" algn="just">
              <a:lnSpc>
                <a:spcPct val="200000"/>
              </a:lnSpc>
            </a:pPr>
            <a:r>
              <a:rPr lang="fr-FR" sz="2400" dirty="0"/>
              <a:t>HTTPS </a:t>
            </a:r>
            <a:r>
              <a:rPr lang="fr-FR" sz="2400" dirty="0" smtClean="0"/>
              <a:t>obligatoire</a:t>
            </a:r>
          </a:p>
          <a:p>
            <a:pPr lvl="1" algn="just">
              <a:lnSpc>
                <a:spcPct val="200000"/>
              </a:lnSpc>
            </a:pPr>
            <a:r>
              <a:rPr lang="fr-FR" sz="2400" dirty="0"/>
              <a:t>Jamais de données bancaires en </a:t>
            </a:r>
            <a:r>
              <a:rPr lang="fr-FR" sz="2400" dirty="0" smtClean="0"/>
              <a:t>clair</a:t>
            </a:r>
          </a:p>
          <a:p>
            <a:pPr lvl="1" algn="just">
              <a:lnSpc>
                <a:spcPct val="200000"/>
              </a:lnSpc>
            </a:pPr>
            <a:r>
              <a:rPr lang="en-US" sz="2400" dirty="0"/>
              <a:t>Token </a:t>
            </a:r>
            <a:r>
              <a:rPr lang="en-US" sz="2400" dirty="0" err="1"/>
              <a:t>d’authentification</a:t>
            </a:r>
            <a:r>
              <a:rPr lang="en-US" sz="2400" dirty="0"/>
              <a:t> (JWT / API Key</a:t>
            </a:r>
            <a:r>
              <a:rPr lang="en-US" sz="2400" dirty="0" smtClean="0"/>
              <a:t>)</a:t>
            </a:r>
          </a:p>
          <a:p>
            <a:pPr lvl="1" algn="just">
              <a:lnSpc>
                <a:spcPct val="200000"/>
              </a:lnSpc>
            </a:pPr>
            <a:r>
              <a:rPr lang="fr-FR" sz="2400" dirty="0" err="1"/>
              <a:t>Interceptor</a:t>
            </a:r>
            <a:r>
              <a:rPr lang="fr-FR" sz="2400" dirty="0"/>
              <a:t> </a:t>
            </a:r>
            <a:r>
              <a:rPr lang="fr-FR" sz="2400" dirty="0" err="1"/>
              <a:t>Angular</a:t>
            </a:r>
            <a:r>
              <a:rPr lang="fr-FR" sz="2400" dirty="0"/>
              <a:t> pour headers</a:t>
            </a:r>
          </a:p>
        </p:txBody>
      </p:sp>
    </p:spTree>
    <p:extLst>
      <p:ext uri="{BB962C8B-B14F-4D97-AF65-F5344CB8AC3E}">
        <p14:creationId xmlns:p14="http://schemas.microsoft.com/office/powerpoint/2010/main" val="1454040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6028"/>
            <a:ext cx="10058400" cy="1609344"/>
          </a:xfrm>
        </p:spPr>
        <p:txBody>
          <a:bodyPr>
            <a:normAutofit/>
          </a:bodyPr>
          <a:lstStyle/>
          <a:p>
            <a:pPr algn="ctr"/>
            <a:r>
              <a:rPr lang="fr-FR" sz="4400" dirty="0"/>
              <a:t>Bonnes pratiques professionnelles</a:t>
            </a:r>
          </a:p>
        </p:txBody>
      </p:sp>
      <p:sp>
        <p:nvSpPr>
          <p:cNvPr id="3" name="Espace réservé du contenu 2"/>
          <p:cNvSpPr>
            <a:spLocks noGrp="1"/>
          </p:cNvSpPr>
          <p:nvPr>
            <p:ph idx="1"/>
          </p:nvPr>
        </p:nvSpPr>
        <p:spPr>
          <a:xfrm>
            <a:off x="1069848" y="1422765"/>
            <a:ext cx="10058400" cy="4050792"/>
          </a:xfrm>
        </p:spPr>
        <p:txBody>
          <a:bodyPr>
            <a:noAutofit/>
          </a:bodyPr>
          <a:lstStyle/>
          <a:p>
            <a:pPr algn="just">
              <a:lnSpc>
                <a:spcPct val="200000"/>
              </a:lnSpc>
            </a:pPr>
            <a:r>
              <a:rPr lang="fr-FR" sz="2800" dirty="0"/>
              <a:t>Toujours </a:t>
            </a:r>
            <a:r>
              <a:rPr lang="fr-FR" sz="2800" dirty="0" smtClean="0"/>
              <a:t>:</a:t>
            </a:r>
          </a:p>
          <a:p>
            <a:pPr lvl="1" algn="just">
              <a:lnSpc>
                <a:spcPct val="200000"/>
              </a:lnSpc>
            </a:pPr>
            <a:r>
              <a:rPr lang="fr-FR" sz="2400" dirty="0"/>
              <a:t>Respecter le contrat </a:t>
            </a:r>
            <a:r>
              <a:rPr lang="fr-FR" sz="2400" b="1" dirty="0" smtClean="0"/>
              <a:t>API</a:t>
            </a:r>
          </a:p>
          <a:p>
            <a:pPr lvl="1" algn="just">
              <a:lnSpc>
                <a:spcPct val="200000"/>
              </a:lnSpc>
            </a:pPr>
            <a:r>
              <a:rPr lang="fr-FR" sz="2400" dirty="0"/>
              <a:t>Utiliser des interfaces </a:t>
            </a:r>
            <a:r>
              <a:rPr lang="fr-FR" sz="2400" b="1" dirty="0" err="1" smtClean="0"/>
              <a:t>TypeScript</a:t>
            </a:r>
            <a:endParaRPr lang="fr-FR" sz="2400" b="1" dirty="0" smtClean="0"/>
          </a:p>
          <a:p>
            <a:pPr lvl="1" algn="just">
              <a:lnSpc>
                <a:spcPct val="200000"/>
              </a:lnSpc>
            </a:pPr>
            <a:r>
              <a:rPr lang="fr-FR" sz="2400" dirty="0"/>
              <a:t>Centraliser les appels dans des </a:t>
            </a:r>
            <a:r>
              <a:rPr lang="fr-FR" sz="2400" dirty="0" smtClean="0"/>
              <a:t>services</a:t>
            </a:r>
          </a:p>
          <a:p>
            <a:pPr lvl="1" algn="just">
              <a:lnSpc>
                <a:spcPct val="200000"/>
              </a:lnSpc>
            </a:pPr>
            <a:r>
              <a:rPr lang="fr-FR" sz="2400" dirty="0"/>
              <a:t>Tester avec </a:t>
            </a:r>
            <a:r>
              <a:rPr lang="fr-FR" sz="2400" b="1" dirty="0" err="1"/>
              <a:t>Postman</a:t>
            </a:r>
            <a:r>
              <a:rPr lang="fr-FR" sz="2400" dirty="0"/>
              <a:t> / </a:t>
            </a:r>
            <a:r>
              <a:rPr lang="fr-FR" sz="2400" b="1" dirty="0" err="1" smtClean="0"/>
              <a:t>Swagger</a:t>
            </a:r>
            <a:endParaRPr lang="fr-FR" sz="2400" b="1" dirty="0" smtClean="0"/>
          </a:p>
          <a:p>
            <a:pPr lvl="1" algn="just">
              <a:lnSpc>
                <a:spcPct val="200000"/>
              </a:lnSpc>
            </a:pPr>
            <a:r>
              <a:rPr lang="fr-FR" sz="2400" dirty="0"/>
              <a:t>Gérer les erreurs</a:t>
            </a:r>
          </a:p>
        </p:txBody>
      </p:sp>
    </p:spTree>
    <p:extLst>
      <p:ext uri="{BB962C8B-B14F-4D97-AF65-F5344CB8AC3E}">
        <p14:creationId xmlns:p14="http://schemas.microsoft.com/office/powerpoint/2010/main" val="11881812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Conclusion</a:t>
            </a:r>
          </a:p>
        </p:txBody>
      </p:sp>
      <p:sp>
        <p:nvSpPr>
          <p:cNvPr id="3" name="Espace réservé du contenu 2"/>
          <p:cNvSpPr>
            <a:spLocks noGrp="1"/>
          </p:cNvSpPr>
          <p:nvPr>
            <p:ph idx="1"/>
          </p:nvPr>
        </p:nvSpPr>
        <p:spPr/>
        <p:txBody>
          <a:bodyPr>
            <a:normAutofit/>
          </a:bodyPr>
          <a:lstStyle/>
          <a:p>
            <a:pPr>
              <a:lnSpc>
                <a:spcPct val="200000"/>
              </a:lnSpc>
            </a:pPr>
            <a:r>
              <a:rPr lang="fr-FR" sz="2800" dirty="0" err="1"/>
              <a:t>Angular</a:t>
            </a:r>
            <a:r>
              <a:rPr lang="fr-FR" sz="2800" dirty="0"/>
              <a:t> consomme des API via </a:t>
            </a:r>
            <a:r>
              <a:rPr lang="fr-FR" sz="2800" dirty="0" err="1" smtClean="0"/>
              <a:t>HttpClient</a:t>
            </a:r>
            <a:endParaRPr lang="fr-FR" sz="2800" dirty="0" smtClean="0"/>
          </a:p>
          <a:p>
            <a:pPr>
              <a:lnSpc>
                <a:spcPct val="200000"/>
              </a:lnSpc>
            </a:pPr>
            <a:r>
              <a:rPr lang="fr-FR" sz="2800" dirty="0"/>
              <a:t>Le </a:t>
            </a:r>
            <a:r>
              <a:rPr lang="fr-FR" sz="2800" b="1" dirty="0"/>
              <a:t>contrat de communication est </a:t>
            </a:r>
            <a:r>
              <a:rPr lang="fr-FR" sz="2800" b="1" dirty="0" smtClean="0"/>
              <a:t>fondamental</a:t>
            </a:r>
          </a:p>
          <a:p>
            <a:pPr>
              <a:lnSpc>
                <a:spcPct val="200000"/>
              </a:lnSpc>
            </a:pPr>
            <a:r>
              <a:rPr lang="fr-FR" sz="2800" dirty="0"/>
              <a:t>Le cas paiement exige rigueur et </a:t>
            </a:r>
            <a:r>
              <a:rPr lang="fr-FR" sz="2800" dirty="0" smtClean="0"/>
              <a:t>sécurité</a:t>
            </a:r>
          </a:p>
          <a:p>
            <a:pPr>
              <a:lnSpc>
                <a:spcPct val="200000"/>
              </a:lnSpc>
            </a:pPr>
            <a:r>
              <a:rPr lang="fr-FR" sz="2800" dirty="0"/>
              <a:t>Une bonne architecture = application fiable</a:t>
            </a:r>
          </a:p>
        </p:txBody>
      </p:sp>
    </p:spTree>
    <p:extLst>
      <p:ext uri="{BB962C8B-B14F-4D97-AF65-F5344CB8AC3E}">
        <p14:creationId xmlns:p14="http://schemas.microsoft.com/office/powerpoint/2010/main" val="3554468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pPr algn="ctr"/>
            <a:r>
              <a:rPr lang="fr-FR" sz="4400" dirty="0"/>
              <a:t>Programmation réactive avec </a:t>
            </a:r>
            <a:r>
              <a:rPr lang="fr-FR" sz="4400" dirty="0" err="1"/>
              <a:t>RxJS</a:t>
            </a:r>
            <a:endParaRPr lang="fr-FR" sz="4400" dirty="0"/>
          </a:p>
        </p:txBody>
      </p:sp>
      <p:sp>
        <p:nvSpPr>
          <p:cNvPr id="5" name="Sous-titre 4"/>
          <p:cNvSpPr>
            <a:spLocks noGrp="1"/>
          </p:cNvSpPr>
          <p:nvPr>
            <p:ph type="subTitle" idx="1"/>
          </p:nvPr>
        </p:nvSpPr>
        <p:spPr/>
        <p:txBody>
          <a:bodyPr/>
          <a:lstStyle/>
          <a:p>
            <a:endParaRPr lang="fr-FR"/>
          </a:p>
        </p:txBody>
      </p:sp>
    </p:spTree>
    <p:extLst>
      <p:ext uri="{BB962C8B-B14F-4D97-AF65-F5344CB8AC3E}">
        <p14:creationId xmlns:p14="http://schemas.microsoft.com/office/powerpoint/2010/main" val="24775477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Plan </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Programmation </a:t>
            </a:r>
            <a:r>
              <a:rPr lang="fr-FR" sz="2800" dirty="0" smtClean="0"/>
              <a:t>asynchrone</a:t>
            </a:r>
          </a:p>
          <a:p>
            <a:pPr algn="just">
              <a:lnSpc>
                <a:spcPct val="200000"/>
              </a:lnSpc>
            </a:pPr>
            <a:r>
              <a:rPr lang="fr-FR" sz="2800" dirty="0" smtClean="0"/>
              <a:t>Gestion </a:t>
            </a:r>
            <a:r>
              <a:rPr lang="fr-FR" sz="2800" dirty="0"/>
              <a:t>des flux de </a:t>
            </a:r>
            <a:r>
              <a:rPr lang="fr-FR" sz="2800" dirty="0" smtClean="0"/>
              <a:t>données</a:t>
            </a:r>
          </a:p>
          <a:p>
            <a:pPr algn="just">
              <a:lnSpc>
                <a:spcPct val="200000"/>
              </a:lnSpc>
            </a:pPr>
            <a:r>
              <a:rPr lang="fr-FR" sz="2800" dirty="0" err="1" smtClean="0"/>
              <a:t>RxJS</a:t>
            </a:r>
            <a:r>
              <a:rPr lang="fr-FR" sz="2800" dirty="0" smtClean="0"/>
              <a:t> </a:t>
            </a:r>
            <a:r>
              <a:rPr lang="fr-FR" sz="2800" dirty="0"/>
              <a:t>dans </a:t>
            </a:r>
            <a:r>
              <a:rPr lang="fr-FR" sz="2800" dirty="0" err="1" smtClean="0"/>
              <a:t>Angular</a:t>
            </a:r>
            <a:endParaRPr lang="fr-FR" sz="2800" dirty="0" smtClean="0"/>
          </a:p>
          <a:p>
            <a:pPr algn="just">
              <a:lnSpc>
                <a:spcPct val="200000"/>
              </a:lnSpc>
            </a:pPr>
            <a:r>
              <a:rPr lang="fr-FR" sz="2800" dirty="0" smtClean="0"/>
              <a:t>Cas </a:t>
            </a:r>
            <a:r>
              <a:rPr lang="fr-FR" sz="2800" dirty="0"/>
              <a:t>pratique : flux utilisateurs</a:t>
            </a:r>
          </a:p>
        </p:txBody>
      </p:sp>
    </p:spTree>
    <p:extLst>
      <p:ext uri="{BB962C8B-B14F-4D97-AF65-F5344CB8AC3E}">
        <p14:creationId xmlns:p14="http://schemas.microsoft.com/office/powerpoint/2010/main" val="1951288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28752" y="207230"/>
            <a:ext cx="10058400" cy="1609344"/>
          </a:xfrm>
        </p:spPr>
        <p:txBody>
          <a:bodyPr/>
          <a:lstStyle/>
          <a:p>
            <a:pPr algn="ctr"/>
            <a:r>
              <a:rPr lang="fr-FR" dirty="0"/>
              <a:t>Objectifs</a:t>
            </a:r>
          </a:p>
        </p:txBody>
      </p:sp>
      <p:sp>
        <p:nvSpPr>
          <p:cNvPr id="3" name="Espace réservé du contenu 2"/>
          <p:cNvSpPr>
            <a:spLocks noGrp="1"/>
          </p:cNvSpPr>
          <p:nvPr>
            <p:ph idx="1"/>
          </p:nvPr>
        </p:nvSpPr>
        <p:spPr>
          <a:xfrm>
            <a:off x="895187" y="1484410"/>
            <a:ext cx="10058400" cy="4050792"/>
          </a:xfrm>
        </p:spPr>
        <p:txBody>
          <a:bodyPr>
            <a:noAutofit/>
          </a:bodyPr>
          <a:lstStyle/>
          <a:p>
            <a:pPr algn="just">
              <a:lnSpc>
                <a:spcPct val="200000"/>
              </a:lnSpc>
            </a:pPr>
            <a:r>
              <a:rPr lang="fr-FR" sz="2800" dirty="0"/>
              <a:t>Comprendre les concepts </a:t>
            </a:r>
            <a:r>
              <a:rPr lang="fr-FR" sz="2800" dirty="0" err="1" smtClean="0"/>
              <a:t>RxJS</a:t>
            </a:r>
            <a:endParaRPr lang="fr-FR" sz="2800" dirty="0" smtClean="0"/>
          </a:p>
          <a:p>
            <a:pPr algn="just">
              <a:lnSpc>
                <a:spcPct val="200000"/>
              </a:lnSpc>
            </a:pPr>
            <a:r>
              <a:rPr lang="fr-FR" sz="2800" dirty="0" smtClean="0"/>
              <a:t>Manipuler </a:t>
            </a:r>
            <a:r>
              <a:rPr lang="fr-FR" sz="2800" dirty="0"/>
              <a:t>les </a:t>
            </a:r>
            <a:r>
              <a:rPr lang="fr-FR" sz="2800" dirty="0" smtClean="0"/>
              <a:t>Observables</a:t>
            </a:r>
          </a:p>
          <a:p>
            <a:pPr algn="just">
              <a:lnSpc>
                <a:spcPct val="200000"/>
              </a:lnSpc>
            </a:pPr>
            <a:r>
              <a:rPr lang="fr-FR" sz="2800" dirty="0" smtClean="0"/>
              <a:t>Utiliser </a:t>
            </a:r>
            <a:r>
              <a:rPr lang="fr-FR" sz="2800" dirty="0"/>
              <a:t>les principaux </a:t>
            </a:r>
            <a:r>
              <a:rPr lang="fr-FR" sz="2800" dirty="0" smtClean="0"/>
              <a:t>opérateurs</a:t>
            </a:r>
          </a:p>
          <a:p>
            <a:pPr algn="just">
              <a:lnSpc>
                <a:spcPct val="200000"/>
              </a:lnSpc>
            </a:pPr>
            <a:r>
              <a:rPr lang="fr-FR" sz="2800" dirty="0" smtClean="0"/>
              <a:t>Gérer </a:t>
            </a:r>
            <a:r>
              <a:rPr lang="fr-FR" sz="2800" dirty="0"/>
              <a:t>un flux de données </a:t>
            </a:r>
            <a:r>
              <a:rPr lang="fr-FR" sz="2800" dirty="0" smtClean="0"/>
              <a:t>utilisateurs</a:t>
            </a:r>
          </a:p>
          <a:p>
            <a:pPr algn="just">
              <a:lnSpc>
                <a:spcPct val="200000"/>
              </a:lnSpc>
            </a:pPr>
            <a:r>
              <a:rPr lang="fr-FR" sz="2800" dirty="0" smtClean="0"/>
              <a:t>Écrire </a:t>
            </a:r>
            <a:r>
              <a:rPr lang="fr-FR" sz="2800" dirty="0"/>
              <a:t>un code </a:t>
            </a:r>
            <a:r>
              <a:rPr lang="fr-FR" sz="2800" dirty="0" err="1"/>
              <a:t>Angular</a:t>
            </a:r>
            <a:r>
              <a:rPr lang="fr-FR" sz="2800" dirty="0"/>
              <a:t> réactif et propre</a:t>
            </a:r>
          </a:p>
        </p:txBody>
      </p:sp>
    </p:spTree>
    <p:extLst>
      <p:ext uri="{BB962C8B-B14F-4D97-AF65-F5344CB8AC3E}">
        <p14:creationId xmlns:p14="http://schemas.microsoft.com/office/powerpoint/2010/main" val="6083318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238052"/>
            <a:ext cx="10058400" cy="830460"/>
          </a:xfrm>
        </p:spPr>
        <p:txBody>
          <a:bodyPr/>
          <a:lstStyle/>
          <a:p>
            <a:pPr algn="ctr"/>
            <a:r>
              <a:rPr lang="fr-FR" dirty="0"/>
              <a:t>Pourquoi </a:t>
            </a:r>
            <a:r>
              <a:rPr lang="fr-FR" dirty="0" err="1"/>
              <a:t>RxJS</a:t>
            </a:r>
            <a:r>
              <a:rPr lang="fr-FR" dirty="0"/>
              <a:t> dans </a:t>
            </a:r>
            <a:r>
              <a:rPr lang="fr-FR" dirty="0" err="1"/>
              <a:t>Angular</a:t>
            </a:r>
            <a:r>
              <a:rPr lang="fr-FR" dirty="0"/>
              <a:t> ?</a:t>
            </a:r>
          </a:p>
        </p:txBody>
      </p:sp>
      <p:sp>
        <p:nvSpPr>
          <p:cNvPr id="3" name="Espace réservé du contenu 2"/>
          <p:cNvSpPr>
            <a:spLocks noGrp="1"/>
          </p:cNvSpPr>
          <p:nvPr>
            <p:ph idx="1"/>
          </p:nvPr>
        </p:nvSpPr>
        <p:spPr>
          <a:xfrm>
            <a:off x="1069848" y="1263721"/>
            <a:ext cx="10058400" cy="4908479"/>
          </a:xfrm>
        </p:spPr>
        <p:txBody>
          <a:bodyPr>
            <a:noAutofit/>
          </a:bodyPr>
          <a:lstStyle/>
          <a:p>
            <a:pPr algn="just">
              <a:lnSpc>
                <a:spcPct val="150000"/>
              </a:lnSpc>
            </a:pPr>
            <a:r>
              <a:rPr lang="fr-FR" sz="2400" dirty="0"/>
              <a:t>Pourquoi </a:t>
            </a:r>
            <a:r>
              <a:rPr lang="fr-FR" sz="2400" b="1" dirty="0" err="1"/>
              <a:t>RxJS</a:t>
            </a:r>
            <a:r>
              <a:rPr lang="fr-FR" sz="2400" dirty="0"/>
              <a:t> dans </a:t>
            </a:r>
            <a:r>
              <a:rPr lang="fr-FR" sz="2400" dirty="0" err="1"/>
              <a:t>Angular</a:t>
            </a:r>
            <a:r>
              <a:rPr lang="fr-FR" sz="2400" dirty="0"/>
              <a:t> </a:t>
            </a:r>
            <a:r>
              <a:rPr lang="fr-FR" sz="2400" dirty="0" smtClean="0"/>
              <a:t>?</a:t>
            </a:r>
          </a:p>
          <a:p>
            <a:pPr lvl="1" algn="just">
              <a:lnSpc>
                <a:spcPct val="150000"/>
              </a:lnSpc>
            </a:pPr>
            <a:r>
              <a:rPr lang="fr-FR" sz="2000" dirty="0"/>
              <a:t>Requêtes </a:t>
            </a:r>
            <a:r>
              <a:rPr lang="fr-FR" sz="2000" dirty="0" smtClean="0"/>
              <a:t>HTTP</a:t>
            </a:r>
          </a:p>
          <a:p>
            <a:pPr lvl="1" algn="just">
              <a:lnSpc>
                <a:spcPct val="150000"/>
              </a:lnSpc>
            </a:pPr>
            <a:r>
              <a:rPr lang="fr-FR" sz="2000" dirty="0" smtClean="0"/>
              <a:t>Événements utilisateur</a:t>
            </a:r>
          </a:p>
          <a:p>
            <a:pPr lvl="1" algn="just">
              <a:lnSpc>
                <a:spcPct val="150000"/>
              </a:lnSpc>
            </a:pPr>
            <a:r>
              <a:rPr lang="fr-FR" sz="2000" dirty="0" err="1" smtClean="0"/>
              <a:t>WebSocket</a:t>
            </a:r>
            <a:endParaRPr lang="fr-FR" sz="2000" dirty="0" smtClean="0"/>
          </a:p>
          <a:p>
            <a:pPr lvl="1" algn="just">
              <a:lnSpc>
                <a:spcPct val="150000"/>
              </a:lnSpc>
            </a:pPr>
            <a:r>
              <a:rPr lang="fr-FR" sz="2000" dirty="0" smtClean="0"/>
              <a:t>Formulaires</a:t>
            </a:r>
          </a:p>
          <a:p>
            <a:pPr lvl="1" algn="just">
              <a:lnSpc>
                <a:spcPct val="150000"/>
              </a:lnSpc>
            </a:pPr>
            <a:r>
              <a:rPr lang="fr-FR" sz="2000" dirty="0" err="1" smtClean="0"/>
              <a:t>Timers</a:t>
            </a:r>
            <a:endParaRPr lang="fr-FR" sz="2000" dirty="0" smtClean="0"/>
          </a:p>
          <a:p>
            <a:pPr algn="just">
              <a:lnSpc>
                <a:spcPct val="150000"/>
              </a:lnSpc>
            </a:pPr>
            <a:r>
              <a:rPr lang="fr-FR" sz="2400" b="1" dirty="0" err="1"/>
              <a:t>RxJS</a:t>
            </a:r>
            <a:r>
              <a:rPr lang="fr-FR" sz="2400" dirty="0"/>
              <a:t> permet de </a:t>
            </a:r>
            <a:r>
              <a:rPr lang="fr-FR" sz="2400" dirty="0" smtClean="0"/>
              <a:t>:</a:t>
            </a:r>
          </a:p>
          <a:p>
            <a:pPr lvl="1" algn="just">
              <a:lnSpc>
                <a:spcPct val="150000"/>
              </a:lnSpc>
            </a:pPr>
            <a:r>
              <a:rPr lang="fr-FR" sz="2000" dirty="0"/>
              <a:t>Gérer l’asynchrone </a:t>
            </a:r>
            <a:r>
              <a:rPr lang="fr-FR" sz="2000" dirty="0" smtClean="0"/>
              <a:t>proprement</a:t>
            </a:r>
          </a:p>
          <a:p>
            <a:pPr lvl="1" algn="just">
              <a:lnSpc>
                <a:spcPct val="150000"/>
              </a:lnSpc>
            </a:pPr>
            <a:r>
              <a:rPr lang="fr-FR" sz="2000" dirty="0" smtClean="0"/>
              <a:t>Éviter </a:t>
            </a:r>
            <a:r>
              <a:rPr lang="fr-FR" sz="2000" dirty="0"/>
              <a:t>les callbacks </a:t>
            </a:r>
            <a:r>
              <a:rPr lang="fr-FR" sz="2000" dirty="0" smtClean="0"/>
              <a:t>imbriqués</a:t>
            </a:r>
          </a:p>
          <a:p>
            <a:pPr lvl="1" algn="just">
              <a:lnSpc>
                <a:spcPct val="150000"/>
              </a:lnSpc>
            </a:pPr>
            <a:r>
              <a:rPr lang="fr-FR" sz="2000" dirty="0" smtClean="0"/>
              <a:t>Composer </a:t>
            </a:r>
            <a:r>
              <a:rPr lang="fr-FR" sz="2000" dirty="0"/>
              <a:t>des flux complexes</a:t>
            </a:r>
          </a:p>
        </p:txBody>
      </p:sp>
    </p:spTree>
    <p:extLst>
      <p:ext uri="{BB962C8B-B14F-4D97-AF65-F5344CB8AC3E}">
        <p14:creationId xmlns:p14="http://schemas.microsoft.com/office/powerpoint/2010/main" val="3485965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Concepts de base </a:t>
            </a:r>
            <a:r>
              <a:rPr lang="fr-FR" dirty="0" err="1"/>
              <a:t>RxJS</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3 piliers fondamentaux </a:t>
            </a:r>
            <a:r>
              <a:rPr lang="fr-FR" sz="2800" dirty="0" smtClean="0"/>
              <a:t>:</a:t>
            </a:r>
          </a:p>
          <a:p>
            <a:pPr marL="617220" lvl="1" indent="-342900" algn="just">
              <a:lnSpc>
                <a:spcPct val="200000"/>
              </a:lnSpc>
              <a:buFont typeface="+mj-lt"/>
              <a:buAutoNum type="arabicPeriod"/>
            </a:pPr>
            <a:r>
              <a:rPr lang="fr-FR" sz="2400" b="1" dirty="0"/>
              <a:t>Observable</a:t>
            </a:r>
            <a:r>
              <a:rPr lang="fr-FR" sz="2400" dirty="0"/>
              <a:t> → source de </a:t>
            </a:r>
            <a:r>
              <a:rPr lang="fr-FR" sz="2400" dirty="0" smtClean="0"/>
              <a:t>données</a:t>
            </a:r>
          </a:p>
          <a:p>
            <a:pPr marL="617220" lvl="1" indent="-342900" algn="just">
              <a:lnSpc>
                <a:spcPct val="200000"/>
              </a:lnSpc>
              <a:buFont typeface="+mj-lt"/>
              <a:buAutoNum type="arabicPeriod"/>
            </a:pPr>
            <a:r>
              <a:rPr lang="fr-FR" sz="2400" b="1" dirty="0" smtClean="0"/>
              <a:t>Observer</a:t>
            </a:r>
            <a:r>
              <a:rPr lang="fr-FR" sz="2400" dirty="0" smtClean="0"/>
              <a:t> </a:t>
            </a:r>
            <a:r>
              <a:rPr lang="fr-FR" sz="2400" dirty="0"/>
              <a:t>→ </a:t>
            </a:r>
            <a:r>
              <a:rPr lang="fr-FR" sz="2400" dirty="0" smtClean="0"/>
              <a:t>consommateur</a:t>
            </a:r>
          </a:p>
          <a:p>
            <a:pPr marL="617220" lvl="1" indent="-342900" algn="just">
              <a:lnSpc>
                <a:spcPct val="200000"/>
              </a:lnSpc>
              <a:buFont typeface="+mj-lt"/>
              <a:buAutoNum type="arabicPeriod"/>
            </a:pPr>
            <a:r>
              <a:rPr lang="fr-FR" sz="2400" b="1" dirty="0" err="1" smtClean="0"/>
              <a:t>Subscription</a:t>
            </a:r>
            <a:r>
              <a:rPr lang="fr-FR" sz="2400" dirty="0" smtClean="0"/>
              <a:t> </a:t>
            </a:r>
            <a:r>
              <a:rPr lang="fr-FR" sz="2400" dirty="0"/>
              <a:t>→ lien entre les </a:t>
            </a:r>
            <a:r>
              <a:rPr lang="fr-FR" sz="2400" dirty="0" smtClean="0"/>
              <a:t>deux</a:t>
            </a:r>
          </a:p>
          <a:p>
            <a:pPr marL="342900" indent="-342900" algn="just">
              <a:lnSpc>
                <a:spcPct val="200000"/>
              </a:lnSpc>
              <a:buFont typeface="+mj-lt"/>
              <a:buAutoNum type="arabicPeriod"/>
            </a:pPr>
            <a:endParaRPr lang="fr-FR" sz="28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890552" y="3172018"/>
            <a:ext cx="2969232" cy="13075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45756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30520"/>
            <a:ext cx="10058400" cy="727719"/>
          </a:xfrm>
        </p:spPr>
        <p:txBody>
          <a:bodyPr>
            <a:normAutofit fontScale="90000"/>
          </a:bodyPr>
          <a:lstStyle/>
          <a:p>
            <a:pPr algn="ctr"/>
            <a:r>
              <a:rPr lang="fr-FR" dirty="0"/>
              <a:t>Observable</a:t>
            </a:r>
          </a:p>
        </p:txBody>
      </p:sp>
      <p:sp>
        <p:nvSpPr>
          <p:cNvPr id="3" name="Espace réservé du contenu 2"/>
          <p:cNvSpPr>
            <a:spLocks noGrp="1"/>
          </p:cNvSpPr>
          <p:nvPr>
            <p:ph idx="1"/>
          </p:nvPr>
        </p:nvSpPr>
        <p:spPr>
          <a:xfrm>
            <a:off x="1069848" y="1412491"/>
            <a:ext cx="10058400" cy="4050792"/>
          </a:xfrm>
        </p:spPr>
        <p:txBody>
          <a:bodyPr>
            <a:noAutofit/>
          </a:bodyPr>
          <a:lstStyle/>
          <a:p>
            <a:pPr algn="just">
              <a:lnSpc>
                <a:spcPct val="150000"/>
              </a:lnSpc>
            </a:pPr>
            <a:r>
              <a:rPr lang="fr-FR" sz="2400" dirty="0"/>
              <a:t>Un </a:t>
            </a:r>
            <a:r>
              <a:rPr lang="fr-FR" sz="2400" b="1" dirty="0"/>
              <a:t>Observable</a:t>
            </a:r>
            <a:r>
              <a:rPr lang="fr-FR" sz="2400" dirty="0"/>
              <a:t> </a:t>
            </a:r>
            <a:r>
              <a:rPr lang="fr-FR" sz="2400" dirty="0" smtClean="0"/>
              <a:t>:</a:t>
            </a:r>
          </a:p>
          <a:p>
            <a:pPr lvl="1" algn="just">
              <a:lnSpc>
                <a:spcPct val="150000"/>
              </a:lnSpc>
            </a:pPr>
            <a:r>
              <a:rPr lang="fr-FR" sz="2000" dirty="0"/>
              <a:t>Émet 0, 1 ou plusieurs </a:t>
            </a:r>
            <a:r>
              <a:rPr lang="fr-FR" sz="2000" dirty="0" smtClean="0"/>
              <a:t>valeurs</a:t>
            </a:r>
          </a:p>
          <a:p>
            <a:pPr lvl="1" algn="just">
              <a:lnSpc>
                <a:spcPct val="150000"/>
              </a:lnSpc>
            </a:pPr>
            <a:r>
              <a:rPr lang="fr-FR" sz="2000" dirty="0"/>
              <a:t>Peut être synchrone ou </a:t>
            </a:r>
            <a:r>
              <a:rPr lang="fr-FR" sz="2000" dirty="0" smtClean="0"/>
              <a:t>asynchrone</a:t>
            </a:r>
          </a:p>
          <a:p>
            <a:pPr lvl="1" algn="just">
              <a:lnSpc>
                <a:spcPct val="150000"/>
              </a:lnSpc>
            </a:pPr>
            <a:r>
              <a:rPr lang="fr-FR" sz="2000" dirty="0"/>
              <a:t>Peut se terminer ou lever une </a:t>
            </a:r>
            <a:r>
              <a:rPr lang="fr-FR" sz="2000" dirty="0" smtClean="0"/>
              <a:t>erreur</a:t>
            </a:r>
          </a:p>
          <a:p>
            <a:pPr algn="just">
              <a:lnSpc>
                <a:spcPct val="150000"/>
              </a:lnSpc>
            </a:pPr>
            <a:r>
              <a:rPr lang="fr-FR" sz="2400" dirty="0"/>
              <a:t>Exemples </a:t>
            </a:r>
            <a:r>
              <a:rPr lang="fr-FR" sz="2400" dirty="0" smtClean="0"/>
              <a:t>:</a:t>
            </a:r>
          </a:p>
          <a:p>
            <a:pPr lvl="1" algn="just">
              <a:lnSpc>
                <a:spcPct val="150000"/>
              </a:lnSpc>
            </a:pPr>
            <a:r>
              <a:rPr lang="fr-FR" sz="2000" b="1" dirty="0" smtClean="0"/>
              <a:t>HTTP</a:t>
            </a:r>
          </a:p>
          <a:p>
            <a:pPr lvl="1" algn="just">
              <a:lnSpc>
                <a:spcPct val="150000"/>
              </a:lnSpc>
            </a:pPr>
            <a:r>
              <a:rPr lang="fr-FR" sz="2000" b="1" dirty="0" smtClean="0"/>
              <a:t>Click</a:t>
            </a:r>
            <a:r>
              <a:rPr lang="fr-FR" sz="2000" dirty="0" smtClean="0"/>
              <a:t> </a:t>
            </a:r>
            <a:r>
              <a:rPr lang="fr-FR" sz="2000" b="1" dirty="0" smtClean="0"/>
              <a:t>bouton</a:t>
            </a:r>
          </a:p>
          <a:p>
            <a:pPr lvl="1" algn="just">
              <a:lnSpc>
                <a:spcPct val="150000"/>
              </a:lnSpc>
            </a:pPr>
            <a:r>
              <a:rPr lang="fr-FR" sz="2000" b="1" dirty="0" err="1" smtClean="0"/>
              <a:t>Timer</a:t>
            </a:r>
            <a:endParaRPr lang="fr-FR" sz="2000" b="1" dirty="0" smtClean="0"/>
          </a:p>
          <a:p>
            <a:pPr lvl="1" algn="just">
              <a:lnSpc>
                <a:spcPct val="150000"/>
              </a:lnSpc>
            </a:pPr>
            <a:r>
              <a:rPr lang="fr-FR" sz="2000" b="1" dirty="0" smtClean="0"/>
              <a:t>Flux</a:t>
            </a:r>
            <a:r>
              <a:rPr lang="fr-FR" sz="2000" dirty="0" smtClean="0"/>
              <a:t> </a:t>
            </a:r>
            <a:r>
              <a:rPr lang="fr-FR" sz="2000" b="1" dirty="0"/>
              <a:t>utilisateurs</a:t>
            </a:r>
          </a:p>
        </p:txBody>
      </p:sp>
    </p:spTree>
    <p:extLst>
      <p:ext uri="{BB962C8B-B14F-4D97-AF65-F5344CB8AC3E}">
        <p14:creationId xmlns:p14="http://schemas.microsoft.com/office/powerpoint/2010/main" val="5958576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09972"/>
            <a:ext cx="10058400" cy="789364"/>
          </a:xfrm>
        </p:spPr>
        <p:txBody>
          <a:bodyPr/>
          <a:lstStyle/>
          <a:p>
            <a:pPr algn="ctr"/>
            <a:r>
              <a:rPr lang="fr-FR" dirty="0"/>
              <a:t>Observer</a:t>
            </a:r>
          </a:p>
        </p:txBody>
      </p:sp>
      <p:sp>
        <p:nvSpPr>
          <p:cNvPr id="3" name="Espace réservé du contenu 2"/>
          <p:cNvSpPr>
            <a:spLocks noGrp="1"/>
          </p:cNvSpPr>
          <p:nvPr>
            <p:ph idx="1"/>
          </p:nvPr>
        </p:nvSpPr>
        <p:spPr>
          <a:xfrm>
            <a:off x="1069848" y="1715784"/>
            <a:ext cx="10058400" cy="4456416"/>
          </a:xfrm>
        </p:spPr>
        <p:txBody>
          <a:bodyPr>
            <a:normAutofit/>
          </a:bodyPr>
          <a:lstStyle/>
          <a:p>
            <a:pPr algn="just">
              <a:lnSpc>
                <a:spcPct val="200000"/>
              </a:lnSpc>
            </a:pPr>
            <a:r>
              <a:rPr lang="fr-FR" sz="2800" dirty="0"/>
              <a:t>Un </a:t>
            </a:r>
            <a:r>
              <a:rPr lang="fr-FR" sz="2800" b="1" dirty="0"/>
              <a:t>Observer</a:t>
            </a:r>
            <a:r>
              <a:rPr lang="fr-FR" sz="2800" dirty="0"/>
              <a:t> définit </a:t>
            </a:r>
            <a:r>
              <a:rPr lang="fr-FR" sz="2800" dirty="0" smtClean="0"/>
              <a:t>:</a:t>
            </a:r>
          </a:p>
          <a:p>
            <a:pPr lvl="1" algn="just">
              <a:lnSpc>
                <a:spcPct val="200000"/>
              </a:lnSpc>
            </a:pPr>
            <a:r>
              <a:rPr lang="fr-FR" sz="2400" b="1" dirty="0" err="1"/>
              <a:t>next</a:t>
            </a:r>
            <a:r>
              <a:rPr lang="fr-FR" sz="2400" b="1" dirty="0"/>
              <a:t>() </a:t>
            </a:r>
            <a:r>
              <a:rPr lang="fr-FR" sz="2400" dirty="0"/>
              <a:t>→ valeur </a:t>
            </a:r>
            <a:r>
              <a:rPr lang="fr-FR" sz="2400" dirty="0" smtClean="0"/>
              <a:t>reçue</a:t>
            </a:r>
          </a:p>
          <a:p>
            <a:pPr lvl="1" algn="just">
              <a:lnSpc>
                <a:spcPct val="200000"/>
              </a:lnSpc>
            </a:pPr>
            <a:r>
              <a:rPr lang="fr-FR" sz="2400" b="1" dirty="0" err="1"/>
              <a:t>error</a:t>
            </a:r>
            <a:r>
              <a:rPr lang="fr-FR" sz="2400" b="1" dirty="0"/>
              <a:t>() </a:t>
            </a:r>
            <a:r>
              <a:rPr lang="fr-FR" sz="2400" dirty="0"/>
              <a:t>→ </a:t>
            </a:r>
            <a:r>
              <a:rPr lang="fr-FR" sz="2400" dirty="0" smtClean="0"/>
              <a:t>erreur</a:t>
            </a:r>
          </a:p>
          <a:p>
            <a:pPr lvl="1" algn="just">
              <a:lnSpc>
                <a:spcPct val="200000"/>
              </a:lnSpc>
            </a:pPr>
            <a:r>
              <a:rPr lang="fr-FR" sz="2400" b="1" dirty="0" err="1"/>
              <a:t>complete</a:t>
            </a:r>
            <a:r>
              <a:rPr lang="fr-FR" sz="2400" b="1" dirty="0"/>
              <a:t>() </a:t>
            </a:r>
            <a:r>
              <a:rPr lang="fr-FR" sz="2400" dirty="0"/>
              <a:t>→ fin du flux</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p:blipFill>
        <p:spPr>
          <a:xfrm>
            <a:off x="7037798" y="2392707"/>
            <a:ext cx="3914454" cy="19738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72537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Subscription</a:t>
            </a:r>
            <a:endParaRPr lang="fr-FR" dirty="0"/>
          </a:p>
        </p:txBody>
      </p:sp>
      <p:sp>
        <p:nvSpPr>
          <p:cNvPr id="3" name="Espace réservé du contenu 2"/>
          <p:cNvSpPr>
            <a:spLocks noGrp="1"/>
          </p:cNvSpPr>
          <p:nvPr>
            <p:ph idx="1"/>
          </p:nvPr>
        </p:nvSpPr>
        <p:spPr/>
        <p:txBody>
          <a:bodyPr>
            <a:normAutofit/>
          </a:bodyPr>
          <a:lstStyle/>
          <a:p>
            <a:pPr algn="just">
              <a:lnSpc>
                <a:spcPct val="200000"/>
              </a:lnSpc>
            </a:pPr>
            <a:r>
              <a:rPr lang="fr-FR" sz="2800" dirty="0"/>
              <a:t>La </a:t>
            </a:r>
            <a:r>
              <a:rPr lang="fr-FR" sz="2800" dirty="0" err="1"/>
              <a:t>subscription</a:t>
            </a:r>
            <a:r>
              <a:rPr lang="fr-FR" sz="2800" dirty="0"/>
              <a:t> active </a:t>
            </a:r>
            <a:r>
              <a:rPr lang="fr-FR" sz="2800" dirty="0" smtClean="0"/>
              <a:t>l’Observable</a:t>
            </a:r>
          </a:p>
          <a:p>
            <a:pPr algn="just">
              <a:lnSpc>
                <a:spcPct val="200000"/>
              </a:lnSpc>
            </a:pPr>
            <a:r>
              <a:rPr lang="fr-FR" sz="2800" dirty="0"/>
              <a:t>Doit être libérée pour éviter les fuites </a:t>
            </a:r>
            <a:r>
              <a:rPr lang="fr-FR" sz="2800" dirty="0" smtClean="0"/>
              <a:t>mémoire</a:t>
            </a:r>
          </a:p>
          <a:p>
            <a:pPr algn="just">
              <a:lnSpc>
                <a:spcPct val="200000"/>
              </a:lnSpc>
            </a:pPr>
            <a:r>
              <a:rPr lang="fr-FR" sz="2800" dirty="0"/>
              <a:t>Bonne pratique : </a:t>
            </a:r>
            <a:r>
              <a:rPr lang="fr-FR" sz="2800" b="1" dirty="0" err="1"/>
              <a:t>async</a:t>
            </a:r>
            <a:r>
              <a:rPr lang="fr-FR" sz="2800" b="1" dirty="0"/>
              <a:t> pipe </a:t>
            </a:r>
            <a:r>
              <a:rPr lang="fr-FR" sz="2800" dirty="0"/>
              <a:t>ou </a:t>
            </a:r>
            <a:r>
              <a:rPr lang="fr-FR" sz="2800" b="1" dirty="0" err="1"/>
              <a:t>takeUntil</a:t>
            </a:r>
            <a:endParaRPr lang="fr-FR" sz="2800" b="1"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287991" y="2093976"/>
            <a:ext cx="3568387" cy="11526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88278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635251"/>
          </a:xfrm>
        </p:spPr>
        <p:txBody>
          <a:bodyPr>
            <a:normAutofit fontScale="90000"/>
          </a:bodyPr>
          <a:lstStyle/>
          <a:p>
            <a:pPr algn="ctr"/>
            <a:r>
              <a:rPr lang="fr-FR" dirty="0"/>
              <a:t>Les opérateurs </a:t>
            </a:r>
            <a:r>
              <a:rPr lang="fr-FR" dirty="0" err="1"/>
              <a:t>RxJS</a:t>
            </a:r>
            <a:endParaRPr lang="fr-FR" dirty="0"/>
          </a:p>
        </p:txBody>
      </p:sp>
      <p:sp>
        <p:nvSpPr>
          <p:cNvPr id="3" name="Espace réservé du contenu 2"/>
          <p:cNvSpPr>
            <a:spLocks noGrp="1"/>
          </p:cNvSpPr>
          <p:nvPr>
            <p:ph idx="1"/>
          </p:nvPr>
        </p:nvSpPr>
        <p:spPr>
          <a:xfrm>
            <a:off x="1069848" y="1428108"/>
            <a:ext cx="10058400" cy="4744092"/>
          </a:xfrm>
        </p:spPr>
        <p:txBody>
          <a:bodyPr>
            <a:noAutofit/>
          </a:bodyPr>
          <a:lstStyle/>
          <a:p>
            <a:pPr algn="just">
              <a:lnSpc>
                <a:spcPct val="200000"/>
              </a:lnSpc>
            </a:pPr>
            <a:r>
              <a:rPr lang="fr-FR" sz="2800" dirty="0"/>
              <a:t>Les opérateurs permettent de </a:t>
            </a:r>
            <a:r>
              <a:rPr lang="fr-FR" sz="2800" dirty="0" smtClean="0"/>
              <a:t>:</a:t>
            </a:r>
          </a:p>
          <a:p>
            <a:pPr lvl="1" algn="just">
              <a:lnSpc>
                <a:spcPct val="200000"/>
              </a:lnSpc>
            </a:pPr>
            <a:r>
              <a:rPr lang="fr-FR" sz="2400" dirty="0"/>
              <a:t>Transformer les </a:t>
            </a:r>
            <a:r>
              <a:rPr lang="fr-FR" sz="2400" dirty="0" smtClean="0"/>
              <a:t>données</a:t>
            </a:r>
          </a:p>
          <a:p>
            <a:pPr lvl="1" algn="just">
              <a:lnSpc>
                <a:spcPct val="200000"/>
              </a:lnSpc>
            </a:pPr>
            <a:r>
              <a:rPr lang="fr-FR" sz="2400" dirty="0" smtClean="0"/>
              <a:t>Filtrer</a:t>
            </a:r>
          </a:p>
          <a:p>
            <a:pPr lvl="1" algn="just">
              <a:lnSpc>
                <a:spcPct val="200000"/>
              </a:lnSpc>
            </a:pPr>
            <a:r>
              <a:rPr lang="fr-FR" sz="2400" dirty="0" smtClean="0"/>
              <a:t>Enchaîner </a:t>
            </a:r>
            <a:r>
              <a:rPr lang="fr-FR" sz="2400" dirty="0"/>
              <a:t>des </a:t>
            </a:r>
            <a:r>
              <a:rPr lang="fr-FR" sz="2400" dirty="0" smtClean="0"/>
              <a:t>appels</a:t>
            </a:r>
          </a:p>
          <a:p>
            <a:pPr lvl="1" algn="just">
              <a:lnSpc>
                <a:spcPct val="200000"/>
              </a:lnSpc>
            </a:pPr>
            <a:r>
              <a:rPr lang="fr-FR" sz="2400" dirty="0" smtClean="0"/>
              <a:t>Gérer </a:t>
            </a:r>
            <a:r>
              <a:rPr lang="fr-FR" sz="2400" dirty="0"/>
              <a:t>les </a:t>
            </a:r>
            <a:r>
              <a:rPr lang="fr-FR" sz="2400" dirty="0" smtClean="0"/>
              <a:t>erreurs</a:t>
            </a:r>
          </a:p>
          <a:p>
            <a:pPr algn="just">
              <a:lnSpc>
                <a:spcPct val="200000"/>
              </a:lnSpc>
            </a:pPr>
            <a:r>
              <a:rPr lang="fr-FR" sz="2800" dirty="0"/>
              <a:t>Ils s’utilisent avec </a:t>
            </a:r>
            <a:r>
              <a:rPr lang="fr-FR" sz="2800" b="1" dirty="0"/>
              <a:t>pipe()</a:t>
            </a:r>
          </a:p>
        </p:txBody>
      </p:sp>
    </p:spTree>
    <p:extLst>
      <p:ext uri="{BB962C8B-B14F-4D97-AF65-F5344CB8AC3E}">
        <p14:creationId xmlns:p14="http://schemas.microsoft.com/office/powerpoint/2010/main" val="23008135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Opérateur </a:t>
            </a:r>
            <a:r>
              <a:rPr lang="fr-FR" dirty="0" err="1"/>
              <a:t>map</a:t>
            </a:r>
            <a:endParaRPr lang="fr-FR" dirty="0"/>
          </a:p>
        </p:txBody>
      </p:sp>
      <p:sp>
        <p:nvSpPr>
          <p:cNvPr id="3" name="Espace réservé du contenu 2"/>
          <p:cNvSpPr>
            <a:spLocks noGrp="1"/>
          </p:cNvSpPr>
          <p:nvPr>
            <p:ph idx="1"/>
          </p:nvPr>
        </p:nvSpPr>
        <p:spPr/>
        <p:txBody>
          <a:bodyPr>
            <a:normAutofit/>
          </a:bodyPr>
          <a:lstStyle/>
          <a:p>
            <a:r>
              <a:rPr lang="fr-FR" sz="2400" dirty="0"/>
              <a:t>Transformer les </a:t>
            </a:r>
            <a:r>
              <a:rPr lang="fr-FR" sz="2400" dirty="0" smtClean="0"/>
              <a:t>données : </a:t>
            </a:r>
          </a:p>
          <a:p>
            <a:endParaRPr lang="fr-FR" sz="2400" dirty="0"/>
          </a:p>
          <a:p>
            <a:endParaRPr lang="fr-FR" sz="2400" dirty="0" smtClean="0"/>
          </a:p>
          <a:p>
            <a:r>
              <a:rPr lang="fr-FR" sz="2400" dirty="0"/>
              <a:t>Ne modifie pas la </a:t>
            </a:r>
            <a:r>
              <a:rPr lang="fr-FR" sz="2400" dirty="0" smtClean="0"/>
              <a:t>source</a:t>
            </a:r>
          </a:p>
          <a:p>
            <a:r>
              <a:rPr lang="fr-FR" sz="2400" dirty="0" smtClean="0"/>
              <a:t>Retourne </a:t>
            </a:r>
            <a:r>
              <a:rPr lang="fr-FR" sz="2400" dirty="0"/>
              <a:t>un nouveau flux</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5729103" y="1859533"/>
            <a:ext cx="3342977" cy="11816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117701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Opérateur </a:t>
            </a:r>
            <a:r>
              <a:rPr lang="fr-FR" dirty="0" err="1"/>
              <a:t>filter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3600" dirty="0"/>
              <a:t>Filtrer les </a:t>
            </a:r>
            <a:r>
              <a:rPr lang="fr-FR" sz="3600" dirty="0" smtClean="0"/>
              <a:t>données</a:t>
            </a:r>
          </a:p>
          <a:p>
            <a:pPr>
              <a:lnSpc>
                <a:spcPct val="200000"/>
              </a:lnSpc>
            </a:pPr>
            <a:r>
              <a:rPr lang="fr-FR" sz="3600" dirty="0"/>
              <a:t>Ignore les valeurs non </a:t>
            </a:r>
            <a:r>
              <a:rPr lang="fr-FR" sz="3600" dirty="0" smtClean="0"/>
              <a:t>conformes</a:t>
            </a:r>
          </a:p>
          <a:p>
            <a:pPr>
              <a:lnSpc>
                <a:spcPct val="200000"/>
              </a:lnSpc>
            </a:pPr>
            <a:r>
              <a:rPr lang="fr-FR" sz="3600" dirty="0" smtClean="0"/>
              <a:t>Très </a:t>
            </a:r>
            <a:r>
              <a:rPr lang="fr-FR" sz="3600" dirty="0"/>
              <a:t>utilisé avec formulaires / </a:t>
            </a:r>
            <a:r>
              <a:rPr lang="fr-FR" sz="3600" dirty="0" err="1"/>
              <a:t>events</a:t>
            </a:r>
            <a:endParaRPr lang="fr-FR" sz="3600" dirty="0"/>
          </a:p>
          <a:p>
            <a:pPr>
              <a:lnSpc>
                <a:spcPct val="200000"/>
              </a:lnSpc>
            </a:pPr>
            <a:endParaRPr lang="fr-FR" sz="3600" dirty="0"/>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6901856" y="2121408"/>
            <a:ext cx="3711348" cy="13307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471634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1246231"/>
          </a:xfrm>
        </p:spPr>
        <p:txBody>
          <a:bodyPr/>
          <a:lstStyle/>
          <a:p>
            <a:pPr algn="ctr"/>
            <a:r>
              <a:rPr lang="fr-FR" dirty="0"/>
              <a:t>Opérateur </a:t>
            </a:r>
            <a:r>
              <a:rPr lang="fr-FR" dirty="0" err="1"/>
              <a:t>tap</a:t>
            </a:r>
            <a:endParaRPr lang="fr-FR" dirty="0"/>
          </a:p>
        </p:txBody>
      </p:sp>
      <p:sp>
        <p:nvSpPr>
          <p:cNvPr id="3" name="Espace réservé du contenu 2"/>
          <p:cNvSpPr>
            <a:spLocks noGrp="1"/>
          </p:cNvSpPr>
          <p:nvPr>
            <p:ph idx="1"/>
          </p:nvPr>
        </p:nvSpPr>
        <p:spPr/>
        <p:txBody>
          <a:bodyPr>
            <a:normAutofit/>
          </a:bodyPr>
          <a:lstStyle/>
          <a:p>
            <a:r>
              <a:rPr lang="fr-FR" sz="2800" dirty="0"/>
              <a:t>Effet secondaire (</a:t>
            </a:r>
            <a:r>
              <a:rPr lang="fr-FR" sz="2800" b="1" dirty="0" err="1"/>
              <a:t>debug</a:t>
            </a:r>
            <a:r>
              <a:rPr lang="fr-FR" sz="2800" dirty="0"/>
              <a:t>, </a:t>
            </a:r>
            <a:r>
              <a:rPr lang="fr-FR" sz="2800" b="1" dirty="0"/>
              <a:t>log</a:t>
            </a:r>
            <a:r>
              <a:rPr lang="fr-FR" sz="2800" dirty="0" smtClean="0"/>
              <a:t>)</a:t>
            </a:r>
          </a:p>
          <a:p>
            <a:endParaRPr lang="fr-FR" sz="2800" dirty="0"/>
          </a:p>
          <a:p>
            <a:endParaRPr lang="fr-FR" sz="2800" dirty="0" smtClean="0"/>
          </a:p>
          <a:p>
            <a:r>
              <a:rPr lang="fr-FR" sz="2800" dirty="0"/>
              <a:t>Ne transforme PAS les </a:t>
            </a:r>
            <a:r>
              <a:rPr lang="fr-FR" sz="2800" dirty="0" smtClean="0"/>
              <a:t>données</a:t>
            </a:r>
          </a:p>
          <a:p>
            <a:r>
              <a:rPr lang="fr-FR" sz="2800" dirty="0" smtClean="0"/>
              <a:t>Très </a:t>
            </a:r>
            <a:r>
              <a:rPr lang="fr-FR" sz="2800" dirty="0"/>
              <a:t>utile pour le débogage</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438565" y="1730863"/>
            <a:ext cx="3452042" cy="14541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90574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Opérateur </a:t>
            </a:r>
            <a:r>
              <a:rPr lang="fr-FR" dirty="0" err="1"/>
              <a:t>switchMap</a:t>
            </a:r>
            <a:endParaRPr lang="fr-FR" dirty="0"/>
          </a:p>
        </p:txBody>
      </p:sp>
      <p:sp>
        <p:nvSpPr>
          <p:cNvPr id="3" name="Espace réservé du contenu 2"/>
          <p:cNvSpPr>
            <a:spLocks noGrp="1"/>
          </p:cNvSpPr>
          <p:nvPr>
            <p:ph idx="1"/>
          </p:nvPr>
        </p:nvSpPr>
        <p:spPr/>
        <p:txBody>
          <a:bodyPr>
            <a:normAutofit/>
          </a:bodyPr>
          <a:lstStyle/>
          <a:p>
            <a:pPr>
              <a:lnSpc>
                <a:spcPct val="150000"/>
              </a:lnSpc>
            </a:pPr>
            <a:r>
              <a:rPr lang="fr-FR" sz="2400" dirty="0"/>
              <a:t>Enchaîner des appels </a:t>
            </a:r>
            <a:r>
              <a:rPr lang="fr-FR" sz="2400" dirty="0" smtClean="0"/>
              <a:t>dépendants</a:t>
            </a:r>
          </a:p>
          <a:p>
            <a:pPr>
              <a:lnSpc>
                <a:spcPct val="150000"/>
              </a:lnSpc>
            </a:pPr>
            <a:r>
              <a:rPr lang="fr-FR" sz="2400" dirty="0"/>
              <a:t>Annule l’appel </a:t>
            </a:r>
            <a:r>
              <a:rPr lang="fr-FR" sz="2400" dirty="0" smtClean="0"/>
              <a:t>précédent</a:t>
            </a:r>
          </a:p>
          <a:p>
            <a:pPr>
              <a:lnSpc>
                <a:spcPct val="150000"/>
              </a:lnSpc>
            </a:pPr>
            <a:r>
              <a:rPr lang="fr-FR" sz="2400" dirty="0"/>
              <a:t>Idéal pour </a:t>
            </a:r>
            <a:r>
              <a:rPr lang="fr-FR" sz="2400" dirty="0" smtClean="0"/>
              <a:t>:</a:t>
            </a:r>
          </a:p>
          <a:p>
            <a:pPr lvl="1">
              <a:lnSpc>
                <a:spcPct val="150000"/>
              </a:lnSpc>
            </a:pPr>
            <a:r>
              <a:rPr lang="fr-FR" sz="2200" dirty="0" smtClean="0"/>
              <a:t>Recherche</a:t>
            </a:r>
          </a:p>
          <a:p>
            <a:pPr lvl="1">
              <a:lnSpc>
                <a:spcPct val="150000"/>
              </a:lnSpc>
            </a:pPr>
            <a:r>
              <a:rPr lang="fr-FR" sz="2200" dirty="0" err="1" smtClean="0"/>
              <a:t>Autocomplete</a:t>
            </a:r>
            <a:endParaRPr lang="fr-FR" sz="2200" dirty="0" smtClean="0"/>
          </a:p>
          <a:p>
            <a:pPr lvl="1">
              <a:lnSpc>
                <a:spcPct val="150000"/>
              </a:lnSpc>
            </a:pPr>
            <a:r>
              <a:rPr lang="fr-FR" sz="2200" dirty="0" smtClean="0"/>
              <a:t>input </a:t>
            </a:r>
            <a:r>
              <a:rPr lang="fr-FR" sz="2200" dirty="0"/>
              <a:t>utilisateur</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002431" y="1726059"/>
            <a:ext cx="4946414" cy="17157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71007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Opérateur </a:t>
            </a:r>
            <a:r>
              <a:rPr lang="fr-FR" dirty="0" err="1"/>
              <a:t>mergeMap</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2400" dirty="0"/>
              <a:t>Exécuter plusieurs flux en </a:t>
            </a:r>
            <a:r>
              <a:rPr lang="fr-FR" sz="2400" dirty="0" smtClean="0"/>
              <a:t>parallèle</a:t>
            </a:r>
          </a:p>
          <a:p>
            <a:pPr>
              <a:lnSpc>
                <a:spcPct val="200000"/>
              </a:lnSpc>
            </a:pPr>
            <a:r>
              <a:rPr lang="fr-FR" sz="2400" dirty="0"/>
              <a:t>N’annule pas les </a:t>
            </a:r>
            <a:r>
              <a:rPr lang="fr-FR" sz="2400" dirty="0" smtClean="0"/>
              <a:t>requêtes</a:t>
            </a:r>
          </a:p>
          <a:p>
            <a:pPr>
              <a:lnSpc>
                <a:spcPct val="200000"/>
              </a:lnSpc>
            </a:pPr>
            <a:r>
              <a:rPr lang="fr-FR" sz="2400" dirty="0"/>
              <a:t>Utilisé pour traitements multiples</a:t>
            </a:r>
          </a:p>
        </p:txBody>
      </p:sp>
      <p:pic>
        <p:nvPicPr>
          <p:cNvPr id="5" name="Image 4"/>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237627" y="1934447"/>
            <a:ext cx="4557106" cy="12402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898706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a:t>switchMap</a:t>
            </a:r>
            <a:r>
              <a:rPr lang="fr-FR" dirty="0"/>
              <a:t> vs </a:t>
            </a:r>
            <a:r>
              <a:rPr lang="fr-FR" dirty="0" err="1"/>
              <a:t>mergeMap</a:t>
            </a:r>
            <a:endParaRPr lang="fr-FR" dirty="0"/>
          </a:p>
        </p:txBody>
      </p:sp>
      <p:sp>
        <p:nvSpPr>
          <p:cNvPr id="3" name="Espace réservé du contenu 2"/>
          <p:cNvSpPr>
            <a:spLocks noGrp="1"/>
          </p:cNvSpPr>
          <p:nvPr>
            <p:ph idx="1"/>
          </p:nvPr>
        </p:nvSpPr>
        <p:spPr>
          <a:xfrm>
            <a:off x="1069848" y="5332288"/>
            <a:ext cx="10058400" cy="839912"/>
          </a:xfrm>
        </p:spPr>
        <p:txBody>
          <a:bodyPr>
            <a:normAutofit/>
          </a:bodyPr>
          <a:lstStyle/>
          <a:p>
            <a:r>
              <a:rPr lang="fr-FR" sz="3200" dirty="0"/>
              <a:t>Choix crucial selon le besoin</a:t>
            </a:r>
          </a:p>
        </p:txBody>
      </p:sp>
      <p:pic>
        <p:nvPicPr>
          <p:cNvPr id="4" name="Image 3"/>
          <p:cNvPicPr>
            <a:picLocks noChangeAspect="1"/>
          </p:cNvPicPr>
          <p:nvPr/>
        </p:nvPicPr>
        <p:blipFill>
          <a:blip r:embed="rId2"/>
          <a:stretch>
            <a:fillRect/>
          </a:stretch>
        </p:blipFill>
        <p:spPr>
          <a:xfrm>
            <a:off x="2465798" y="2144600"/>
            <a:ext cx="7489860" cy="22835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39376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Opérateur </a:t>
            </a:r>
            <a:r>
              <a:rPr lang="fr-FR" dirty="0" err="1"/>
              <a:t>catchError</a:t>
            </a:r>
            <a:endParaRPr lang="fr-FR" dirty="0"/>
          </a:p>
        </p:txBody>
      </p:sp>
      <p:sp>
        <p:nvSpPr>
          <p:cNvPr id="3" name="Espace réservé du contenu 2"/>
          <p:cNvSpPr>
            <a:spLocks noGrp="1"/>
          </p:cNvSpPr>
          <p:nvPr>
            <p:ph idx="1"/>
          </p:nvPr>
        </p:nvSpPr>
        <p:spPr/>
        <p:txBody>
          <a:bodyPr>
            <a:normAutofit/>
          </a:bodyPr>
          <a:lstStyle/>
          <a:p>
            <a:pPr>
              <a:lnSpc>
                <a:spcPct val="200000"/>
              </a:lnSpc>
            </a:pPr>
            <a:r>
              <a:rPr lang="fr-FR" sz="3200" dirty="0"/>
              <a:t>Gestion des </a:t>
            </a:r>
            <a:r>
              <a:rPr lang="fr-FR" sz="3200" dirty="0" smtClean="0"/>
              <a:t>erreurs</a:t>
            </a:r>
          </a:p>
          <a:p>
            <a:pPr>
              <a:lnSpc>
                <a:spcPct val="200000"/>
              </a:lnSpc>
            </a:pPr>
            <a:r>
              <a:rPr lang="fr-FR" sz="3200" dirty="0"/>
              <a:t>Empêche le crash de </a:t>
            </a:r>
            <a:r>
              <a:rPr lang="fr-FR" sz="3200" dirty="0" smtClean="0"/>
              <a:t>l’application</a:t>
            </a:r>
          </a:p>
          <a:p>
            <a:pPr>
              <a:lnSpc>
                <a:spcPct val="200000"/>
              </a:lnSpc>
            </a:pPr>
            <a:r>
              <a:rPr lang="fr-FR" sz="3200" dirty="0" smtClean="0"/>
              <a:t>Retourne </a:t>
            </a:r>
            <a:r>
              <a:rPr lang="fr-FR" sz="3200" dirty="0"/>
              <a:t>un flux de secours</a:t>
            </a:r>
            <a:endParaRPr lang="fr-FR" sz="3200" dirty="0" smtClean="0"/>
          </a:p>
          <a:p>
            <a:pPr>
              <a:lnSpc>
                <a:spcPct val="200000"/>
              </a:lnSpc>
            </a:pPr>
            <a:endParaRPr lang="fr-FR" sz="3200" dirty="0"/>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6452172" y="2093976"/>
            <a:ext cx="3760340" cy="14197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9737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484632"/>
            <a:ext cx="10058400" cy="922928"/>
          </a:xfrm>
        </p:spPr>
        <p:txBody>
          <a:bodyPr/>
          <a:lstStyle/>
          <a:p>
            <a:pPr algn="ctr"/>
            <a:r>
              <a:rPr lang="fr-FR" dirty="0"/>
              <a:t>Bonnes pratiques </a:t>
            </a:r>
            <a:r>
              <a:rPr lang="fr-FR" dirty="0" err="1"/>
              <a:t>RxJS</a:t>
            </a:r>
            <a:endParaRPr lang="fr-FR" dirty="0"/>
          </a:p>
        </p:txBody>
      </p:sp>
      <p:sp>
        <p:nvSpPr>
          <p:cNvPr id="3" name="Espace réservé du contenu 2"/>
          <p:cNvSpPr>
            <a:spLocks noGrp="1"/>
          </p:cNvSpPr>
          <p:nvPr>
            <p:ph idx="1"/>
          </p:nvPr>
        </p:nvSpPr>
        <p:spPr>
          <a:xfrm>
            <a:off x="1069848" y="1525507"/>
            <a:ext cx="10058400" cy="4050792"/>
          </a:xfrm>
        </p:spPr>
        <p:txBody>
          <a:bodyPr>
            <a:noAutofit/>
          </a:bodyPr>
          <a:lstStyle/>
          <a:p>
            <a:pPr>
              <a:lnSpc>
                <a:spcPct val="200000"/>
              </a:lnSpc>
            </a:pPr>
            <a:r>
              <a:rPr lang="fr-FR" sz="2800" dirty="0"/>
              <a:t>Utiliser </a:t>
            </a:r>
            <a:r>
              <a:rPr lang="fr-FR" sz="2800" b="1" dirty="0" err="1"/>
              <a:t>async</a:t>
            </a:r>
            <a:r>
              <a:rPr lang="fr-FR" sz="2800" dirty="0"/>
              <a:t> </a:t>
            </a:r>
            <a:r>
              <a:rPr lang="fr-FR" sz="2800" b="1" dirty="0" smtClean="0"/>
              <a:t>pipe</a:t>
            </a:r>
          </a:p>
          <a:p>
            <a:pPr>
              <a:lnSpc>
                <a:spcPct val="200000"/>
              </a:lnSpc>
            </a:pPr>
            <a:r>
              <a:rPr lang="fr-FR" sz="2800" dirty="0" smtClean="0"/>
              <a:t>Préférer </a:t>
            </a:r>
            <a:r>
              <a:rPr lang="fr-FR" sz="2800" dirty="0"/>
              <a:t>les </a:t>
            </a:r>
            <a:r>
              <a:rPr lang="fr-FR" sz="2800" dirty="0" smtClean="0"/>
              <a:t>opérateurs</a:t>
            </a:r>
          </a:p>
          <a:p>
            <a:pPr>
              <a:lnSpc>
                <a:spcPct val="200000"/>
              </a:lnSpc>
            </a:pPr>
            <a:r>
              <a:rPr lang="fr-FR" sz="2800" dirty="0" smtClean="0"/>
              <a:t>Éviter </a:t>
            </a:r>
            <a:r>
              <a:rPr lang="fr-FR" sz="2800" dirty="0"/>
              <a:t>les </a:t>
            </a:r>
            <a:r>
              <a:rPr lang="fr-FR" sz="2800" dirty="0" err="1"/>
              <a:t>subscribe</a:t>
            </a:r>
            <a:r>
              <a:rPr lang="fr-FR" sz="2800" dirty="0"/>
              <a:t> </a:t>
            </a:r>
            <a:r>
              <a:rPr lang="fr-FR" sz="2800" dirty="0" smtClean="0"/>
              <a:t>imbriqués</a:t>
            </a:r>
          </a:p>
          <a:p>
            <a:pPr>
              <a:lnSpc>
                <a:spcPct val="200000"/>
              </a:lnSpc>
            </a:pPr>
            <a:r>
              <a:rPr lang="fr-FR" sz="2800" dirty="0" smtClean="0"/>
              <a:t>Toujours </a:t>
            </a:r>
            <a:r>
              <a:rPr lang="fr-FR" sz="2800" dirty="0"/>
              <a:t>gérer les </a:t>
            </a:r>
            <a:r>
              <a:rPr lang="fr-FR" sz="2800" dirty="0" smtClean="0"/>
              <a:t>erreurs</a:t>
            </a:r>
          </a:p>
          <a:p>
            <a:pPr>
              <a:lnSpc>
                <a:spcPct val="200000"/>
              </a:lnSpc>
            </a:pPr>
            <a:r>
              <a:rPr lang="fr-FR" sz="2800" dirty="0" smtClean="0"/>
              <a:t>Choisir </a:t>
            </a:r>
            <a:r>
              <a:rPr lang="fr-FR" sz="2800" dirty="0"/>
              <a:t>le bon opérateur</a:t>
            </a:r>
          </a:p>
        </p:txBody>
      </p:sp>
    </p:spTree>
    <p:extLst>
      <p:ext uri="{BB962C8B-B14F-4D97-AF65-F5344CB8AC3E}">
        <p14:creationId xmlns:p14="http://schemas.microsoft.com/office/powerpoint/2010/main" val="4940827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69848" y="309971"/>
            <a:ext cx="10058400" cy="994847"/>
          </a:xfrm>
        </p:spPr>
        <p:txBody>
          <a:bodyPr/>
          <a:lstStyle/>
          <a:p>
            <a:pPr algn="ctr"/>
            <a:r>
              <a:rPr lang="fr-FR" dirty="0"/>
              <a:t>Conclusion</a:t>
            </a:r>
          </a:p>
        </p:txBody>
      </p:sp>
      <p:sp>
        <p:nvSpPr>
          <p:cNvPr id="3" name="Espace réservé du contenu 2"/>
          <p:cNvSpPr>
            <a:spLocks noGrp="1"/>
          </p:cNvSpPr>
          <p:nvPr>
            <p:ph idx="1"/>
          </p:nvPr>
        </p:nvSpPr>
        <p:spPr>
          <a:xfrm>
            <a:off x="1069848" y="1530849"/>
            <a:ext cx="10058400" cy="4641351"/>
          </a:xfrm>
        </p:spPr>
        <p:txBody>
          <a:bodyPr>
            <a:noAutofit/>
          </a:bodyPr>
          <a:lstStyle/>
          <a:p>
            <a:pPr algn="just">
              <a:lnSpc>
                <a:spcPct val="200000"/>
              </a:lnSpc>
            </a:pPr>
            <a:r>
              <a:rPr lang="fr-FR" sz="2800" b="1" dirty="0" err="1"/>
              <a:t>RxJS</a:t>
            </a:r>
            <a:r>
              <a:rPr lang="fr-FR" sz="2800" dirty="0"/>
              <a:t> est au cœur </a:t>
            </a:r>
            <a:r>
              <a:rPr lang="fr-FR" sz="2800" dirty="0" smtClean="0"/>
              <a:t>d’</a:t>
            </a:r>
            <a:r>
              <a:rPr lang="fr-FR" sz="2800" dirty="0" err="1" smtClean="0"/>
              <a:t>Angular</a:t>
            </a:r>
            <a:endParaRPr lang="fr-FR" sz="2800" dirty="0" smtClean="0"/>
          </a:p>
          <a:p>
            <a:pPr algn="just">
              <a:lnSpc>
                <a:spcPct val="200000"/>
              </a:lnSpc>
            </a:pPr>
            <a:r>
              <a:rPr lang="fr-FR" sz="2800" b="1" dirty="0"/>
              <a:t>Observable</a:t>
            </a:r>
            <a:r>
              <a:rPr lang="fr-FR" sz="2800" dirty="0"/>
              <a:t> = flux de </a:t>
            </a:r>
            <a:r>
              <a:rPr lang="fr-FR" sz="2800" dirty="0" smtClean="0"/>
              <a:t>données</a:t>
            </a:r>
          </a:p>
          <a:p>
            <a:pPr algn="just">
              <a:lnSpc>
                <a:spcPct val="200000"/>
              </a:lnSpc>
            </a:pPr>
            <a:r>
              <a:rPr lang="fr-FR" sz="2800" dirty="0" smtClean="0"/>
              <a:t>Les </a:t>
            </a:r>
            <a:r>
              <a:rPr lang="fr-FR" sz="2800" b="1" dirty="0"/>
              <a:t>opérateurs</a:t>
            </a:r>
            <a:r>
              <a:rPr lang="fr-FR" sz="2800" dirty="0"/>
              <a:t> rendent le code </a:t>
            </a:r>
            <a:r>
              <a:rPr lang="fr-FR" sz="2800" dirty="0" smtClean="0"/>
              <a:t>puissant</a:t>
            </a:r>
          </a:p>
          <a:p>
            <a:pPr algn="just">
              <a:lnSpc>
                <a:spcPct val="200000"/>
              </a:lnSpc>
            </a:pPr>
            <a:r>
              <a:rPr lang="fr-FR" sz="2800" b="1" dirty="0" err="1" smtClean="0"/>
              <a:t>switchMap</a:t>
            </a:r>
            <a:r>
              <a:rPr lang="fr-FR" sz="2800" dirty="0" smtClean="0"/>
              <a:t> </a:t>
            </a:r>
            <a:r>
              <a:rPr lang="fr-FR" sz="2800" dirty="0"/>
              <a:t>et </a:t>
            </a:r>
            <a:r>
              <a:rPr lang="fr-FR" sz="2800" b="1" dirty="0" err="1"/>
              <a:t>mergeMap</a:t>
            </a:r>
            <a:r>
              <a:rPr lang="fr-FR" sz="2800" dirty="0"/>
              <a:t> sont </a:t>
            </a:r>
            <a:r>
              <a:rPr lang="fr-FR" sz="2800" dirty="0" smtClean="0"/>
              <a:t>essentiels</a:t>
            </a:r>
          </a:p>
          <a:p>
            <a:pPr algn="just">
              <a:lnSpc>
                <a:spcPct val="200000"/>
              </a:lnSpc>
            </a:pPr>
            <a:r>
              <a:rPr lang="fr-FR" sz="2800" b="1" dirty="0" err="1" smtClean="0"/>
              <a:t>RxJS</a:t>
            </a:r>
            <a:r>
              <a:rPr lang="fr-FR" sz="2800" dirty="0" smtClean="0"/>
              <a:t> </a:t>
            </a:r>
            <a:r>
              <a:rPr lang="fr-FR" sz="2800" dirty="0"/>
              <a:t>= performance + lisibilité</a:t>
            </a:r>
          </a:p>
        </p:txBody>
      </p:sp>
    </p:spTree>
    <p:extLst>
      <p:ext uri="{BB962C8B-B14F-4D97-AF65-F5344CB8AC3E}">
        <p14:creationId xmlns:p14="http://schemas.microsoft.com/office/powerpoint/2010/main" val="40914484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Atelier</a:t>
            </a:r>
            <a:endParaRPr lang="fr-FR" dirty="0"/>
          </a:p>
        </p:txBody>
      </p:sp>
      <p:sp>
        <p:nvSpPr>
          <p:cNvPr id="3" name="Espace réservé du contenu 2"/>
          <p:cNvSpPr>
            <a:spLocks noGrp="1"/>
          </p:cNvSpPr>
          <p:nvPr>
            <p:ph idx="1"/>
          </p:nvPr>
        </p:nvSpPr>
        <p:spPr/>
        <p:txBody>
          <a:bodyPr>
            <a:noAutofit/>
          </a:bodyPr>
          <a:lstStyle/>
          <a:p>
            <a:pPr>
              <a:lnSpc>
                <a:spcPct val="200000"/>
              </a:lnSpc>
            </a:pPr>
            <a:r>
              <a:rPr lang="fr-FR" sz="3200" dirty="0"/>
              <a:t>Charger une liste </a:t>
            </a:r>
            <a:r>
              <a:rPr lang="fr-FR" sz="3200" dirty="0" smtClean="0"/>
              <a:t>d’utilisateurs</a:t>
            </a:r>
          </a:p>
          <a:p>
            <a:pPr>
              <a:lnSpc>
                <a:spcPct val="200000"/>
              </a:lnSpc>
            </a:pPr>
            <a:r>
              <a:rPr lang="fr-FR" sz="3200" dirty="0" smtClean="0"/>
              <a:t>Filtrer </a:t>
            </a:r>
            <a:r>
              <a:rPr lang="fr-FR" sz="3200" dirty="0"/>
              <a:t>les utilisateurs </a:t>
            </a:r>
            <a:r>
              <a:rPr lang="fr-FR" sz="3200" dirty="0" smtClean="0"/>
              <a:t>actifs</a:t>
            </a:r>
          </a:p>
          <a:p>
            <a:pPr>
              <a:lnSpc>
                <a:spcPct val="200000"/>
              </a:lnSpc>
            </a:pPr>
            <a:r>
              <a:rPr lang="fr-FR" sz="3200" dirty="0" smtClean="0"/>
              <a:t>Réagir </a:t>
            </a:r>
            <a:r>
              <a:rPr lang="fr-FR" sz="3200" dirty="0"/>
              <a:t>à une </a:t>
            </a:r>
            <a:r>
              <a:rPr lang="fr-FR" sz="3200" dirty="0" smtClean="0"/>
              <a:t>recherche</a:t>
            </a:r>
          </a:p>
          <a:p>
            <a:pPr>
              <a:lnSpc>
                <a:spcPct val="200000"/>
              </a:lnSpc>
            </a:pPr>
            <a:r>
              <a:rPr lang="fr-FR" sz="3200" dirty="0" smtClean="0"/>
              <a:t>Gérer </a:t>
            </a:r>
            <a:r>
              <a:rPr lang="fr-FR" sz="3200" dirty="0"/>
              <a:t>les erreurs</a:t>
            </a:r>
          </a:p>
        </p:txBody>
      </p:sp>
    </p:spTree>
    <p:extLst>
      <p:ext uri="{BB962C8B-B14F-4D97-AF65-F5344CB8AC3E}">
        <p14:creationId xmlns:p14="http://schemas.microsoft.com/office/powerpoint/2010/main" val="2749902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t>Application MAP</a:t>
            </a:r>
            <a:endParaRPr lang="fr-FR" dirty="0"/>
          </a:p>
        </p:txBody>
      </p:sp>
      <p:pic>
        <p:nvPicPr>
          <p:cNvPr id="4" name="Espace réservé du contenu 3"/>
          <p:cNvPicPr>
            <a:picLocks noGrp="1" noChangeAspect="1"/>
          </p:cNvPicPr>
          <p:nvPr>
            <p:ph idx="1"/>
          </p:nvPr>
        </p:nvPicPr>
        <p:blipFill>
          <a:blip r:embed="rId2"/>
          <a:stretch>
            <a:fillRect/>
          </a:stretch>
        </p:blipFill>
        <p:spPr>
          <a:xfrm>
            <a:off x="3626778" y="2185349"/>
            <a:ext cx="5311739" cy="10407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p:cNvPicPr>
            <a:picLocks noChangeAspect="1"/>
          </p:cNvPicPr>
          <p:nvPr/>
        </p:nvPicPr>
        <p:blipFill>
          <a:blip r:embed="rId3"/>
          <a:stretch>
            <a:fillRect/>
          </a:stretch>
        </p:blipFill>
        <p:spPr>
          <a:xfrm>
            <a:off x="2964094" y="3752558"/>
            <a:ext cx="6637105" cy="655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581369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Filter</a:t>
            </a:r>
            <a:r>
              <a:rPr lang="fr-FR" dirty="0" smtClean="0"/>
              <a:t> </a:t>
            </a:r>
            <a:endParaRPr lang="fr-FR" dirty="0"/>
          </a:p>
        </p:txBody>
      </p:sp>
      <p:pic>
        <p:nvPicPr>
          <p:cNvPr id="4" name="Espace réservé du contenu 3"/>
          <p:cNvPicPr>
            <a:picLocks noGrp="1" noChangeAspect="1"/>
          </p:cNvPicPr>
          <p:nvPr>
            <p:ph idx="1"/>
          </p:nvPr>
        </p:nvPicPr>
        <p:blipFill>
          <a:blip r:embed="rId2"/>
          <a:stretch>
            <a:fillRect/>
          </a:stretch>
        </p:blipFill>
        <p:spPr>
          <a:xfrm>
            <a:off x="1876369" y="2219218"/>
            <a:ext cx="8445357" cy="26404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1"/>
          <p:cNvSpPr>
            <a:spLocks noChangeArrowheads="1"/>
          </p:cNvSpPr>
          <p:nvPr/>
        </p:nvSpPr>
        <p:spPr bwMode="auto">
          <a:xfrm>
            <a:off x="3212009" y="4984919"/>
            <a:ext cx="545953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2000" b="0" i="0" u="none" strike="noStrike" cap="none" normalizeH="0" baseline="0" dirty="0" err="1" smtClean="0">
                <a:ln>
                  <a:noFill/>
                </a:ln>
                <a:solidFill>
                  <a:schemeClr val="tx1"/>
                </a:solidFill>
                <a:effectLst/>
                <a:latin typeface="Arial Unicode MS"/>
              </a:rPr>
              <a:t>map</a:t>
            </a:r>
            <a:r>
              <a:rPr kumimoji="0" lang="fr-FR" altLang="fr-FR" sz="1600" b="0" i="0" u="none" strike="noStrike" cap="none" normalizeH="0" baseline="0" dirty="0" smtClean="0">
                <a:ln>
                  <a:noFill/>
                </a:ln>
                <a:solidFill>
                  <a:schemeClr val="tx1"/>
                </a:solidFill>
                <a:effectLst/>
              </a:rPr>
              <a:t> </a:t>
            </a:r>
            <a:r>
              <a:rPr kumimoji="0" lang="fr-FR" altLang="fr-FR" sz="1600" b="1" i="0" u="none" strike="noStrike" cap="none" normalizeH="0" baseline="0" dirty="0" smtClean="0">
                <a:ln>
                  <a:noFill/>
                </a:ln>
                <a:solidFill>
                  <a:schemeClr val="tx1"/>
                </a:solidFill>
                <a:effectLst/>
              </a:rPr>
              <a:t>→ transforme le tableau</a:t>
            </a:r>
            <a:endParaRPr kumimoji="0" lang="fr-FR" altLang="fr-FR" sz="4400" b="1"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2000" b="1" i="0" u="none" strike="noStrike" cap="none" normalizeH="0" baseline="0" dirty="0" err="1" smtClean="0">
                <a:ln>
                  <a:noFill/>
                </a:ln>
                <a:solidFill>
                  <a:schemeClr val="tx1"/>
                </a:solidFill>
                <a:effectLst/>
                <a:latin typeface="Arial Unicode MS"/>
              </a:rPr>
              <a:t>filter</a:t>
            </a:r>
            <a:r>
              <a:rPr kumimoji="0" lang="fr-FR" altLang="fr-FR" sz="1600" b="1" i="0" u="none" strike="noStrike" cap="none" normalizeH="0" baseline="0" dirty="0" smtClean="0">
                <a:ln>
                  <a:noFill/>
                </a:ln>
                <a:solidFill>
                  <a:schemeClr val="tx1"/>
                </a:solidFill>
                <a:effectLst/>
              </a:rPr>
              <a:t> (JS) </a:t>
            </a:r>
            <a:r>
              <a:rPr kumimoji="0" lang="fr-FR" altLang="fr-FR" sz="1600" b="0" i="0" u="none" strike="noStrike" cap="none" normalizeH="0" baseline="0" dirty="0" smtClean="0">
                <a:ln>
                  <a:noFill/>
                </a:ln>
                <a:solidFill>
                  <a:schemeClr val="tx1"/>
                </a:solidFill>
                <a:effectLst/>
              </a:rPr>
              <a:t>→ filtre les éléments du tableau</a:t>
            </a:r>
          </a:p>
          <a:p>
            <a:pPr marL="285750" lvl="0" indent="-285750" defTabSz="914400" eaLnBrk="0" fontAlgn="base" hangingPunct="0">
              <a:lnSpc>
                <a:spcPct val="150000"/>
              </a:lnSpc>
              <a:spcBef>
                <a:spcPct val="0"/>
              </a:spcBef>
              <a:spcAft>
                <a:spcPct val="0"/>
              </a:spcAft>
              <a:buFont typeface="Arial" panose="020B0604020202020204" pitchFamily="34" charset="0"/>
              <a:buChar char="•"/>
            </a:pPr>
            <a:r>
              <a:rPr lang="fr-FR" sz="2000" dirty="0">
                <a:latin typeface="Arial Unicode MS"/>
              </a:rPr>
              <a:t>C’est LE cas le plus courant en </a:t>
            </a:r>
            <a:r>
              <a:rPr lang="fr-FR" sz="2000" dirty="0" err="1">
                <a:latin typeface="Arial Unicode MS"/>
              </a:rPr>
              <a:t>Angular</a:t>
            </a:r>
            <a:endParaRPr lang="fr-FR" altLang="fr-FR" sz="2000" dirty="0">
              <a:latin typeface="Arial Unicode MS"/>
            </a:endParaRPr>
          </a:p>
        </p:txBody>
      </p:sp>
    </p:spTree>
    <p:extLst>
      <p:ext uri="{BB962C8B-B14F-4D97-AF65-F5344CB8AC3E}">
        <p14:creationId xmlns:p14="http://schemas.microsoft.com/office/powerpoint/2010/main" val="2727725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Erreur fréquente (à éviter)</a:t>
            </a:r>
          </a:p>
        </p:txBody>
      </p:sp>
      <p:sp>
        <p:nvSpPr>
          <p:cNvPr id="3" name="Espace réservé du contenu 2"/>
          <p:cNvSpPr>
            <a:spLocks noGrp="1"/>
          </p:cNvSpPr>
          <p:nvPr>
            <p:ph idx="1"/>
          </p:nvPr>
        </p:nvSpPr>
        <p:spPr>
          <a:xfrm>
            <a:off x="1069848" y="4500080"/>
            <a:ext cx="10058400" cy="1672119"/>
          </a:xfrm>
        </p:spPr>
        <p:txBody>
          <a:bodyPr>
            <a:normAutofit/>
          </a:bodyPr>
          <a:lstStyle/>
          <a:p>
            <a:r>
              <a:rPr lang="fr-FR" sz="3200" b="1" dirty="0"/>
              <a:t>user</a:t>
            </a:r>
            <a:r>
              <a:rPr lang="fr-FR" sz="3200" dirty="0"/>
              <a:t> ici est en réalité </a:t>
            </a:r>
            <a:r>
              <a:rPr lang="fr-FR" sz="3200" b="1" dirty="0"/>
              <a:t>User[]</a:t>
            </a:r>
            <a:r>
              <a:rPr lang="fr-FR" sz="3200" dirty="0"/>
              <a:t>, pas un </a:t>
            </a:r>
            <a:r>
              <a:rPr lang="fr-FR" sz="3200" b="1" dirty="0"/>
              <a:t>User</a:t>
            </a:r>
          </a:p>
        </p:txBody>
      </p:sp>
      <p:pic>
        <p:nvPicPr>
          <p:cNvPr id="4" name="Image 3"/>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3308279" y="2093975"/>
            <a:ext cx="5363110" cy="17382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28325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err="1" smtClean="0"/>
              <a:t>catchError</a:t>
            </a:r>
            <a:r>
              <a:rPr lang="fr-FR" dirty="0" smtClean="0"/>
              <a:t> </a:t>
            </a:r>
            <a:endParaRPr lang="fr-FR" dirty="0"/>
          </a:p>
        </p:txBody>
      </p:sp>
      <p:pic>
        <p:nvPicPr>
          <p:cNvPr id="4" name="Espace réservé du contenu 3"/>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818525" y="2093975"/>
            <a:ext cx="8404261" cy="41218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040934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ype de bois">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Type de bois</Template>
  <TotalTime>172</TotalTime>
  <Words>1360</Words>
  <Application>Microsoft Office PowerPoint</Application>
  <PresentationFormat>Grand écran</PresentationFormat>
  <Paragraphs>276</Paragraphs>
  <Slides>72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72</vt:i4>
      </vt:variant>
    </vt:vector>
  </HeadingPairs>
  <TitlesOfParts>
    <vt:vector size="78" baseType="lpstr">
      <vt:lpstr>Arial</vt:lpstr>
      <vt:lpstr>Arial Unicode MS</vt:lpstr>
      <vt:lpstr>Bookman Old Style</vt:lpstr>
      <vt:lpstr>Century Gothic</vt:lpstr>
      <vt:lpstr>Wingdings</vt:lpstr>
      <vt:lpstr>Type de bois</vt:lpstr>
      <vt:lpstr>Mise à niveau Angular</vt:lpstr>
      <vt:lpstr>PLAN</vt:lpstr>
      <vt:lpstr>Partie 9 : HttpClient</vt:lpstr>
      <vt:lpstr>Concepts</vt:lpstr>
      <vt:lpstr>HTTPCLIENT</vt:lpstr>
      <vt:lpstr>RxJS (Reactive extensions for JavaScript) </vt:lpstr>
      <vt:lpstr>la programmation réactive </vt:lpstr>
      <vt:lpstr>Obtenir et envoyer des données </vt:lpstr>
      <vt:lpstr>HttpClient</vt:lpstr>
      <vt:lpstr>Fonctionnalités de HttpClient </vt:lpstr>
      <vt:lpstr>Transformer des données </vt:lpstr>
      <vt:lpstr>Intégration de provider http</vt:lpstr>
      <vt:lpstr>Requête GET (Récupérer des données)</vt:lpstr>
      <vt:lpstr>Requête POST (Créer une ressource)</vt:lpstr>
      <vt:lpstr>Requête PUT (Mettre à jour une ressource)</vt:lpstr>
      <vt:lpstr>Requête DELETE (Supprimer une ressource)</vt:lpstr>
      <vt:lpstr>Gestion des erreurs dans HttpClient</vt:lpstr>
      <vt:lpstr>Gestion des événements de progression (Loader, chargement)</vt:lpstr>
      <vt:lpstr>Exemple Manipulation de données JSON</vt:lpstr>
      <vt:lpstr>service</vt:lpstr>
      <vt:lpstr>Mise à jour du composant</vt:lpstr>
      <vt:lpstr>Mise à jour du Template</vt:lpstr>
      <vt:lpstr>Intégration de provider http</vt:lpstr>
      <vt:lpstr>Atelier </vt:lpstr>
      <vt:lpstr>Service </vt:lpstr>
      <vt:lpstr>Composant TS</vt:lpstr>
      <vt:lpstr>Composant HTML</vt:lpstr>
      <vt:lpstr>Les contrats de communication</vt:lpstr>
      <vt:lpstr>Qu’est-ce qu’un contrat de communication ?</vt:lpstr>
      <vt:lpstr>Objectif</vt:lpstr>
      <vt:lpstr>Exemple contextuel (CNSS)</vt:lpstr>
      <vt:lpstr>Types de contrats et technologies associées</vt:lpstr>
      <vt:lpstr>Structure du contrat REST dans le projet</vt:lpstr>
      <vt:lpstr>Modèle partagé (exemple JSON attendu)</vt:lpstr>
      <vt:lpstr>Bonnes pratiques autour des contrats</vt:lpstr>
      <vt:lpstr>Standardiser les échanges</vt:lpstr>
      <vt:lpstr>Documenter les API</vt:lpstr>
      <vt:lpstr>Versionner les API</vt:lpstr>
      <vt:lpstr>Gérer les erreurs proprement</vt:lpstr>
      <vt:lpstr>Tests d’intégration</vt:lpstr>
      <vt:lpstr>Exemple : Cas d’application CNSS</vt:lpstr>
      <vt:lpstr>API Externe</vt:lpstr>
      <vt:lpstr>Architecture globale</vt:lpstr>
      <vt:lpstr>Le contrat de communication (API Contract)</vt:lpstr>
      <vt:lpstr>Exemple de contrat de paiement</vt:lpstr>
      <vt:lpstr>Gestion des erreurs</vt:lpstr>
      <vt:lpstr>Sécurité (cas paiement)</vt:lpstr>
      <vt:lpstr>Bonnes pratiques professionnelles</vt:lpstr>
      <vt:lpstr>Conclusion</vt:lpstr>
      <vt:lpstr>Programmation réactive avec RxJS</vt:lpstr>
      <vt:lpstr>Plan </vt:lpstr>
      <vt:lpstr>Objectifs</vt:lpstr>
      <vt:lpstr>Pourquoi RxJS dans Angular ?</vt:lpstr>
      <vt:lpstr>Concepts de base RxJS</vt:lpstr>
      <vt:lpstr>Observable</vt:lpstr>
      <vt:lpstr>Observer</vt:lpstr>
      <vt:lpstr>Subscription</vt:lpstr>
      <vt:lpstr>Les opérateurs RxJS</vt:lpstr>
      <vt:lpstr>Opérateur map</vt:lpstr>
      <vt:lpstr>Opérateur filter</vt:lpstr>
      <vt:lpstr>Opérateur tap</vt:lpstr>
      <vt:lpstr>Opérateur switchMap</vt:lpstr>
      <vt:lpstr>Opérateur mergeMap</vt:lpstr>
      <vt:lpstr>switchMap vs mergeMap</vt:lpstr>
      <vt:lpstr>Opérateur catchError</vt:lpstr>
      <vt:lpstr>Bonnes pratiques RxJS</vt:lpstr>
      <vt:lpstr>Conclusion</vt:lpstr>
      <vt:lpstr>Atelier</vt:lpstr>
      <vt:lpstr>Application MAP</vt:lpstr>
      <vt:lpstr>Filter </vt:lpstr>
      <vt:lpstr>Erreur fréquente (à éviter)</vt:lpstr>
      <vt:lpstr>catchError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Mise à niveau Angular</dc:title>
  <dc:creator>admin</dc:creator>
  <cp:lastModifiedBy>admin</cp:lastModifiedBy>
  <cp:revision>50</cp:revision>
  <dcterms:created xsi:type="dcterms:W3CDTF">2026-01-15T00:46:15Z</dcterms:created>
  <dcterms:modified xsi:type="dcterms:W3CDTF">2026-01-15T03:39:04Z</dcterms:modified>
</cp:coreProperties>
</file>